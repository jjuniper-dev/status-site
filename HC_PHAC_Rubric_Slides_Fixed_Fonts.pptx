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228600" dist="381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66700"/>
            <a:ext cx="1219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6700" y="57150"/>
            <a:ext cx="1205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 · Problem Context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15349" y="5715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274320"/>
            <a:ext cx="12192000" cy="131445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" y="426720"/>
            <a:ext cx="1070291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PROBLEM WE ARE SOLVING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700" y="575310"/>
            <a:ext cx="1070291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adoption is outpacing our ability to evaluate it consistently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6700" y="1005840"/>
            <a:ext cx="1059561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>
                    <a:alpha val="92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Across HC and PHAC, AI is being introduced through vendor-led routes with no shared evaluation surface. Each proposal repeats the same governance work, and architecture decisions trail rather than lead procurement.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6700" y="1760220"/>
            <a:ext cx="5772150" cy="704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66700" y="1760220"/>
            <a:ext cx="22860" cy="704850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13" name="Text 11"/>
          <p:cNvSpPr/>
          <p:nvPr/>
        </p:nvSpPr>
        <p:spPr>
          <a:xfrm>
            <a:off x="403860" y="1817370"/>
            <a:ext cx="568631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Fragmented adoption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3860" y="2049780"/>
            <a:ext cx="5206075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Pockets of AI activity in PMRA, HPFB, ROEB, and PHAC science directorates with no common reference for capability or pattern.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53150" y="1760220"/>
            <a:ext cx="5772150" cy="704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153150" y="1760220"/>
            <a:ext cx="22860" cy="704850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17" name="Text 15"/>
          <p:cNvSpPr/>
          <p:nvPr/>
        </p:nvSpPr>
        <p:spPr>
          <a:xfrm>
            <a:off x="6290310" y="1817370"/>
            <a:ext cx="568631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Vendor-driven decisions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0310" y="2049780"/>
            <a:ext cx="5306144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Conversations start from product features. Capability needs and enterprise patterns are reverse-engineered to fit.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6700" y="2579370"/>
            <a:ext cx="5772150" cy="704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66700" y="2579370"/>
            <a:ext cx="22860" cy="704850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21" name="Text 19"/>
          <p:cNvSpPr/>
          <p:nvPr/>
        </p:nvSpPr>
        <p:spPr>
          <a:xfrm>
            <a:off x="403860" y="2636520"/>
            <a:ext cx="568631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Repeated governance effort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3860" y="2868930"/>
            <a:ext cx="5293390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AIA, PIA, and ATO work is rebuilt for each proposal instead of reused. Same questions, different answers, every time.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53150" y="2579370"/>
            <a:ext cx="5772150" cy="7048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153150" y="2579370"/>
            <a:ext cx="22860" cy="704850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25" name="Text 23"/>
          <p:cNvSpPr/>
          <p:nvPr/>
        </p:nvSpPr>
        <p:spPr>
          <a:xfrm>
            <a:off x="6290310" y="2636520"/>
            <a:ext cx="568631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enterprise capability alignment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90310" y="2868930"/>
            <a:ext cx="5252921" cy="37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Proposals are not anchored to a shared capability map. Comparable use cases land in different architectural homes.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6545580"/>
            <a:ext cx="12192000" cy="312420"/>
          </a:xfrm>
          <a:prstGeom prst="rect">
            <a:avLst/>
          </a:prstGeom>
          <a:solidFill>
            <a:srgbClr val="F5F7F7"/>
          </a:solidFill>
          <a:ln/>
        </p:spPr>
      </p:sp>
      <p:sp>
        <p:nvSpPr>
          <p:cNvPr id="28" name="Shape 26"/>
          <p:cNvSpPr/>
          <p:nvPr/>
        </p:nvSpPr>
        <p:spPr>
          <a:xfrm>
            <a:off x="0" y="6545580"/>
            <a:ext cx="12192000" cy="9525"/>
          </a:xfrm>
          <a:prstGeom prst="rect">
            <a:avLst/>
          </a:prstGeom>
          <a:solidFill>
            <a:srgbClr val="E6E8E9"/>
          </a:solidFill>
          <a:ln/>
        </p:spPr>
      </p:sp>
      <p:sp>
        <p:nvSpPr>
          <p:cNvPr id="29" name="Text 27"/>
          <p:cNvSpPr/>
          <p:nvPr/>
        </p:nvSpPr>
        <p:spPr>
          <a:xfrm>
            <a:off x="266700" y="662940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898374" y="6629400"/>
            <a:ext cx="3117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EA/TPO interpretation · Digital Transformation Branch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228600" dist="381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66700"/>
            <a:ext cx="1219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6700" y="57150"/>
            <a:ext cx="7654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 · The Shift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15349" y="5715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274320"/>
            <a:ext cx="12192000" cy="8458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" y="426720"/>
            <a:ext cx="610424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700" y="575310"/>
            <a:ext cx="610424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From vendor-first to capability-first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21536" y="2609969"/>
            <a:ext cx="948809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spc="132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90625" y="2949059"/>
            <a:ext cx="9810750" cy="830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Capabilities are defined first — vendors are evaluated as implementation options within governed patterns.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333500" y="4179451"/>
            <a:ext cx="22860" cy="933331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13" name="Text 11"/>
          <p:cNvSpPr/>
          <p:nvPr/>
        </p:nvSpPr>
        <p:spPr>
          <a:xfrm>
            <a:off x="1489710" y="4274701"/>
            <a:ext cx="2854193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Capability first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89710" y="4484251"/>
            <a:ext cx="2791281" cy="36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1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required AI capability and pattern are stated before any vendor is named.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65571" y="4179451"/>
            <a:ext cx="22860" cy="933331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16" name="Text 14"/>
          <p:cNvSpPr/>
          <p:nvPr/>
        </p:nvSpPr>
        <p:spPr>
          <a:xfrm>
            <a:off x="4721781" y="4274701"/>
            <a:ext cx="2854315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Pattern-based evaluation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21781" y="4484251"/>
            <a:ext cx="2682259" cy="553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1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Vendors are scored against governed patterns (RAG, HITL, retrieval, orchestration), not features.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97761" y="4179451"/>
            <a:ext cx="22860" cy="933331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19" name="Text 17"/>
          <p:cNvSpPr/>
          <p:nvPr/>
        </p:nvSpPr>
        <p:spPr>
          <a:xfrm>
            <a:off x="7953970" y="4274701"/>
            <a:ext cx="2854315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Rubric as standard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3970" y="4484251"/>
            <a:ext cx="2819977" cy="553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1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One evaluation surface across ARB, OCDO, and delivery — comparable, repeatable, decision-ready.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6545580"/>
            <a:ext cx="12192000" cy="312420"/>
          </a:xfrm>
          <a:prstGeom prst="rect">
            <a:avLst/>
          </a:prstGeom>
          <a:solidFill>
            <a:srgbClr val="F5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6545580"/>
            <a:ext cx="12192000" cy="9525"/>
          </a:xfrm>
          <a:prstGeom prst="rect">
            <a:avLst/>
          </a:prstGeom>
          <a:solidFill>
            <a:srgbClr val="E6E8E9"/>
          </a:solidFill>
          <a:ln/>
        </p:spPr>
      </p:sp>
      <p:sp>
        <p:nvSpPr>
          <p:cNvPr id="23" name="Text 21"/>
          <p:cNvSpPr/>
          <p:nvPr/>
        </p:nvSpPr>
        <p:spPr>
          <a:xfrm>
            <a:off x="266700" y="662940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98374" y="6629400"/>
            <a:ext cx="3117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EA/TPO interpretation · Digital Transformation Branch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F6F73"/>
                </a:solidFill>
              </a:defRPr>
            </a:pPr>
            <a:r>
              <a:t>AI Capability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D6E71"/>
                </a:solidFill>
              </a:defRPr>
            </a:pPr>
            <a:r>
              <a:t>Three layers, one control surface — Execution method (L3) anchors vendor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F6F73"/>
                </a:solidFill>
              </a:defRPr>
            </a:pPr>
            <a:r>
              <a:t>L1 — Business Capability:  Regulatory Intake  •  Surveillance  •  Data Management  •  Scientific Computing  •  Enterprise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6F73"/>
                </a:solidFill>
              </a:defRPr>
            </a:pPr>
            <a:r>
              <a:t>L2 — AI Domain:  </a:t>
            </a:r>
            <a:r>
              <a:rPr sz="1100" b="1">
                <a:solidFill>
                  <a:srgbClr val="A6CE39"/>
                </a:solidFill>
              </a:rPr>
              <a:t>NLP / Information Extraction</a:t>
            </a:r>
            <a:r>
              <a:rPr>
                <a:solidFill>
                  <a:srgbClr val="6D6E71"/>
                </a:solidFill>
              </a:rPr>
              <a:t>  •  </a:t>
            </a:r>
            <a:r>
              <a:rPr sz="1100" b="1">
                <a:solidFill>
                  <a:srgbClr val="A6CE39"/>
                </a:solidFill>
              </a:rPr>
              <a:t>Predictive Analytics</a:t>
            </a:r>
            <a:r>
              <a:rPr>
                <a:solidFill>
                  <a:srgbClr val="6D6E71"/>
                </a:solidFill>
              </a:rPr>
              <a:t>  •  </a:t>
            </a:r>
            <a:r>
              <a:rPr sz="1100" b="1">
                <a:solidFill>
                  <a:srgbClr val="A6CE39"/>
                </a:solidFill>
              </a:rPr>
              <a:t>Forecasting</a:t>
            </a:r>
            <a:r>
              <a:rPr>
                <a:solidFill>
                  <a:srgbClr val="6D6E71"/>
                </a:solidFill>
              </a:rPr>
              <a:t>  •  </a:t>
            </a:r>
            <a:r>
              <a:rPr sz="1100" b="1">
                <a:solidFill>
                  <a:srgbClr val="A6CE39"/>
                </a:solidFill>
              </a:rPr>
              <a:t>Computer Vision</a:t>
            </a:r>
            <a:r>
              <a:rPr>
                <a:solidFill>
                  <a:srgbClr val="6D6E71"/>
                </a:solidFill>
              </a:rPr>
              <a:t>  •  </a:t>
            </a:r>
            <a:r>
              <a:rPr sz="1100" b="1">
                <a:solidFill>
                  <a:srgbClr val="A6CE39"/>
                </a:solidFill>
              </a:rPr>
              <a:t>Anomaly Detection</a:t>
            </a:r>
            <a:r>
              <a:rPr>
                <a:solidFill>
                  <a:srgbClr val="6D6E71"/>
                </a:solidFill>
              </a:rPr>
              <a:t>  •  </a:t>
            </a:r>
            <a:r>
              <a:rPr sz="1100" b="1">
                <a:solidFill>
                  <a:srgbClr val="A6CE39"/>
                </a:solidFill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F6F73"/>
                </a:solidFill>
              </a:defRPr>
            </a:pPr>
            <a:r>
              <a:t>L3 — Execution Method (ANCHOR):  This is where vendor fit is decided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77440"/>
            <a:ext cx="347472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6C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87168"/>
            <a:ext cx="329184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A6CE39"/>
                </a:solidFill>
              </a:defRPr>
            </a:pPr>
            <a:r>
              <a:t>RAG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40" y="2377440"/>
            <a:ext cx="347472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6C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2487168"/>
            <a:ext cx="329184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A6CE39"/>
                </a:solidFill>
              </a:defRPr>
            </a:pPr>
            <a:r>
              <a:t>Fine-tuning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0" y="2377440"/>
            <a:ext cx="347472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6C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2487168"/>
            <a:ext cx="329184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A6CE39"/>
                </a:solidFill>
              </a:defRPr>
            </a:pPr>
            <a:r>
              <a:t>Prompted Reasoning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347472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6C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10128"/>
            <a:ext cx="329184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A6CE39"/>
                </a:solidFill>
              </a:defRPr>
            </a:pPr>
            <a:r>
              <a:t>Human-in-the-Loop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7640" y="3200400"/>
            <a:ext cx="347472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6C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3310128"/>
            <a:ext cx="329184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A6CE39"/>
                </a:solidFill>
              </a:defRPr>
            </a:pPr>
            <a:r>
              <a:t>Agentic Orchestration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3200400"/>
            <a:ext cx="347472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6C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3310128"/>
            <a:ext cx="329184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A6CE39"/>
                </a:solidFill>
              </a:defRPr>
            </a:pPr>
            <a:r>
              <a:t>Vector Retrieval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11430000" cy="457200"/>
          </a:xfrm>
          <a:prstGeom prst="rect">
            <a:avLst/>
          </a:prstGeom>
          <a:solidFill>
            <a:srgbClr val="F4F6F7"/>
          </a:solidFill>
          <a:ln w="2540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05072"/>
            <a:ext cx="11155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2F6F73"/>
                </a:solidFill>
              </a:defRPr>
            </a:pPr>
            <a:r>
              <a:t>GOVERNANCE LAYER (Cross-cutting):  Policy  •  ATO  •  Audit  •  FinOps  •  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52628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D6E71"/>
                </a:solidFill>
              </a:defRPr>
            </a:pPr>
            <a:r>
              <a:t>Enterprise Controls (Cross-cutting): PATH control plane  •  Identity (Entra ID)  •  Audit &amp; lineage  •  AIA/PIA/ATO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228600" dist="381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66700"/>
            <a:ext cx="1219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6700" y="57150"/>
            <a:ext cx="1176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 · Rubric Structure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15349" y="5715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274320"/>
            <a:ext cx="12192000" cy="110871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" y="426720"/>
            <a:ext cx="886523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HOW THE EVALUATION WORKS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700" y="575310"/>
            <a:ext cx="886523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Capability → Importance → Vendor Fit → Gap Type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6700" y="1005840"/>
            <a:ext cx="1059561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>
                    <a:alpha val="92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Every vendor is evaluated through the same four-step rubric, scored at L3 against governed patterns. The output is a decision signal, not a feature list.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6700" y="1554480"/>
            <a:ext cx="2843213" cy="1191816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562100"/>
            <a:ext cx="2827972" cy="243840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13" name="Text 11"/>
          <p:cNvSpPr/>
          <p:nvPr/>
        </p:nvSpPr>
        <p:spPr>
          <a:xfrm>
            <a:off x="388620" y="1619250"/>
            <a:ext cx="52292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1868" y="1619250"/>
            <a:ext cx="50232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L1 / L2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8620" y="1882140"/>
            <a:ext cx="2684212" cy="228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8620" y="2110145"/>
            <a:ext cx="2684212" cy="57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1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State the business capability and AI domain required. Anchored to the nine-cluster taxonomy.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5163" y="1554480"/>
            <a:ext cx="2843213" cy="1191816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2783" y="1562100"/>
            <a:ext cx="2827972" cy="243840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19" name="Text 17"/>
          <p:cNvSpPr/>
          <p:nvPr/>
        </p:nvSpPr>
        <p:spPr>
          <a:xfrm>
            <a:off x="3327083" y="1619250"/>
            <a:ext cx="52292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14367" y="1619250"/>
            <a:ext cx="58828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WEIGHT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27083" y="1882140"/>
            <a:ext cx="2684212" cy="228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Importance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27083" y="2110145"/>
            <a:ext cx="2684212" cy="57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1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Score how central the capability is to the use case. High / medium / low against documented program need.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43625" y="1554480"/>
            <a:ext cx="2843213" cy="1191816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51245" y="1562100"/>
            <a:ext cx="2827972" cy="243840"/>
          </a:xfrm>
          <a:prstGeom prst="rect">
            <a:avLst/>
          </a:prstGeom>
          <a:solidFill>
            <a:srgbClr val="1F4F52"/>
          </a:solidFill>
          <a:ln/>
        </p:spPr>
      </p:sp>
      <p:sp>
        <p:nvSpPr>
          <p:cNvPr id="25" name="Text 23"/>
          <p:cNvSpPr/>
          <p:nvPr/>
        </p:nvSpPr>
        <p:spPr>
          <a:xfrm>
            <a:off x="6265545" y="1619250"/>
            <a:ext cx="52292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31956" y="1619250"/>
            <a:ext cx="90916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A6CE3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L3 · ANCHOR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5545" y="1882140"/>
            <a:ext cx="2684212" cy="228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Vendor fit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5545" y="2110145"/>
            <a:ext cx="2684212" cy="57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1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Score the vendor against the required execution method and pattern (RAG, HITL, retrieval, orchestration). Not against features.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82088" y="1554480"/>
            <a:ext cx="2843213" cy="1191816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89707" y="1562100"/>
            <a:ext cx="2827972" cy="243840"/>
          </a:xfrm>
          <a:prstGeom prst="rect">
            <a:avLst/>
          </a:prstGeom>
          <a:solidFill>
            <a:srgbClr val="5E9EA3"/>
          </a:solidFill>
          <a:ln/>
        </p:spPr>
      </p:sp>
      <p:sp>
        <p:nvSpPr>
          <p:cNvPr id="31" name="Text 29"/>
          <p:cNvSpPr/>
          <p:nvPr/>
        </p:nvSpPr>
        <p:spPr>
          <a:xfrm>
            <a:off x="9204007" y="1619250"/>
            <a:ext cx="52292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085" y="1619250"/>
            <a:ext cx="72449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7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OUTCOME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204007" y="1882140"/>
            <a:ext cx="2684212" cy="228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Gap type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04007" y="2110145"/>
            <a:ext cx="2684212" cy="57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1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Classify the gap: vendor-addressable, platform-addressable, or governance-addressable. Routes the decision.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66700" y="2993946"/>
            <a:ext cx="5762625" cy="1094899"/>
          </a:xfrm>
          <a:prstGeom prst="roundRect">
            <a:avLst>
              <a:gd name="adj" fmla="val 5220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6720" y="3134916"/>
            <a:ext cx="560586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WHY L3 IS THE EVALUATION POINT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6720" y="3340656"/>
            <a:ext cx="5605863" cy="645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Two vendors with the same domain coverage can fail or pass depending on how they implement RAG, HITL, or orchestration. L3 is where capability meets architecture — and where governed patterns are enforced.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62675" y="2993946"/>
            <a:ext cx="5762625" cy="1094899"/>
          </a:xfrm>
          <a:prstGeom prst="roundRect">
            <a:avLst>
              <a:gd name="adj" fmla="val 5220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2695" y="3134916"/>
            <a:ext cx="560586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PATTERN-BASED THINKING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2695" y="3340656"/>
            <a:ext cx="5605863" cy="645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Patterns are reusable units (RAG, HITL, vector retrieval). Evaluating against patterns lets the same rubric work across vendors and lets results be compared without rewriting the question each time.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545580"/>
            <a:ext cx="12192000" cy="312420"/>
          </a:xfrm>
          <a:prstGeom prst="rect">
            <a:avLst/>
          </a:prstGeom>
          <a:solidFill>
            <a:srgbClr val="F5F7F7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6545580"/>
            <a:ext cx="12192000" cy="9525"/>
          </a:xfrm>
          <a:prstGeom prst="rect">
            <a:avLst/>
          </a:prstGeom>
          <a:solidFill>
            <a:srgbClr val="E6E8E9"/>
          </a:solidFill>
          <a:ln/>
        </p:spPr>
      </p:sp>
      <p:sp>
        <p:nvSpPr>
          <p:cNvPr id="43" name="Text 41"/>
          <p:cNvSpPr/>
          <p:nvPr/>
        </p:nvSpPr>
        <p:spPr>
          <a:xfrm>
            <a:off x="266700" y="662940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898374" y="6629400"/>
            <a:ext cx="3117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EA/TPO interpretation · Digital Transformation Branch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228600" dist="381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66700"/>
            <a:ext cx="1219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6700" y="57150"/>
            <a:ext cx="11559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· Pilot Application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15349" y="5715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274320"/>
            <a:ext cx="12192000" cy="131445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" y="426720"/>
            <a:ext cx="512857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PILOT — APPLYING THE RUBRIC END TO 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700" y="575310"/>
            <a:ext cx="512857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Cohere as the first evaluation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6700" y="1005840"/>
            <a:ext cx="1059561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>
                    <a:alpha val="92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Cohere was chosen as the pilot vendor because it presents a clean capability surface that maps cleanly to L3 patterns — making the rubric easy to exercise end to end without ambiguity.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6700" y="1760220"/>
            <a:ext cx="5743575" cy="4671060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6720" y="1901190"/>
            <a:ext cx="558624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WHY SELECTED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6720" y="2106930"/>
            <a:ext cx="5586241" cy="25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Clean capability surface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6720" y="2396371"/>
            <a:ext cx="5586241" cy="645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Narrow, well-documented set of L3 capabilities concentrated on retrieval and RAG. Made the rubric testable without ambiguity over what the vendor does and does not offer.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6720" y="3136940"/>
            <a:ext cx="558624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WHAT WAS EVALUATED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6570" y="3342680"/>
            <a:ext cx="5429885" cy="1237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Retrieval-Augmented Generation (RAG) execution</a:t>
            </a:r>
            <a:endParaRPr lang="en-US" sz="1100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Vector retrieval and embeddings</a:t>
            </a:r>
            <a:endParaRPr lang="en-US" sz="1100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Multilingual coverage (EN / FR)</a:t>
            </a:r>
            <a:endParaRPr lang="en-US" sz="1100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Human-in-the-loop interaction patterns</a:t>
            </a:r>
            <a:endParaRPr lang="en-US" sz="1100" dirty="0"/>
          </a:p>
          <a:p>
            <a:pPr algn="l" marL="101600" indent="-101600">
              <a:lnSpc>
                <a:spcPct val="15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Integration with PATH-aligned controls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725" y="1760220"/>
            <a:ext cx="5743575" cy="4671060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1745" y="1901190"/>
            <a:ext cx="558624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PILOT SCOPE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41745" y="2106930"/>
            <a:ext cx="5586241" cy="25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RAG-heavy capabilities, governed environment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40145" y="2396371"/>
            <a:ext cx="2851468" cy="972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999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L3: RAG, vector retrieval</a:t>
            </a:r>
            <a:endParaRPr lang="en-US" sz="1100" dirty="0"/>
          </a:p>
          <a:p>
            <a:pPr algn="l" indent="0" marL="0">
              <a:lnSpc>
                <a:spcPct val="139999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L1: Enterprise services, regulatory intake</a:t>
            </a:r>
            <a:endParaRPr lang="en-US" sz="1100" dirty="0"/>
          </a:p>
          <a:p>
            <a:pPr algn="l" indent="0" marL="0">
              <a:lnSpc>
                <a:spcPct val="139999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 / FR retrieval pairs</a:t>
            </a:r>
            <a:endParaRPr lang="en-US" sz="1100" dirty="0"/>
          </a:p>
          <a:p>
            <a:pPr algn="l" indent="0" marL="0">
              <a:lnSpc>
                <a:spcPct val="139999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Protected B data class only</a:t>
            </a:r>
            <a:endParaRPr lang="en-US" sz="1100" dirty="0"/>
          </a:p>
          <a:p>
            <a:pPr algn="l" indent="0" marL="0">
              <a:lnSpc>
                <a:spcPct val="139999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HITL on all generative outputs</a:t>
            </a:r>
            <a:endParaRPr lang="en-US" sz="1100" dirty="0"/>
          </a:p>
          <a:p>
            <a:pPr algn="l" indent="0" marL="0">
              <a:lnSpc>
                <a:spcPct val="139999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PATH-fronted access path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41745" y="3464123"/>
            <a:ext cx="558624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 OF SCOPE FOR PILOT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41745" y="3669863"/>
            <a:ext cx="5586241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Fine-tuning on departmental data, agentic orchestration, and any platform-replacement scenario. These are explicitly not what the pilot is testing.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545580"/>
            <a:ext cx="12192000" cy="312420"/>
          </a:xfrm>
          <a:prstGeom prst="rect">
            <a:avLst/>
          </a:prstGeom>
          <a:solidFill>
            <a:srgbClr val="F5F7F7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6545580"/>
            <a:ext cx="12192000" cy="9525"/>
          </a:xfrm>
          <a:prstGeom prst="rect">
            <a:avLst/>
          </a:prstGeom>
          <a:solidFill>
            <a:srgbClr val="E6E8E9"/>
          </a:solidFill>
          <a:ln/>
        </p:spPr>
      </p:sp>
      <p:sp>
        <p:nvSpPr>
          <p:cNvPr id="25" name="Text 23"/>
          <p:cNvSpPr/>
          <p:nvPr/>
        </p:nvSpPr>
        <p:spPr>
          <a:xfrm>
            <a:off x="266700" y="662940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98374" y="6629400"/>
            <a:ext cx="3117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EA/TPO interpretation · Digital Transformation Branch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228600" dist="381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66700"/>
            <a:ext cx="1219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6700" y="57150"/>
            <a:ext cx="126158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 · Fit–Gap Heatmap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15349" y="5715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274320"/>
            <a:ext cx="12192000" cy="131445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" y="426720"/>
            <a:ext cx="6348782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COHERE — RUBRIC OUTPUT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700" y="575310"/>
            <a:ext cx="634878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Where Cohere fits, where it does not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6700" y="1005840"/>
            <a:ext cx="1059561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>
                    <a:alpha val="92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Strong on RAG and retrieval. Moderate on multilingual coverage. Weak on integration and orchestration — which is where enterprise platform and governance pick up.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6700" y="1760220"/>
            <a:ext cx="11658600" cy="2926080"/>
          </a:xfrm>
          <a:prstGeom prst="roundRect">
            <a:avLst>
              <a:gd name="adj" fmla="val 1953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67840"/>
            <a:ext cx="3724156" cy="30480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13" name="Text 11"/>
          <p:cNvSpPr/>
          <p:nvPr/>
        </p:nvSpPr>
        <p:spPr>
          <a:xfrm>
            <a:off x="369570" y="1844040"/>
            <a:ext cx="36453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L3 capability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98476" y="1767840"/>
            <a:ext cx="1514951" cy="30480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15" name="Text 13"/>
          <p:cNvSpPr/>
          <p:nvPr/>
        </p:nvSpPr>
        <p:spPr>
          <a:xfrm>
            <a:off x="4093726" y="1844040"/>
            <a:ext cx="14006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Pattern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13427" y="1767840"/>
            <a:ext cx="1415058" cy="30480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17" name="Text 15"/>
          <p:cNvSpPr/>
          <p:nvPr/>
        </p:nvSpPr>
        <p:spPr>
          <a:xfrm>
            <a:off x="5570577" y="1844040"/>
            <a:ext cx="13007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Importance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28485" y="1767840"/>
            <a:ext cx="1373505" cy="30480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19" name="Text 17"/>
          <p:cNvSpPr/>
          <p:nvPr/>
        </p:nvSpPr>
        <p:spPr>
          <a:xfrm>
            <a:off x="6985635" y="1844040"/>
            <a:ext cx="12592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Vendor fit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301990" y="1767840"/>
            <a:ext cx="3615690" cy="30480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21" name="Text 19"/>
          <p:cNvSpPr/>
          <p:nvPr/>
        </p:nvSpPr>
        <p:spPr>
          <a:xfrm>
            <a:off x="8397240" y="1844040"/>
            <a:ext cx="35336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Gap type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9570" y="2148840"/>
            <a:ext cx="36453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Retrieval-Augmented Generation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93726" y="2148840"/>
            <a:ext cx="140065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70577" y="2148840"/>
            <a:ext cx="130075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281863" y="2148840"/>
            <a:ext cx="666750" cy="213360"/>
          </a:xfrm>
          <a:prstGeom prst="roundRect">
            <a:avLst>
              <a:gd name="adj" fmla="val 13393"/>
            </a:avLst>
          </a:prstGeom>
          <a:solidFill>
            <a:srgbClr val="A6CE39"/>
          </a:solidFill>
          <a:ln/>
        </p:spPr>
      </p:sp>
      <p:sp>
        <p:nvSpPr>
          <p:cNvPr id="26" name="Text 24"/>
          <p:cNvSpPr/>
          <p:nvPr/>
        </p:nvSpPr>
        <p:spPr>
          <a:xfrm>
            <a:off x="7319963" y="2186940"/>
            <a:ext cx="5905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spc="19" kern="0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Strong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97240" y="2148840"/>
            <a:ext cx="35336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None — vendor-addressable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438400"/>
            <a:ext cx="3724156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29" name="Text 27"/>
          <p:cNvSpPr/>
          <p:nvPr/>
        </p:nvSpPr>
        <p:spPr>
          <a:xfrm>
            <a:off x="369570" y="2522220"/>
            <a:ext cx="36453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Vector retrieval &amp; embeddings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998476" y="2438400"/>
            <a:ext cx="1514951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31" name="Text 29"/>
          <p:cNvSpPr/>
          <p:nvPr/>
        </p:nvSpPr>
        <p:spPr>
          <a:xfrm>
            <a:off x="4093726" y="2522220"/>
            <a:ext cx="140065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Retrieval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13427" y="2438400"/>
            <a:ext cx="1415058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33" name="Text 31"/>
          <p:cNvSpPr/>
          <p:nvPr/>
        </p:nvSpPr>
        <p:spPr>
          <a:xfrm>
            <a:off x="5570577" y="2522220"/>
            <a:ext cx="130075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28485" y="2438400"/>
            <a:ext cx="1373505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35" name="Shape 33"/>
          <p:cNvSpPr/>
          <p:nvPr/>
        </p:nvSpPr>
        <p:spPr>
          <a:xfrm>
            <a:off x="7281863" y="2522220"/>
            <a:ext cx="666750" cy="213360"/>
          </a:xfrm>
          <a:prstGeom prst="roundRect">
            <a:avLst>
              <a:gd name="adj" fmla="val 13393"/>
            </a:avLst>
          </a:prstGeom>
          <a:solidFill>
            <a:srgbClr val="A6CE39"/>
          </a:solidFill>
          <a:ln/>
        </p:spPr>
      </p:sp>
      <p:sp>
        <p:nvSpPr>
          <p:cNvPr id="36" name="Text 34"/>
          <p:cNvSpPr/>
          <p:nvPr/>
        </p:nvSpPr>
        <p:spPr>
          <a:xfrm>
            <a:off x="7319963" y="2560320"/>
            <a:ext cx="5905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spc="19" kern="0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Strong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301990" y="2438400"/>
            <a:ext cx="3615690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38" name="Text 36"/>
          <p:cNvSpPr/>
          <p:nvPr/>
        </p:nvSpPr>
        <p:spPr>
          <a:xfrm>
            <a:off x="8397240" y="2522220"/>
            <a:ext cx="35336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None — vendor-addressable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" y="2811780"/>
            <a:ext cx="3724156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40" name="Text 38"/>
          <p:cNvSpPr/>
          <p:nvPr/>
        </p:nvSpPr>
        <p:spPr>
          <a:xfrm>
            <a:off x="369570" y="2895600"/>
            <a:ext cx="36453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Multilingual coverage (EN / FR)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998476" y="2811780"/>
            <a:ext cx="1514951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42" name="Text 40"/>
          <p:cNvSpPr/>
          <p:nvPr/>
        </p:nvSpPr>
        <p:spPr>
          <a:xfrm>
            <a:off x="4093726" y="2895600"/>
            <a:ext cx="140065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Retrieval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513427" y="2811780"/>
            <a:ext cx="1415058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44" name="Text 42"/>
          <p:cNvSpPr/>
          <p:nvPr/>
        </p:nvSpPr>
        <p:spPr>
          <a:xfrm>
            <a:off x="5570577" y="2895600"/>
            <a:ext cx="130075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928485" y="2811780"/>
            <a:ext cx="1373505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46" name="Shape 44"/>
          <p:cNvSpPr/>
          <p:nvPr/>
        </p:nvSpPr>
        <p:spPr>
          <a:xfrm>
            <a:off x="7261265" y="2895600"/>
            <a:ext cx="707946" cy="213360"/>
          </a:xfrm>
          <a:prstGeom prst="roundRect">
            <a:avLst>
              <a:gd name="adj" fmla="val 13393"/>
            </a:avLst>
          </a:prstGeom>
          <a:solidFill>
            <a:srgbClr val="F2C744"/>
          </a:solidFill>
          <a:ln/>
        </p:spPr>
      </p:sp>
      <p:sp>
        <p:nvSpPr>
          <p:cNvPr id="47" name="Text 45"/>
          <p:cNvSpPr/>
          <p:nvPr/>
        </p:nvSpPr>
        <p:spPr>
          <a:xfrm>
            <a:off x="7299365" y="2933700"/>
            <a:ext cx="63174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spc="19" kern="0" dirty="0">
                <a:solidFill>
                  <a:srgbClr val="4A3A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Moderate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301990" y="2811780"/>
            <a:ext cx="3615690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49" name="Text 47"/>
          <p:cNvSpPr/>
          <p:nvPr/>
        </p:nvSpPr>
        <p:spPr>
          <a:xfrm>
            <a:off x="8397240" y="2895600"/>
            <a:ext cx="35336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Tuning — vendor + platform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74320" y="3185160"/>
            <a:ext cx="3724156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51" name="Text 49"/>
          <p:cNvSpPr/>
          <p:nvPr/>
        </p:nvSpPr>
        <p:spPr>
          <a:xfrm>
            <a:off x="369570" y="3268980"/>
            <a:ext cx="36453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Human-in-the-loop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998476" y="3185160"/>
            <a:ext cx="1514951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53" name="Text 51"/>
          <p:cNvSpPr/>
          <p:nvPr/>
        </p:nvSpPr>
        <p:spPr>
          <a:xfrm>
            <a:off x="4093726" y="3268980"/>
            <a:ext cx="140065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HITL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513427" y="3185160"/>
            <a:ext cx="1415058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55" name="Text 53"/>
          <p:cNvSpPr/>
          <p:nvPr/>
        </p:nvSpPr>
        <p:spPr>
          <a:xfrm>
            <a:off x="5570577" y="3268980"/>
            <a:ext cx="130075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928485" y="3185160"/>
            <a:ext cx="1373505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57" name="Shape 55"/>
          <p:cNvSpPr/>
          <p:nvPr/>
        </p:nvSpPr>
        <p:spPr>
          <a:xfrm>
            <a:off x="7261265" y="3268980"/>
            <a:ext cx="707946" cy="213360"/>
          </a:xfrm>
          <a:prstGeom prst="roundRect">
            <a:avLst>
              <a:gd name="adj" fmla="val 13393"/>
            </a:avLst>
          </a:prstGeom>
          <a:solidFill>
            <a:srgbClr val="F2C744"/>
          </a:solidFill>
          <a:ln/>
        </p:spPr>
      </p:sp>
      <p:sp>
        <p:nvSpPr>
          <p:cNvPr id="58" name="Text 56"/>
          <p:cNvSpPr/>
          <p:nvPr/>
        </p:nvSpPr>
        <p:spPr>
          <a:xfrm>
            <a:off x="7299365" y="3307080"/>
            <a:ext cx="63174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spc="19" kern="0" dirty="0">
                <a:solidFill>
                  <a:srgbClr val="4A3A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Moderate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301990" y="3185160"/>
            <a:ext cx="3615690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60" name="Text 58"/>
          <p:cNvSpPr/>
          <p:nvPr/>
        </p:nvSpPr>
        <p:spPr>
          <a:xfrm>
            <a:off x="8397240" y="3268980"/>
            <a:ext cx="35336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Pattern — platform-addressable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74320" y="3558540"/>
            <a:ext cx="3724156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62" name="Text 60"/>
          <p:cNvSpPr/>
          <p:nvPr/>
        </p:nvSpPr>
        <p:spPr>
          <a:xfrm>
            <a:off x="369570" y="3642360"/>
            <a:ext cx="36453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Integration with enterprise systems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998476" y="3558540"/>
            <a:ext cx="1514951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64" name="Text 62"/>
          <p:cNvSpPr/>
          <p:nvPr/>
        </p:nvSpPr>
        <p:spPr>
          <a:xfrm>
            <a:off x="4093726" y="3642360"/>
            <a:ext cx="140065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513427" y="3558540"/>
            <a:ext cx="1415058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66" name="Text 64"/>
          <p:cNvSpPr/>
          <p:nvPr/>
        </p:nvSpPr>
        <p:spPr>
          <a:xfrm>
            <a:off x="5570577" y="3642360"/>
            <a:ext cx="130075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928485" y="3558540"/>
            <a:ext cx="1373505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68" name="Shape 66"/>
          <p:cNvSpPr/>
          <p:nvPr/>
        </p:nvSpPr>
        <p:spPr>
          <a:xfrm>
            <a:off x="7281863" y="3642360"/>
            <a:ext cx="666750" cy="213360"/>
          </a:xfrm>
          <a:prstGeom prst="roundRect">
            <a:avLst>
              <a:gd name="adj" fmla="val 13393"/>
            </a:avLst>
          </a:prstGeom>
          <a:solidFill>
            <a:srgbClr val="C24545"/>
          </a:solidFill>
          <a:ln/>
        </p:spPr>
      </p:sp>
      <p:sp>
        <p:nvSpPr>
          <p:cNvPr id="69" name="Text 67"/>
          <p:cNvSpPr/>
          <p:nvPr/>
        </p:nvSpPr>
        <p:spPr>
          <a:xfrm>
            <a:off x="7319963" y="3680460"/>
            <a:ext cx="5905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spc="1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Weak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301990" y="3558540"/>
            <a:ext cx="3615690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71" name="Text 69"/>
          <p:cNvSpPr/>
          <p:nvPr/>
        </p:nvSpPr>
        <p:spPr>
          <a:xfrm>
            <a:off x="8397240" y="3642360"/>
            <a:ext cx="35336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Architecture — platform-addressable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274320" y="3931920"/>
            <a:ext cx="3724156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73" name="Text 71"/>
          <p:cNvSpPr/>
          <p:nvPr/>
        </p:nvSpPr>
        <p:spPr>
          <a:xfrm>
            <a:off x="369570" y="4015740"/>
            <a:ext cx="36453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Agentic orchestration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3998476" y="3931920"/>
            <a:ext cx="1514951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75" name="Text 73"/>
          <p:cNvSpPr/>
          <p:nvPr/>
        </p:nvSpPr>
        <p:spPr>
          <a:xfrm>
            <a:off x="4093726" y="4015740"/>
            <a:ext cx="140065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5513427" y="3931920"/>
            <a:ext cx="1415058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77" name="Text 75"/>
          <p:cNvSpPr/>
          <p:nvPr/>
        </p:nvSpPr>
        <p:spPr>
          <a:xfrm>
            <a:off x="5570577" y="4015740"/>
            <a:ext cx="130075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Medium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6928485" y="3931920"/>
            <a:ext cx="1373505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79" name="Shape 77"/>
          <p:cNvSpPr/>
          <p:nvPr/>
        </p:nvSpPr>
        <p:spPr>
          <a:xfrm>
            <a:off x="7281863" y="4015740"/>
            <a:ext cx="666750" cy="213360"/>
          </a:xfrm>
          <a:prstGeom prst="roundRect">
            <a:avLst>
              <a:gd name="adj" fmla="val 13393"/>
            </a:avLst>
          </a:prstGeom>
          <a:solidFill>
            <a:srgbClr val="C24545"/>
          </a:solidFill>
          <a:ln/>
        </p:spPr>
      </p:sp>
      <p:sp>
        <p:nvSpPr>
          <p:cNvPr id="80" name="Text 78"/>
          <p:cNvSpPr/>
          <p:nvPr/>
        </p:nvSpPr>
        <p:spPr>
          <a:xfrm>
            <a:off x="7319963" y="4053840"/>
            <a:ext cx="5905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spc="1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Weak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301990" y="3931920"/>
            <a:ext cx="3615690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82" name="Text 80"/>
          <p:cNvSpPr/>
          <p:nvPr/>
        </p:nvSpPr>
        <p:spPr>
          <a:xfrm>
            <a:off x="8397240" y="4015740"/>
            <a:ext cx="35336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Architecture — platform-addressable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274320" y="4305300"/>
            <a:ext cx="3724156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84" name="Text 82"/>
          <p:cNvSpPr/>
          <p:nvPr/>
        </p:nvSpPr>
        <p:spPr>
          <a:xfrm>
            <a:off x="369570" y="4389120"/>
            <a:ext cx="36453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Identity, audit, AIA enforcement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3998476" y="4305300"/>
            <a:ext cx="1514951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86" name="Text 84"/>
          <p:cNvSpPr/>
          <p:nvPr/>
        </p:nvSpPr>
        <p:spPr>
          <a:xfrm>
            <a:off x="4093726" y="4389120"/>
            <a:ext cx="140065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Controls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5513427" y="4305300"/>
            <a:ext cx="1415058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88" name="Text 86"/>
          <p:cNvSpPr/>
          <p:nvPr/>
        </p:nvSpPr>
        <p:spPr>
          <a:xfrm>
            <a:off x="5570577" y="4389120"/>
            <a:ext cx="130075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6928485" y="4305300"/>
            <a:ext cx="1373505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90" name="Shape 88"/>
          <p:cNvSpPr/>
          <p:nvPr/>
        </p:nvSpPr>
        <p:spPr>
          <a:xfrm>
            <a:off x="7281863" y="4389120"/>
            <a:ext cx="666750" cy="213360"/>
          </a:xfrm>
          <a:prstGeom prst="roundRect">
            <a:avLst>
              <a:gd name="adj" fmla="val 13393"/>
            </a:avLst>
          </a:prstGeom>
          <a:solidFill>
            <a:srgbClr val="C24545"/>
          </a:solidFill>
          <a:ln/>
        </p:spPr>
      </p:sp>
      <p:sp>
        <p:nvSpPr>
          <p:cNvPr id="91" name="Text 89"/>
          <p:cNvSpPr/>
          <p:nvPr/>
        </p:nvSpPr>
        <p:spPr>
          <a:xfrm>
            <a:off x="7319963" y="4427220"/>
            <a:ext cx="5905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spc="1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N/A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8301990" y="4305300"/>
            <a:ext cx="3615690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93" name="Text 91"/>
          <p:cNvSpPr/>
          <p:nvPr/>
        </p:nvSpPr>
        <p:spPr>
          <a:xfrm>
            <a:off x="8397240" y="4389120"/>
            <a:ext cx="35336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Governance — externalized to PATH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0" y="6545580"/>
            <a:ext cx="12192000" cy="312420"/>
          </a:xfrm>
          <a:prstGeom prst="rect">
            <a:avLst/>
          </a:prstGeom>
          <a:solidFill>
            <a:srgbClr val="F5F7F7"/>
          </a:solidFill>
          <a:ln/>
        </p:spPr>
      </p:sp>
      <p:sp>
        <p:nvSpPr>
          <p:cNvPr id="95" name="Shape 93"/>
          <p:cNvSpPr/>
          <p:nvPr/>
        </p:nvSpPr>
        <p:spPr>
          <a:xfrm>
            <a:off x="0" y="6545580"/>
            <a:ext cx="12192000" cy="9525"/>
          </a:xfrm>
          <a:prstGeom prst="rect">
            <a:avLst/>
          </a:prstGeom>
          <a:solidFill>
            <a:srgbClr val="E6E8E9"/>
          </a:solidFill>
          <a:ln/>
        </p:spPr>
      </p:sp>
      <p:sp>
        <p:nvSpPr>
          <p:cNvPr id="96" name="Text 94"/>
          <p:cNvSpPr/>
          <p:nvPr/>
        </p:nvSpPr>
        <p:spPr>
          <a:xfrm>
            <a:off x="266700" y="662940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8898374" y="6629400"/>
            <a:ext cx="3117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EA/TPO interpretation · Digital Transformation Branch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F6F73"/>
                </a:solidFill>
              </a:defRPr>
            </a:pPr>
            <a:r>
              <a:t>Architectural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D6E71"/>
                </a:solidFill>
              </a:defRPr>
            </a:pPr>
            <a:r>
              <a:t>What the heatmap means — Vendor fit maps to three zones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3566160" cy="320040"/>
          </a:xfrm>
          <a:prstGeom prst="rect">
            <a:avLst/>
          </a:prstGeom>
          <a:solidFill>
            <a:srgbClr val="A6CE39"/>
          </a:solidFill>
          <a:ln>
            <a:solidFill>
              <a:srgbClr val="A6C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70432"/>
            <a:ext cx="3474720" cy="2651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VENDOR 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566160" cy="2057400"/>
          </a:xfrm>
          <a:prstGeom prst="rect">
            <a:avLst/>
          </a:prstGeom>
          <a:solidFill>
            <a:srgbClr val="F4F6F7"/>
          </a:solidFill>
          <a:ln w="19050">
            <a:solidFill>
              <a:srgbClr val="A6C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>
                <a:solidFill>
                  <a:srgbClr val="A6CE39"/>
                </a:solidFill>
              </a:defRPr>
            </a:pPr>
            <a:r>
              <a:t>RAG execution</a:t>
            </a:r>
          </a:p>
          <a:p>
            <a:pPr>
              <a:spcBef>
                <a:spcPts val="200"/>
              </a:spcBef>
              <a:defRPr sz="900">
                <a:solidFill>
                  <a:srgbClr val="A6CE39"/>
                </a:solidFill>
              </a:defRPr>
            </a:pPr>
            <a:r>
              <a:t>Vector retrieval</a:t>
            </a:r>
          </a:p>
          <a:p>
            <a:pPr>
              <a:spcBef>
                <a:spcPts val="200"/>
              </a:spcBef>
              <a:defRPr sz="900">
                <a:solidFill>
                  <a:srgbClr val="A6CE39"/>
                </a:solidFill>
              </a:defRPr>
            </a:pPr>
            <a:r>
              <a:t>Embeddings</a:t>
            </a:r>
          </a:p>
          <a:p>
            <a:pPr>
              <a:spcBef>
                <a:spcPts val="200"/>
              </a:spcBef>
              <a:defRPr sz="900">
                <a:solidFill>
                  <a:srgbClr val="A6CE39"/>
                </a:solidFill>
              </a:defRPr>
            </a:pPr>
            <a:r>
              <a:t>Generation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1143000"/>
            <a:ext cx="3566160" cy="320040"/>
          </a:xfrm>
          <a:prstGeom prst="rect">
            <a:avLst/>
          </a:prstGeom>
          <a:solidFill>
            <a:srgbClr val="6FAFB3"/>
          </a:solidFill>
          <a:ln>
            <a:solidFill>
              <a:srgbClr val="6FA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170432"/>
            <a:ext cx="3474720" cy="2651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PLATFORM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463040"/>
            <a:ext cx="3566160" cy="2057400"/>
          </a:xfrm>
          <a:prstGeom prst="rect">
            <a:avLst/>
          </a:prstGeom>
          <a:solidFill>
            <a:srgbClr val="F4F6F7"/>
          </a:solidFill>
          <a:ln w="19050">
            <a:solidFill>
              <a:srgbClr val="6FA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6002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>
                <a:solidFill>
                  <a:srgbClr val="6FAFB3"/>
                </a:solidFill>
              </a:defRPr>
            </a:pPr>
            <a:r>
              <a:t>PATH control plane</a:t>
            </a:r>
          </a:p>
          <a:p>
            <a:pPr>
              <a:spcBef>
                <a:spcPts val="200"/>
              </a:spcBef>
              <a:defRPr sz="900">
                <a:solidFill>
                  <a:srgbClr val="6FAFB3"/>
                </a:solidFill>
              </a:defRPr>
            </a:pPr>
            <a:r>
              <a:t>HAIL runtime</a:t>
            </a:r>
          </a:p>
          <a:p>
            <a:pPr>
              <a:spcBef>
                <a:spcPts val="200"/>
              </a:spcBef>
              <a:defRPr sz="900">
                <a:solidFill>
                  <a:srgbClr val="6FAFB3"/>
                </a:solidFill>
              </a:defRPr>
            </a:pPr>
            <a:r>
              <a:t>Orchestration</a:t>
            </a:r>
          </a:p>
          <a:p>
            <a:pPr>
              <a:spcBef>
                <a:spcPts val="200"/>
              </a:spcBef>
              <a:defRPr sz="900">
                <a:solidFill>
                  <a:srgbClr val="6FAFB3"/>
                </a:solidFill>
              </a:defRPr>
            </a:pPr>
            <a:r>
              <a:t>Integration adapters</a:t>
            </a:r>
          </a:p>
          <a:p>
            <a:pPr>
              <a:spcBef>
                <a:spcPts val="200"/>
              </a:spcBef>
              <a:defRPr sz="900">
                <a:solidFill>
                  <a:srgbClr val="6FAFB3"/>
                </a:solidFill>
              </a:defRPr>
            </a:pPr>
            <a:r>
              <a:t>HITL 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143000"/>
            <a:ext cx="3566160" cy="320040"/>
          </a:xfrm>
          <a:prstGeom prst="rect">
            <a:avLst/>
          </a:prstGeom>
          <a:solidFill>
            <a:srgbClr val="6D6E71"/>
          </a:solidFill>
          <a:ln>
            <a:solidFill>
              <a:srgbClr val="6D6E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170432"/>
            <a:ext cx="3474720" cy="2651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GOVERNANCE EXTERNALISED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1463040"/>
            <a:ext cx="3566160" cy="2057400"/>
          </a:xfrm>
          <a:prstGeom prst="rect">
            <a:avLst/>
          </a:prstGeom>
          <a:solidFill>
            <a:srgbClr val="F4F6F7"/>
          </a:solidFill>
          <a:ln w="19050">
            <a:solidFill>
              <a:srgbClr val="6D6E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6002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</a:defRPr>
            </a:pPr>
            <a:r>
              <a:t>Identity (Entra ID)</a:t>
            </a:r>
          </a:p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</a:defRPr>
            </a:pPr>
            <a:r>
              <a:t>Audit &amp; lineage</a:t>
            </a:r>
          </a:p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</a:defRPr>
            </a:pPr>
            <a:r>
              <a:t>AIA/PIA/ATO</a:t>
            </a:r>
          </a:p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</a:defRPr>
            </a:pPr>
            <a:r>
              <a:t>Statement of Sensitivity</a:t>
            </a:r>
          </a:p>
          <a:p>
            <a:pPr>
              <a:spcBef>
                <a:spcPts val="200"/>
              </a:spcBef>
              <a:defRPr sz="900">
                <a:solidFill>
                  <a:srgbClr val="6D6E71"/>
                </a:solidFill>
              </a:defRPr>
            </a:pPr>
            <a:r>
              <a:t>Purview classification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11430000" cy="457200"/>
          </a:xfrm>
          <a:prstGeom prst="rect">
            <a:avLst/>
          </a:prstGeom>
          <a:solidFill>
            <a:srgbClr val="F4F6F7"/>
          </a:solidFill>
          <a:ln w="2540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22191"/>
            <a:ext cx="11155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2F6F73"/>
                </a:solidFill>
              </a:defRPr>
            </a:pPr>
            <a:r>
              <a:t>GOVERNANCE LAYER (Cross-cutting):  Policy  •  ATO  •  Audit  •  FinOps  • 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3434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D6E71"/>
                </a:solidFill>
              </a:defRPr>
            </a:pPr>
            <a:r>
              <a:t>Vendor strength on RAG and retrieval means we do not rebuild what Cohere does well. Platform fills gaps (orchestration, HITL). Governance is externalized to enterprise layer.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F6F73"/>
                </a:solidFill>
              </a:defRPr>
            </a:pPr>
            <a:r>
              <a:t>Enterprise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D6E71"/>
                </a:solidFill>
              </a:defRPr>
            </a:pPr>
            <a:r>
              <a:t>Rubric routes findings to existing platforms — no new infrastructure introduced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2651760" cy="292608"/>
          </a:xfrm>
          <a:prstGeom prst="rect">
            <a:avLst/>
          </a:prstGeom>
          <a:solidFill>
            <a:srgbClr val="2F6F73"/>
          </a:solidFill>
          <a:ln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61288"/>
            <a:ext cx="2560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CONTROL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6FAFB3"/>
                </a:solidFill>
              </a:defRPr>
            </a:pPr>
            <a:r>
              <a:t>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651760" cy="1874520"/>
          </a:xfrm>
          <a:prstGeom prst="rect">
            <a:avLst/>
          </a:prstGeom>
          <a:solidFill>
            <a:srgbClr val="F4F6F7"/>
          </a:solidFill>
          <a:ln w="19050">
            <a:solidFill>
              <a:srgbClr val="6FA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defRPr sz="850">
                <a:solidFill>
                  <a:srgbClr val="6D6E71"/>
                </a:solidFill>
              </a:defRPr>
            </a:pPr>
            <a:r>
              <a:t>Routing</a:t>
            </a:r>
          </a:p>
          <a:p>
            <a:pPr>
              <a:spcBef>
                <a:spcPts val="150"/>
              </a:spcBef>
              <a:defRPr sz="850">
                <a:solidFill>
                  <a:srgbClr val="6D6E71"/>
                </a:solidFill>
              </a:defRPr>
            </a:pPr>
            <a:r>
              <a:t>Policy enforcement</a:t>
            </a:r>
          </a:p>
          <a:p>
            <a:pPr>
              <a:spcBef>
                <a:spcPts val="150"/>
              </a:spcBef>
              <a:defRPr sz="850">
                <a:solidFill>
                  <a:srgbClr val="6D6E71"/>
                </a:solidFill>
              </a:defRPr>
            </a:pPr>
            <a:r>
              <a:t>Vendor abstraction</a:t>
            </a:r>
          </a:p>
          <a:p>
            <a:pPr>
              <a:spcBef>
                <a:spcPts val="150"/>
              </a:spcBef>
              <a:defRPr sz="850">
                <a:solidFill>
                  <a:srgbClr val="6D6E71"/>
                </a:solidFill>
              </a:defRPr>
            </a:pPr>
            <a:r>
              <a:t>Audit gating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143000"/>
            <a:ext cx="2651760" cy="292608"/>
          </a:xfrm>
          <a:prstGeom prst="rect">
            <a:avLst/>
          </a:prstGeom>
          <a:solidFill>
            <a:srgbClr val="2F6F73"/>
          </a:solidFill>
          <a:ln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161288"/>
            <a:ext cx="2560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RUNTIME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46304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6FAFB3"/>
                </a:solidFill>
              </a:defRPr>
            </a:pPr>
            <a:r>
              <a:t>HAIL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828800"/>
            <a:ext cx="2651760" cy="1874520"/>
          </a:xfrm>
          <a:prstGeom prst="rect">
            <a:avLst/>
          </a:prstGeom>
          <a:solidFill>
            <a:srgbClr val="F4F6F7"/>
          </a:solidFill>
          <a:ln w="19050">
            <a:solidFill>
              <a:srgbClr val="6FA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9659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defRPr sz="850">
                <a:solidFill>
                  <a:srgbClr val="6D6E71"/>
                </a:solidFill>
              </a:defRPr>
            </a:pPr>
            <a:r>
              <a:t>Hosted AI execution</a:t>
            </a:r>
          </a:p>
          <a:p>
            <a:pPr>
              <a:spcBef>
                <a:spcPts val="150"/>
              </a:spcBef>
              <a:defRPr sz="850">
                <a:solidFill>
                  <a:srgbClr val="6D6E71"/>
                </a:solidFill>
              </a:defRPr>
            </a:pPr>
            <a:r>
              <a:t>Pattern templates</a:t>
            </a:r>
          </a:p>
          <a:p>
            <a:pPr>
              <a:spcBef>
                <a:spcPts val="150"/>
              </a:spcBef>
              <a:defRPr sz="850">
                <a:solidFill>
                  <a:srgbClr val="6D6E71"/>
                </a:solidFill>
              </a:defRPr>
            </a:pPr>
            <a:r>
              <a:t>RAG environment</a:t>
            </a:r>
          </a:p>
          <a:p>
            <a:pPr>
              <a:spcBef>
                <a:spcPts val="150"/>
              </a:spcBef>
              <a:defRPr sz="850">
                <a:solidFill>
                  <a:srgbClr val="6D6E71"/>
                </a:solidFill>
              </a:defRPr>
            </a:pPr>
            <a:r>
              <a:t>HITL operations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143000"/>
            <a:ext cx="2651760" cy="292608"/>
          </a:xfrm>
          <a:prstGeom prst="rect">
            <a:avLst/>
          </a:prstGeom>
          <a:solidFill>
            <a:srgbClr val="2F6F73"/>
          </a:solidFill>
          <a:ln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161288"/>
            <a:ext cx="2560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DATA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46304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6FAFB3"/>
                </a:solidFill>
              </a:defRPr>
            </a:pPr>
            <a:r>
              <a:t>Purview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828800"/>
            <a:ext cx="2651760" cy="1874520"/>
          </a:xfrm>
          <a:prstGeom prst="rect">
            <a:avLst/>
          </a:prstGeom>
          <a:solidFill>
            <a:srgbClr val="F4F6F7"/>
          </a:solidFill>
          <a:ln w="19050">
            <a:solidFill>
              <a:srgbClr val="6FA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9659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defRPr sz="850">
                <a:solidFill>
                  <a:srgbClr val="6D6E71"/>
                </a:solidFill>
              </a:defRPr>
            </a:pPr>
            <a:r>
              <a:t>Classification</a:t>
            </a:r>
          </a:p>
          <a:p>
            <a:pPr>
              <a:spcBef>
                <a:spcPts val="150"/>
              </a:spcBef>
              <a:defRPr sz="850">
                <a:solidFill>
                  <a:srgbClr val="6D6E71"/>
                </a:solidFill>
              </a:defRPr>
            </a:pPr>
            <a:r>
              <a:t>Sensitivity labelling</a:t>
            </a:r>
          </a:p>
          <a:p>
            <a:pPr>
              <a:spcBef>
                <a:spcPts val="150"/>
              </a:spcBef>
              <a:defRPr sz="850">
                <a:solidFill>
                  <a:srgbClr val="6D6E71"/>
                </a:solidFill>
              </a:defRPr>
            </a:pPr>
            <a:r>
              <a:t>Lineage tracking</a:t>
            </a:r>
          </a:p>
          <a:p>
            <a:pPr>
              <a:spcBef>
                <a:spcPts val="150"/>
              </a:spcBef>
              <a:defRPr sz="850">
                <a:solidFill>
                  <a:srgbClr val="6D6E71"/>
                </a:solidFill>
              </a:defRPr>
            </a:pPr>
            <a:r>
              <a:t>AIA/PIA signals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143000"/>
            <a:ext cx="2651760" cy="292608"/>
          </a:xfrm>
          <a:prstGeom prst="rect">
            <a:avLst/>
          </a:prstGeom>
          <a:solidFill>
            <a:srgbClr val="2F6F73"/>
          </a:solidFill>
          <a:ln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161288"/>
            <a:ext cx="25603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COMPLIANCE ENVELOPE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463040"/>
            <a:ext cx="2560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6FAFB3"/>
                </a:solidFill>
              </a:defRPr>
            </a:pPr>
            <a:r>
              <a:t>AIA•PIA•ATO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1828800"/>
            <a:ext cx="2651760" cy="1874520"/>
          </a:xfrm>
          <a:prstGeom prst="rect">
            <a:avLst/>
          </a:prstGeom>
          <a:solidFill>
            <a:srgbClr val="F4F6F7"/>
          </a:solidFill>
          <a:ln w="19050">
            <a:solidFill>
              <a:srgbClr val="6FA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196596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defRPr sz="850">
                <a:solidFill>
                  <a:srgbClr val="6D6E71"/>
                </a:solidFill>
              </a:defRPr>
            </a:pPr>
            <a:r>
              <a:t>Algorithmic Impact</a:t>
            </a:r>
          </a:p>
          <a:p>
            <a:pPr>
              <a:spcBef>
                <a:spcPts val="150"/>
              </a:spcBef>
              <a:defRPr sz="850">
                <a:solidFill>
                  <a:srgbClr val="6D6E71"/>
                </a:solidFill>
              </a:defRPr>
            </a:pPr>
            <a:r>
              <a:t>Privacy Impact</a:t>
            </a:r>
          </a:p>
          <a:p>
            <a:pPr>
              <a:spcBef>
                <a:spcPts val="150"/>
              </a:spcBef>
              <a:defRPr sz="850">
                <a:solidFill>
                  <a:srgbClr val="6D6E71"/>
                </a:solidFill>
              </a:defRPr>
            </a:pPr>
            <a:r>
              <a:t>Authority to Operate</a:t>
            </a:r>
          </a:p>
          <a:p>
            <a:pPr>
              <a:spcBef>
                <a:spcPts val="150"/>
              </a:spcBef>
              <a:defRPr sz="850">
                <a:solidFill>
                  <a:srgbClr val="6D6E71"/>
                </a:solidFill>
              </a:defRPr>
            </a:pPr>
            <a:r>
              <a:t>Externalized once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840480"/>
            <a:ext cx="11430000" cy="457200"/>
          </a:xfrm>
          <a:prstGeom prst="rect">
            <a:avLst/>
          </a:prstGeom>
          <a:solidFill>
            <a:srgbClr val="F4F6F7"/>
          </a:solidFill>
          <a:ln w="2540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913632"/>
            <a:ext cx="11155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200" b="1">
                <a:solidFill>
                  <a:srgbClr val="2F6F73"/>
                </a:solidFill>
              </a:defRPr>
            </a:pPr>
            <a:r>
              <a:t>GOVERNANCE LAYER (Cross-cutting):  Policy  •  ATO  •  Audit  •  FinOps  •  Identity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43484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D6E71"/>
                </a:solidFill>
              </a:defRPr>
            </a:pPr>
            <a:r>
              <a:t>Each gap type in the rubric maps to one named direction. Rubric enforces consistent routing.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228600" dist="381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66700"/>
            <a:ext cx="1219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6700" y="57150"/>
            <a:ext cx="204513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· Benefits of the Rubric 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15349" y="5715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274320"/>
            <a:ext cx="12192000" cy="8458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" y="426720"/>
            <a:ext cx="948417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WHAT CHANGES FOR EACH AUDIENCE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700" y="575310"/>
            <a:ext cx="948417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Standardised evaluation, three audiences, one surface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66700" y="1291590"/>
            <a:ext cx="3797260" cy="513969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720" y="1432560"/>
            <a:ext cx="358153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 ARB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6720" y="1638300"/>
            <a:ext cx="3581537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Architecture Review Board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6570" y="2255520"/>
            <a:ext cx="3506543" cy="456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Standardised evaluation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every proposal arrives in the same shape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570" y="2722007"/>
            <a:ext cx="3506543" cy="456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Comparable vendor decisions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apples to apples across submissions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570" y="3188494"/>
            <a:ext cx="3506543" cy="456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Reduced rework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patterns are reused, not redesigned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97310" y="1291590"/>
            <a:ext cx="3797260" cy="513969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57330" y="1432560"/>
            <a:ext cx="358153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 OCDO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57330" y="1638300"/>
            <a:ext cx="3581537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Office of the Chief Data Officer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27180" y="2255520"/>
            <a:ext cx="3506543" cy="456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Governance consistency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AIA, PIA, ATO applied through one surface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27180" y="2722007"/>
            <a:ext cx="3506543" cy="456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Faster onboarding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new AI use cases enter the pipeline already classified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27180" y="3188494"/>
            <a:ext cx="3506543" cy="456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GC AI strategy alignment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visible mapping to TBS direction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27921" y="1291590"/>
            <a:ext cx="3797380" cy="513969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7941" y="1432560"/>
            <a:ext cx="358166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 DELIVERY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87941" y="1638300"/>
            <a:ext cx="3581660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Delivery teams and program offices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57791" y="2255520"/>
            <a:ext cx="3506666" cy="456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Clear patterns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RAG, HITL, retrieval named and reusable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57791" y="2722007"/>
            <a:ext cx="3506666" cy="456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Reduced ambiguity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known where vendor ends and platform begins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57791" y="3188494"/>
            <a:ext cx="3506666" cy="456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50000"/>
              </a:lnSpc>
              <a:buSzPct val="100000"/>
              <a:buChar char="•"/>
            </a:pPr>
            <a:r>
              <a:rPr lang="en-US" sz="1100" b="1" dirty="0">
                <a:solidFill>
                  <a:srgbClr val="2F6F7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Reusable architectures </a:t>
            </a:r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second use case is faster than the first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45580"/>
            <a:ext cx="12192000" cy="312420"/>
          </a:xfrm>
          <a:prstGeom prst="rect">
            <a:avLst/>
          </a:prstGeom>
          <a:solidFill>
            <a:srgbClr val="F5F7F7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6545580"/>
            <a:ext cx="12192000" cy="9525"/>
          </a:xfrm>
          <a:prstGeom prst="rect">
            <a:avLst/>
          </a:prstGeom>
          <a:solidFill>
            <a:srgbClr val="E6E8E9"/>
          </a:solidFill>
          <a:ln/>
        </p:spPr>
      </p:sp>
      <p:sp>
        <p:nvSpPr>
          <p:cNvPr id="30" name="Text 28"/>
          <p:cNvSpPr/>
          <p:nvPr/>
        </p:nvSpPr>
        <p:spPr>
          <a:xfrm>
            <a:off x="266700" y="662940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898374" y="6629400"/>
            <a:ext cx="3117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EA/TPO interpretation · Digital Transformation Branch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228600" dist="381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66700"/>
            <a:ext cx="1219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6700" y="57150"/>
            <a:ext cx="1205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 · Decision Signal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15349" y="5715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274320"/>
            <a:ext cx="12192000" cy="110871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" y="426720"/>
            <a:ext cx="616617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WHAT THE RUBRIC DECIDES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700" y="575310"/>
            <a:ext cx="616617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Three signals — use, control, avoid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6700" y="1005840"/>
            <a:ext cx="1059561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>
                    <a:alpha val="92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 any vendor evaluated through the rubric, the output is one of three explicit signals. The signal is the decision artefact, not the heatmap.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6700" y="1554480"/>
            <a:ext cx="3797260" cy="487680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66700" y="6423660"/>
            <a:ext cx="3797260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13" name="Shape 11"/>
          <p:cNvSpPr/>
          <p:nvPr/>
        </p:nvSpPr>
        <p:spPr>
          <a:xfrm>
            <a:off x="266700" y="1554480"/>
            <a:ext cx="3797260" cy="38100"/>
          </a:xfrm>
          <a:prstGeom prst="rect">
            <a:avLst/>
          </a:prstGeom>
          <a:solidFill>
            <a:srgbClr val="A6CE39"/>
          </a:solidFill>
          <a:ln/>
        </p:spPr>
      </p:sp>
      <p:sp>
        <p:nvSpPr>
          <p:cNvPr id="14" name="Shape 12"/>
          <p:cNvSpPr/>
          <p:nvPr/>
        </p:nvSpPr>
        <p:spPr>
          <a:xfrm>
            <a:off x="266700" y="1554480"/>
            <a:ext cx="9525" cy="4876800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15" name="Shape 13"/>
          <p:cNvSpPr/>
          <p:nvPr/>
        </p:nvSpPr>
        <p:spPr>
          <a:xfrm>
            <a:off x="4056340" y="1554480"/>
            <a:ext cx="9525" cy="4876800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16" name="Text 14"/>
          <p:cNvSpPr/>
          <p:nvPr/>
        </p:nvSpPr>
        <p:spPr>
          <a:xfrm>
            <a:off x="445770" y="1744980"/>
            <a:ext cx="3542294" cy="393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4F7A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✔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45770" y="2176820"/>
            <a:ext cx="35422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4F7A0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5770" y="2405420"/>
            <a:ext cx="3542294" cy="25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When the vendor fits the L3 pattern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5770" y="2694861"/>
            <a:ext cx="3542294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 Cohere for RAG and retrieval scenarios where vendor fit is strong and the gap type is vendor-addressable. No platform substitution required.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97310" y="1554480"/>
            <a:ext cx="3797260" cy="487680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197310" y="6423660"/>
            <a:ext cx="3797260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22" name="Shape 20"/>
          <p:cNvSpPr/>
          <p:nvPr/>
        </p:nvSpPr>
        <p:spPr>
          <a:xfrm>
            <a:off x="4197310" y="1554480"/>
            <a:ext cx="3797260" cy="38100"/>
          </a:xfrm>
          <a:prstGeom prst="rect">
            <a:avLst/>
          </a:prstGeom>
          <a:solidFill>
            <a:srgbClr val="F2C744"/>
          </a:solidFill>
          <a:ln/>
        </p:spPr>
      </p:sp>
      <p:sp>
        <p:nvSpPr>
          <p:cNvPr id="23" name="Shape 21"/>
          <p:cNvSpPr/>
          <p:nvPr/>
        </p:nvSpPr>
        <p:spPr>
          <a:xfrm>
            <a:off x="4197310" y="1554480"/>
            <a:ext cx="9525" cy="4876800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24" name="Shape 22"/>
          <p:cNvSpPr/>
          <p:nvPr/>
        </p:nvSpPr>
        <p:spPr>
          <a:xfrm>
            <a:off x="7986951" y="1554480"/>
            <a:ext cx="9525" cy="4876800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25" name="Text 23"/>
          <p:cNvSpPr/>
          <p:nvPr/>
        </p:nvSpPr>
        <p:spPr>
          <a:xfrm>
            <a:off x="4376380" y="1744980"/>
            <a:ext cx="3542294" cy="393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8A6A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⚠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376380" y="2176820"/>
            <a:ext cx="354229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8A6A0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 WITH CONTROLS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76380" y="2405420"/>
            <a:ext cx="3542294" cy="25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When PATH and HAIL must wrap the call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76380" y="2694861"/>
            <a:ext cx="3542294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Use with explicit PATH routing, HAIL pattern enforcement, HITL gating, and Purview classification. Required whenever the gap type is platform-addressable or governance-externalised.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27921" y="1554480"/>
            <a:ext cx="3797380" cy="487680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127921" y="6423660"/>
            <a:ext cx="3797380" cy="9525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31" name="Shape 29"/>
          <p:cNvSpPr/>
          <p:nvPr/>
        </p:nvSpPr>
        <p:spPr>
          <a:xfrm>
            <a:off x="8127921" y="1554480"/>
            <a:ext cx="3797380" cy="38100"/>
          </a:xfrm>
          <a:prstGeom prst="rect">
            <a:avLst/>
          </a:prstGeom>
          <a:solidFill>
            <a:srgbClr val="C24545"/>
          </a:solidFill>
          <a:ln/>
        </p:spPr>
      </p:sp>
      <p:sp>
        <p:nvSpPr>
          <p:cNvPr id="32" name="Shape 30"/>
          <p:cNvSpPr/>
          <p:nvPr/>
        </p:nvSpPr>
        <p:spPr>
          <a:xfrm>
            <a:off x="8127921" y="1554480"/>
            <a:ext cx="9525" cy="4876800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33" name="Shape 31"/>
          <p:cNvSpPr/>
          <p:nvPr/>
        </p:nvSpPr>
        <p:spPr>
          <a:xfrm>
            <a:off x="11917680" y="1554480"/>
            <a:ext cx="9525" cy="4876800"/>
          </a:xfrm>
          <a:prstGeom prst="rect">
            <a:avLst/>
          </a:prstGeom>
          <a:solidFill>
            <a:srgbClr val="CDE3E5"/>
          </a:solidFill>
          <a:ln/>
        </p:spPr>
      </p:sp>
      <p:sp>
        <p:nvSpPr>
          <p:cNvPr id="34" name="Text 32"/>
          <p:cNvSpPr/>
          <p:nvPr/>
        </p:nvSpPr>
        <p:spPr>
          <a:xfrm>
            <a:off x="8306991" y="1744980"/>
            <a:ext cx="3542417" cy="393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C245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✖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8306991" y="2176820"/>
            <a:ext cx="354241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C2454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 NOT USE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06991" y="2405420"/>
            <a:ext cx="3542417" cy="4645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When proposed as platform replacement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306991" y="2908102"/>
            <a:ext cx="3542417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 not use a vendor as a substitute for the enterprise platform, or for capabilities outside its evaluated L3 surface. Orchestration, integration, and identity stay enterprise-owned.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6545580"/>
            <a:ext cx="12192000" cy="312420"/>
          </a:xfrm>
          <a:prstGeom prst="rect">
            <a:avLst/>
          </a:prstGeom>
          <a:solidFill>
            <a:srgbClr val="F5F7F7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6545580"/>
            <a:ext cx="12192000" cy="9525"/>
          </a:xfrm>
          <a:prstGeom prst="rect">
            <a:avLst/>
          </a:prstGeom>
          <a:solidFill>
            <a:srgbClr val="E6E8E9"/>
          </a:solidFill>
          <a:ln/>
        </p:spPr>
      </p:sp>
      <p:sp>
        <p:nvSpPr>
          <p:cNvPr id="40" name="Text 38"/>
          <p:cNvSpPr/>
          <p:nvPr/>
        </p:nvSpPr>
        <p:spPr>
          <a:xfrm>
            <a:off x="266700" y="662940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898374" y="6629400"/>
            <a:ext cx="3117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EA/TPO interpretation · Digital Transformation Branch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  <a:effectLst>
            <a:outerShdw sx="100000" sy="100000" kx="0" ky="0" algn="bl" rotWithShape="0" blurRad="228600" dist="381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66700"/>
            <a:ext cx="1219200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6700" y="57150"/>
            <a:ext cx="18379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11 · Recommended Next Steps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15349" y="5715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274320"/>
            <a:ext cx="12192000" cy="1314450"/>
          </a:xfrm>
          <a:prstGeom prst="rect">
            <a:avLst/>
          </a:prstGeom>
          <a:solidFill>
            <a:srgbClr val="2F6F73"/>
          </a:solidFill>
          <a:ln/>
        </p:spPr>
      </p:sp>
      <p:sp>
        <p:nvSpPr>
          <p:cNvPr id="8" name="Text 6"/>
          <p:cNvSpPr/>
          <p:nvPr/>
        </p:nvSpPr>
        <p:spPr>
          <a:xfrm>
            <a:off x="266700" y="426720"/>
            <a:ext cx="6043912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CDE3E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FROM PILOT TO STANDARD PRACTICE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700" y="575310"/>
            <a:ext cx="604391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Four moves to formalise the rubric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6700" y="1005840"/>
            <a:ext cx="10595610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>
                    <a:alpha val="92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Each step is independently actionable and reinforces the others. Together they convert the rubric from a one-off pilot artefact into a standing evaluation surface for ARB intake.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6700" y="1760220"/>
            <a:ext cx="5772150" cy="2371725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7670" y="1882140"/>
            <a:ext cx="533400" cy="36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spc="-52" kern="0" dirty="0">
                <a:solidFill>
                  <a:srgbClr val="5E9EA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98220" y="1882140"/>
            <a:ext cx="504665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Formalise the rubric as a JSON registry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8220" y="2118360"/>
            <a:ext cx="5046650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Encode L1/L2/L3 taxonomy, importance weights, vendor-fit scoring, and gap typing in a versioned schema. Becomes the source of truth that ARB and OCDO both consume.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98220" y="2716530"/>
            <a:ext cx="50466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OWNER — EA / TPO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53150" y="1760220"/>
            <a:ext cx="5772150" cy="2371725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4120" y="1882140"/>
            <a:ext cx="533400" cy="36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spc="-52" kern="0" dirty="0">
                <a:solidFill>
                  <a:srgbClr val="5E9EA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84670" y="1882140"/>
            <a:ext cx="504665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Apply to additional vendors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84670" y="2118360"/>
            <a:ext cx="50466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 the same rubric across the next two to three candidate vendors after Cohere. Validates comparability and surfaces any L3 gaps the taxonomy is missing.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84670" y="2529840"/>
            <a:ext cx="50466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OWNER — EA + PROGRAM OFFICES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6700" y="4246245"/>
            <a:ext cx="5772150" cy="2185035"/>
          </a:xfrm>
          <a:prstGeom prst="roundRect">
            <a:avLst>
              <a:gd name="adj" fmla="val 2616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670" y="4368165"/>
            <a:ext cx="533400" cy="36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spc="-52" kern="0" dirty="0">
                <a:solidFill>
                  <a:srgbClr val="5E9EA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98220" y="4368165"/>
            <a:ext cx="504665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Integrate into ARB intake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98220" y="4604385"/>
            <a:ext cx="50466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Make the rubric a required input for AI proposals entering ARB. Submissions arrive pre-classified by L1/L2/L3 with a decision signal already attached.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98220" y="5015865"/>
            <a:ext cx="50466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OWNER — ARB SECRETARIAT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53150" y="4246245"/>
            <a:ext cx="5772150" cy="2185035"/>
          </a:xfrm>
          <a:prstGeom prst="roundRect">
            <a:avLst>
              <a:gd name="adj" fmla="val 2616"/>
            </a:avLst>
          </a:prstGeom>
          <a:solidFill>
            <a:srgbClr val="FFFFFF"/>
          </a:solidFill>
          <a:ln w="7620">
            <a:solidFill>
              <a:srgbClr val="CDE3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4120" y="4368165"/>
            <a:ext cx="533400" cy="36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spc="-52" kern="0" dirty="0">
                <a:solidFill>
                  <a:srgbClr val="5E9EA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884670" y="4368165"/>
            <a:ext cx="504665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Align with PATH / HAIL convergence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84670" y="4604385"/>
            <a:ext cx="50466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Connect rubric gap types directly to PATH control-plane patterns and HAIL runtime templates so platform-addressable findings have a named landing place.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84670" y="5015865"/>
            <a:ext cx="50466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OWNER — EA + PLATFORM ENGINEERING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6545580"/>
            <a:ext cx="12192000" cy="312420"/>
          </a:xfrm>
          <a:prstGeom prst="rect">
            <a:avLst/>
          </a:prstGeom>
          <a:solidFill>
            <a:srgbClr val="F5F7F7"/>
          </a:solidFill>
          <a:ln/>
        </p:spPr>
      </p:sp>
      <p:sp>
        <p:nvSpPr>
          <p:cNvPr id="32" name="Shape 30"/>
          <p:cNvSpPr/>
          <p:nvPr/>
        </p:nvSpPr>
        <p:spPr>
          <a:xfrm>
            <a:off x="0" y="6545580"/>
            <a:ext cx="12192000" cy="9525"/>
          </a:xfrm>
          <a:prstGeom prst="rect">
            <a:avLst/>
          </a:prstGeom>
          <a:solidFill>
            <a:srgbClr val="E6E8E9"/>
          </a:solidFill>
          <a:ln/>
        </p:spPr>
      </p:sp>
      <p:sp>
        <p:nvSpPr>
          <p:cNvPr id="33" name="Text 31"/>
          <p:cNvSpPr/>
          <p:nvPr/>
        </p:nvSpPr>
        <p:spPr>
          <a:xfrm>
            <a:off x="266700" y="6629400"/>
            <a:ext cx="158615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Unclassified / Non classifié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898374" y="6629400"/>
            <a:ext cx="311773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EA/TPO interpretation · Digital Transformation Branch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2026-04-28T14:53:43Z</dcterms:created>
  <dcterms:modified xsi:type="dcterms:W3CDTF">2026-04-28T14:53:43Z</dcterms:modified>
</cp:coreProperties>
</file>