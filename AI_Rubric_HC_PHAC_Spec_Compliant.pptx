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F6F73"/>
                </a:solidFill>
                <a:latin typeface="Arial"/>
              </a:defRPr>
            </a:pPr>
            <a:r>
              <a:t>AI Vendor Evaluation —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77724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>
                <a:solidFill>
                  <a:srgbClr val="6D6E71"/>
                </a:solidFill>
                <a:latin typeface="Arial"/>
              </a:defRPr>
            </a:pPr>
            <a:r>
              <a:t>AI adoption exceeds governance capacity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188720"/>
            <a:ext cx="1965960" cy="2560320"/>
          </a:xfrm>
          <a:prstGeom prst="rect">
            <a:avLst/>
          </a:prstGeom>
          <a:solidFill>
            <a:srgbClr val="6FAFB3"/>
          </a:solidFill>
          <a:ln w="1905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6187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F73"/>
                </a:solidFill>
                <a:latin typeface="Arial"/>
              </a:defRPr>
            </a:pPr>
            <a:r>
              <a:t>Market</a:t>
            </a:r>
            <a:br/>
            <a:r>
              <a:t>Reality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1783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LLM expansion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Multiple</a:t>
            </a:r>
            <a:br/>
            <a:r>
              <a:t>entry points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No standard</a:t>
            </a:r>
            <a:br/>
            <a:r>
              <a:t>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2221992" y="1188720"/>
            <a:ext cx="1965960" cy="2560320"/>
          </a:xfrm>
          <a:prstGeom prst="rect">
            <a:avLst/>
          </a:prstGeom>
          <a:solidFill>
            <a:srgbClr val="6FAFB3"/>
          </a:solidFill>
          <a:ln w="1905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13432" y="126187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F73"/>
                </a:solidFill>
                <a:latin typeface="Arial"/>
              </a:defRPr>
            </a:pPr>
            <a:r>
              <a:t>HC/PHAC</a:t>
            </a:r>
            <a:br/>
            <a:r>
              <a:t>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13432" y="1572768"/>
            <a:ext cx="1783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Growing</a:t>
            </a:r>
            <a:br/>
            <a:r>
              <a:t>inventory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AI Accelerator</a:t>
            </a:r>
            <a:br/>
            <a:r>
              <a:t>intake ↑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PATH/HAIL</a:t>
            </a:r>
            <a:br/>
            <a:r>
              <a:t>converging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61104" y="1188720"/>
            <a:ext cx="1965960" cy="2560320"/>
          </a:xfrm>
          <a:prstGeom prst="rect">
            <a:avLst/>
          </a:prstGeom>
          <a:solidFill>
            <a:srgbClr val="6FAFB3"/>
          </a:solidFill>
          <a:ln w="1905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52544" y="126187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F73"/>
                </a:solidFill>
                <a:latin typeface="Arial"/>
              </a:defRPr>
            </a:pPr>
            <a:r>
              <a:t>Key</a:t>
            </a:r>
            <a:br/>
            <a:r>
              <a:t>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52544" y="1572768"/>
            <a:ext cx="1783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Fragmented</a:t>
            </a:r>
            <a:br/>
            <a:r>
              <a:t>decisions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Shadow</a:t>
            </a:r>
            <a:br/>
            <a:r>
              <a:t>AI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Inconsistent</a:t>
            </a:r>
            <a:br/>
            <a:r>
              <a:t>compliance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216" y="1188720"/>
            <a:ext cx="1965960" cy="2560320"/>
          </a:xfrm>
          <a:prstGeom prst="rect">
            <a:avLst/>
          </a:prstGeom>
          <a:solidFill>
            <a:srgbClr val="6FAFB3"/>
          </a:solidFill>
          <a:ln w="1905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91655" y="1261872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F73"/>
                </a:solidFill>
                <a:latin typeface="Arial"/>
              </a:defRPr>
            </a:pPr>
            <a:r>
              <a:t>Arch</a:t>
            </a:r>
            <a:br/>
            <a: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91655" y="1572768"/>
            <a:ext cx="17830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No control</a:t>
            </a:r>
            <a:br/>
            <a:r>
              <a:t>plane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Vendor-driven</a:t>
            </a:r>
            <a:br/>
            <a:r>
              <a:t>evaluation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Governance</a:t>
            </a:r>
            <a:br/>
            <a:r>
              <a:t>too late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" y="3840480"/>
            <a:ext cx="8778240" cy="457200"/>
          </a:xfrm>
          <a:prstGeom prst="rect">
            <a:avLst/>
          </a:prstGeom>
          <a:solidFill>
            <a:srgbClr val="F4F6F7"/>
          </a:solidFill>
          <a:ln w="2540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91363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6F73"/>
                </a:solidFill>
                <a:latin typeface="Arial"/>
              </a:defRPr>
            </a:pPr>
            <a:r>
              <a:t>Governance Overlay: Policy • ATO • Audit • FinOps • Identity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4389120"/>
            <a:ext cx="8778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F6F73"/>
                </a:solidFill>
                <a:latin typeface="Arial"/>
              </a:defRPr>
            </a:pPr>
            <a:r>
              <a:t>We make decisions without repeatable, enterprise-aligned evaluation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4892040"/>
            <a:ext cx="8778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D6E71"/>
                </a:solidFill>
                <a:latin typeface="Arial"/>
              </a:defRPr>
            </a:pPr>
            <a:r>
              <a:t>UNCLASSIFIED / NON CLASSIFIÉ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F6F73"/>
                </a:solidFill>
                <a:latin typeface="Arial"/>
              </a:defRPr>
            </a:pPr>
            <a:r>
              <a:t>Evaluation Rubric — Seven Dimensions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777240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6D6E71"/>
                </a:solidFill>
                <a:latin typeface="Arial"/>
              </a:defRPr>
            </a:pPr>
            <a:r>
              <a:t>Architecture-first, not model-first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143000"/>
            <a:ext cx="2651760" cy="1691640"/>
          </a:xfrm>
          <a:prstGeom prst="rect">
            <a:avLst/>
          </a:prstGeom>
          <a:solidFill>
            <a:srgbClr val="6FAFB3"/>
          </a:solidFill>
          <a:ln w="1905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1615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F73"/>
                </a:solidFill>
                <a:latin typeface="Arial"/>
              </a:defRPr>
            </a:pPr>
            <a:r>
              <a:t>Strategy &amp;</a:t>
            </a:r>
            <a:br/>
            <a:r>
              <a:t>Alignment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27048"/>
            <a:ext cx="24688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Roadmap fit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PATH/HAIL</a:t>
            </a:r>
            <a:br/>
            <a:r>
              <a:t>compat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1143000"/>
            <a:ext cx="2651760" cy="1691640"/>
          </a:xfrm>
          <a:prstGeom prst="rect">
            <a:avLst/>
          </a:prstGeom>
          <a:solidFill>
            <a:srgbClr val="6FAFB3"/>
          </a:solidFill>
          <a:ln w="1905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83280" y="121615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F73"/>
                </a:solidFill>
                <a:latin typeface="Arial"/>
              </a:defRPr>
            </a:pPr>
            <a:r>
              <a:t>Governance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527048"/>
            <a:ext cx="24688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Sovereignty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Compliance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Auditability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143000"/>
            <a:ext cx="2651760" cy="1691640"/>
          </a:xfrm>
          <a:prstGeom prst="rect">
            <a:avLst/>
          </a:prstGeom>
          <a:solidFill>
            <a:srgbClr val="6FAFB3"/>
          </a:solidFill>
          <a:ln w="1905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21615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F73"/>
                </a:solidFill>
                <a:latin typeface="Arial"/>
              </a:defRPr>
            </a:pPr>
            <a:r>
              <a:t>Security</a:t>
            </a:r>
            <a:br/>
            <a:r>
              <a:t>&amp; Risk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527048"/>
            <a:ext cx="24688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Privacy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Threat</a:t>
            </a:r>
            <a:br/>
            <a:r>
              <a:t>surface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Enforcement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" y="3063240"/>
            <a:ext cx="2651760" cy="1691640"/>
          </a:xfrm>
          <a:prstGeom prst="rect">
            <a:avLst/>
          </a:prstGeom>
          <a:solidFill>
            <a:srgbClr val="6FAFB3"/>
          </a:solidFill>
          <a:ln w="1905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4320" y="313639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F73"/>
                </a:solidFill>
                <a:latin typeface="Arial"/>
              </a:defRPr>
            </a:pPr>
            <a:r>
              <a:t>Architecture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3447288"/>
            <a:ext cx="24688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API fit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Runtime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Control plane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3063240"/>
            <a:ext cx="2651760" cy="1691640"/>
          </a:xfrm>
          <a:prstGeom prst="rect">
            <a:avLst/>
          </a:prstGeom>
          <a:solidFill>
            <a:srgbClr val="6FAFB3"/>
          </a:solidFill>
          <a:ln w="1905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383280" y="313639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F73"/>
                </a:solidFill>
                <a:latin typeface="Arial"/>
              </a:defRPr>
            </a:pPr>
            <a:r>
              <a:t>Capability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447288"/>
            <a:ext cx="24688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Reasoning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Use case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Modality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063240"/>
            <a:ext cx="2651760" cy="1691640"/>
          </a:xfrm>
          <a:prstGeom prst="rect">
            <a:avLst/>
          </a:prstGeom>
          <a:solidFill>
            <a:srgbClr val="6FAFB3"/>
          </a:solidFill>
          <a:ln w="1905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92240" y="313639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F73"/>
                </a:solidFill>
                <a:latin typeface="Arial"/>
              </a:defRPr>
            </a:pPr>
            <a:r>
              <a:t>Operations</a:t>
            </a:r>
            <a:br/>
            <a:r>
              <a:t>&amp; Cost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47288"/>
            <a:ext cx="246887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FinOps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Scaling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Viability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438912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6D6E71"/>
                </a:solidFill>
                <a:latin typeface="Arial"/>
              </a:defRPr>
            </a:pPr>
            <a:r>
              <a:t>Responsible AI: Bias mitigation • Human-in-loop • Explainability • AIA-ready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4892040"/>
            <a:ext cx="8778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D6E71"/>
                </a:solidFill>
                <a:latin typeface="Arial"/>
              </a:defRPr>
            </a:pPr>
            <a:r>
              <a:t>UNCLASSIFIED / NON CLASSIFIÉ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0"/>
            <a:ext cx="8778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2F6F73"/>
                </a:solidFill>
                <a:latin typeface="Arial"/>
              </a:defRPr>
            </a:pPr>
            <a:r>
              <a:t>From Evaluation → Decision → Governance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777240"/>
            <a:ext cx="8778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>
                <a:solidFill>
                  <a:srgbClr val="6D6E71"/>
                </a:solidFill>
                <a:latin typeface="Arial"/>
              </a:defRPr>
            </a:pPr>
            <a:r>
              <a:t>Rubric drives governance and platform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182880" y="1188720"/>
            <a:ext cx="1645920" cy="2286000"/>
          </a:xfrm>
          <a:prstGeom prst="rect">
            <a:avLst/>
          </a:prstGeom>
          <a:solidFill>
            <a:srgbClr val="6FAFB3"/>
          </a:solidFill>
          <a:ln w="1905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2618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F73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1572768"/>
            <a:ext cx="1463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Vendor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Use case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Data class</a:t>
            </a:r>
          </a:p>
        </p:txBody>
      </p:sp>
      <p:sp>
        <p:nvSpPr>
          <p:cNvPr id="7" name="Right Brace 6"/>
          <p:cNvSpPr/>
          <p:nvPr/>
        </p:nvSpPr>
        <p:spPr>
          <a:xfrm>
            <a:off x="1737360" y="2286000"/>
            <a:ext cx="182880" cy="91440"/>
          </a:xfrm>
          <a:prstGeom prst="rightBrace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874520" y="1188720"/>
            <a:ext cx="1645920" cy="2286000"/>
          </a:xfrm>
          <a:prstGeom prst="rect">
            <a:avLst/>
          </a:prstGeom>
          <a:solidFill>
            <a:srgbClr val="6FAFB3"/>
          </a:solidFill>
          <a:ln w="1905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2618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F73"/>
                </a:solidFill>
                <a:latin typeface="Arial"/>
              </a:defRPr>
            </a:pPr>
            <a:r>
              <a:t>Rubric</a:t>
            </a:r>
            <a:br/>
            <a:r>
              <a:t>Scoring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1572768"/>
            <a:ext cx="1463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A6CE39"/>
                </a:solidFill>
                <a:latin typeface="Arial"/>
              </a:defRPr>
            </a:pPr>
            <a:r>
              <a:t>Governance ↑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Arch fit ↑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Capability</a:t>
            </a:r>
          </a:p>
        </p:txBody>
      </p:sp>
      <p:sp>
        <p:nvSpPr>
          <p:cNvPr id="11" name="Right Brace 10"/>
          <p:cNvSpPr/>
          <p:nvPr/>
        </p:nvSpPr>
        <p:spPr>
          <a:xfrm>
            <a:off x="3429000" y="2286000"/>
            <a:ext cx="182880" cy="91440"/>
          </a:xfrm>
          <a:prstGeom prst="rightBrace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188720"/>
            <a:ext cx="1645920" cy="2286000"/>
          </a:xfrm>
          <a:prstGeom prst="rect">
            <a:avLst/>
          </a:prstGeom>
          <a:solidFill>
            <a:srgbClr val="6FAFB3"/>
          </a:solidFill>
          <a:ln w="1905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0" y="12618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F73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572768"/>
            <a:ext cx="1463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Heatmap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Gaps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Risk profile</a:t>
            </a:r>
          </a:p>
        </p:txBody>
      </p:sp>
      <p:sp>
        <p:nvSpPr>
          <p:cNvPr id="15" name="Right Brace 14"/>
          <p:cNvSpPr/>
          <p:nvPr/>
        </p:nvSpPr>
        <p:spPr>
          <a:xfrm>
            <a:off x="5120640" y="2286000"/>
            <a:ext cx="182880" cy="91440"/>
          </a:xfrm>
          <a:prstGeom prst="rightBrace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57800" y="1188720"/>
            <a:ext cx="1645920" cy="2286000"/>
          </a:xfrm>
          <a:prstGeom prst="rect">
            <a:avLst/>
          </a:prstGeom>
          <a:solidFill>
            <a:srgbClr val="6FAFB3"/>
          </a:solidFill>
          <a:ln w="1905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49240" y="12618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F73"/>
                </a:solidFill>
                <a:latin typeface="Arial"/>
              </a:defRPr>
            </a:pPr>
            <a:r>
              <a:t>Decision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1572768"/>
            <a:ext cx="1463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A6CE39"/>
                </a:solidFill>
                <a:latin typeface="Arial"/>
              </a:defRPr>
            </a:pPr>
            <a:r>
              <a:t>Approve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(conditions)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Restrict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Reject</a:t>
            </a:r>
          </a:p>
        </p:txBody>
      </p:sp>
      <p:sp>
        <p:nvSpPr>
          <p:cNvPr id="19" name="Right Brace 18"/>
          <p:cNvSpPr/>
          <p:nvPr/>
        </p:nvSpPr>
        <p:spPr>
          <a:xfrm>
            <a:off x="6812280" y="2286000"/>
            <a:ext cx="182880" cy="91440"/>
          </a:xfrm>
          <a:prstGeom prst="rightBrace">
            <a:avLst/>
          </a:prstGeom>
          <a:solidFill>
            <a:srgbClr val="2F6F73"/>
          </a:solidFill>
          <a:ln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1188720"/>
            <a:ext cx="1645920" cy="2286000"/>
          </a:xfrm>
          <a:prstGeom prst="rect">
            <a:avLst/>
          </a:prstGeom>
          <a:solidFill>
            <a:srgbClr val="6FAFB3"/>
          </a:solidFill>
          <a:ln w="1905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0" y="1261872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F6F73"/>
                </a:solidFill>
                <a:latin typeface="Arial"/>
              </a:defRPr>
            </a:pPr>
            <a:r>
              <a:t>Integration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0" y="1572768"/>
            <a:ext cx="146304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Use Case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Inventory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Accelerator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defRPr sz="1600">
                <a:solidFill>
                  <a:srgbClr val="6D6E71"/>
                </a:solidFill>
                <a:latin typeface="Arial"/>
              </a:defRPr>
            </a:pPr>
            <a:r>
              <a:t>ARB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82880" y="3657600"/>
            <a:ext cx="8778240" cy="457200"/>
          </a:xfrm>
          <a:prstGeom prst="rect">
            <a:avLst/>
          </a:prstGeom>
          <a:solidFill>
            <a:srgbClr val="F4F6F7"/>
          </a:solidFill>
          <a:ln w="25400">
            <a:solidFill>
              <a:srgbClr val="2F6F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730752"/>
            <a:ext cx="8503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6F73"/>
                </a:solidFill>
                <a:latin typeface="Arial"/>
              </a:defRPr>
            </a:pPr>
            <a:r>
              <a:t>Governance Overlay: Policy • ATO • Audit • FinOps • Identity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2880" y="4206240"/>
            <a:ext cx="8778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F6F73"/>
                </a:solidFill>
                <a:latin typeface="Arial"/>
              </a:defRPr>
            </a:pPr>
            <a:r>
              <a:t>PATH = control plane  •  HAIL = runtime  •  Rubric = governance enforcement</a:t>
            </a:r>
          </a:p>
          <a:p>
            <a:br/>
            <a:pPr algn="ctr">
              <a:spcBef>
                <a:spcPts val="600"/>
              </a:spcBef>
              <a:defRPr sz="1300">
                <a:solidFill>
                  <a:srgbClr val="6D6E71"/>
                </a:solidFill>
                <a:latin typeface="Arial"/>
              </a:defRPr>
            </a:pPr>
            <a:r>
              <a:t>AI is a governed enterprise capability, not a tool 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" y="4892040"/>
            <a:ext cx="8778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">
                <a:solidFill>
                  <a:srgbClr val="6D6E71"/>
                </a:solidFill>
                <a:latin typeface="Arial"/>
              </a:defRPr>
            </a:pPr>
            <a:r>
              <a:t>UNCLASSIFIED / NON CLASSIFIÉ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" y="182880"/>
            <a:ext cx="87782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2F6F73"/>
                </a:solidFill>
                <a:latin typeface="Arial"/>
              </a:defRPr>
            </a:pPr>
            <a:r>
              <a:t>RECORD LAYER — Expanded Acronyms &amp; Governance 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" y="640080"/>
            <a:ext cx="877824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F6F73"/>
                </a:solidFill>
                <a:latin typeface="Arial"/>
              </a:defRPr>
            </a:pPr>
            <a:r>
              <a:t>Acronyms Expanded:</a:t>
            </a:r>
          </a:p>
          <a:p>
            <a:pPr>
              <a:spcBef>
                <a:spcPts val="200"/>
              </a:spcBef>
              <a:defRPr sz="1200">
                <a:solidFill>
                  <a:srgbClr val="6D6E71"/>
                </a:solidFill>
                <a:latin typeface="Arial"/>
              </a:defRPr>
            </a:pPr>
            <a:r>
              <a:t>  • PATH = Platform for Analytics, Transformation, Health</a:t>
            </a:r>
          </a:p>
          <a:p>
            <a:pPr>
              <a:spcBef>
                <a:spcPts val="200"/>
              </a:spcBef>
              <a:defRPr sz="1200">
                <a:solidFill>
                  <a:srgbClr val="6D6E71"/>
                </a:solidFill>
                <a:latin typeface="Arial"/>
              </a:defRPr>
            </a:pPr>
            <a:r>
              <a:t>  • HAIL = Health AI Integration Layer</a:t>
            </a:r>
          </a:p>
          <a:p>
            <a:pPr>
              <a:spcBef>
                <a:spcPts val="200"/>
              </a:spcBef>
              <a:defRPr sz="1200">
                <a:solidFill>
                  <a:srgbClr val="6D6E71"/>
                </a:solidFill>
                <a:latin typeface="Arial"/>
              </a:defRPr>
            </a:pPr>
            <a:r>
              <a:t>  • ATO = Authority to Operate</a:t>
            </a:r>
          </a:p>
          <a:p>
            <a:pPr>
              <a:spcBef>
                <a:spcPts val="200"/>
              </a:spcBef>
              <a:defRPr sz="1200">
                <a:solidFill>
                  <a:srgbClr val="6D6E71"/>
                </a:solidFill>
                <a:latin typeface="Arial"/>
              </a:defRPr>
            </a:pPr>
            <a:r>
              <a:t>  • FinOps = Financial Operations</a:t>
            </a:r>
          </a:p>
          <a:p>
            <a:pPr>
              <a:spcBef>
                <a:spcPts val="200"/>
              </a:spcBef>
              <a:defRPr sz="1200">
                <a:solidFill>
                  <a:srgbClr val="6D6E71"/>
                </a:solidFill>
                <a:latin typeface="Arial"/>
              </a:defRPr>
            </a:pPr>
            <a:r>
              <a:t>  • AIA = Algorithmic Impact Assessment</a:t>
            </a:r>
          </a:p>
          <a:p>
            <a:pPr>
              <a:spcBef>
                <a:spcPts val="200"/>
              </a:spcBef>
              <a:defRPr sz="1200">
                <a:solidFill>
                  <a:srgbClr val="6D6E71"/>
                </a:solidFill>
                <a:latin typeface="Arial"/>
              </a:defRPr>
            </a:pPr>
            <a:r>
              <a:t>  • WCAG = Web Content Accessibility Guidelines</a:t>
            </a:r>
          </a:p>
          <a:p>
            <a:pPr>
              <a:spcBef>
                <a:spcPts val="800"/>
              </a:spcBef>
            </a:pPr>
          </a:p>
          <a:p>
            <a:pPr>
              <a:defRPr sz="1400" b="1">
                <a:solidFill>
                  <a:srgbClr val="2F6F73"/>
                </a:solidFill>
                <a:latin typeface="Arial"/>
              </a:defRPr>
            </a:pPr>
            <a:r>
              <a:t>Governance Requirements:</a:t>
            </a:r>
          </a:p>
          <a:p>
            <a:pPr>
              <a:spcBef>
                <a:spcPts val="200"/>
              </a:spcBef>
              <a:defRPr sz="1200">
                <a:solidFill>
                  <a:srgbClr val="6D6E71"/>
                </a:solidFill>
                <a:latin typeface="Arial"/>
              </a:defRPr>
            </a:pPr>
            <a:r>
              <a:t>  • Policy: TBS DADM, GC AI Policy, HC Responsible AI Framework</a:t>
            </a:r>
          </a:p>
          <a:p>
            <a:pPr>
              <a:spcBef>
                <a:spcPts val="200"/>
              </a:spcBef>
              <a:defRPr sz="1200">
                <a:solidFill>
                  <a:srgbClr val="6D6E71"/>
                </a:solidFill>
                <a:latin typeface="Arial"/>
              </a:defRPr>
            </a:pPr>
            <a:r>
              <a:t>  • ATO: HC/PHAC SA&amp;A process, ASA sign-off, risk acceptance</a:t>
            </a:r>
          </a:p>
          <a:p>
            <a:pPr>
              <a:spcBef>
                <a:spcPts val="200"/>
              </a:spcBef>
              <a:defRPr sz="1200">
                <a:solidFill>
                  <a:srgbClr val="6D6E71"/>
                </a:solidFill>
                <a:latin typeface="Arial"/>
              </a:defRPr>
            </a:pPr>
            <a:r>
              <a:t>  • Audit: Algorithmic audit trail, decision logs, model cards</a:t>
            </a:r>
          </a:p>
          <a:p>
            <a:pPr>
              <a:spcBef>
                <a:spcPts val="200"/>
              </a:spcBef>
              <a:defRPr sz="1200">
                <a:solidFill>
                  <a:srgbClr val="6D6E71"/>
                </a:solidFill>
                <a:latin typeface="Arial"/>
              </a:defRPr>
            </a:pPr>
            <a:r>
              <a:t>  • FinOps: Cost modeling, subscription vs consumption, chargeback</a:t>
            </a:r>
          </a:p>
          <a:p>
            <a:pPr>
              <a:spcBef>
                <a:spcPts val="200"/>
              </a:spcBef>
              <a:defRPr sz="1200">
                <a:solidFill>
                  <a:srgbClr val="6D6E71"/>
                </a:solidFill>
                <a:latin typeface="Arial"/>
              </a:defRPr>
            </a:pPr>
            <a:r>
              <a:t>  • Identity: Entra ID integration, RBAC, audit logging</a:t>
            </a:r>
          </a:p>
          <a:p>
            <a:pPr>
              <a:spcBef>
                <a:spcPts val="800"/>
              </a:spcBef>
            </a:pPr>
          </a:p>
          <a:p>
            <a:pPr>
              <a:defRPr sz="1400" b="1">
                <a:solidFill>
                  <a:srgbClr val="2F6F73"/>
                </a:solidFill>
                <a:latin typeface="Arial"/>
              </a:defRPr>
            </a:pPr>
            <a:r>
              <a:t>AI Highlights (#A6CE39):</a:t>
            </a:r>
          </a:p>
          <a:p>
            <a:pPr>
              <a:spcBef>
                <a:spcPts val="200"/>
              </a:spcBef>
              <a:defRPr sz="1200">
                <a:solidFill>
                  <a:srgbClr val="6D6E71"/>
                </a:solidFill>
                <a:latin typeface="Arial"/>
              </a:defRPr>
            </a:pPr>
            <a:r>
              <a:t>  • Governance ↑ (AI-intensive evaluation)</a:t>
            </a:r>
          </a:p>
          <a:p>
            <a:pPr>
              <a:spcBef>
                <a:spcPts val="200"/>
              </a:spcBef>
              <a:defRPr sz="1200">
                <a:solidFill>
                  <a:srgbClr val="6D6E71"/>
                </a:solidFill>
                <a:latin typeface="Arial"/>
              </a:defRPr>
            </a:pPr>
            <a:r>
              <a:t>  • Approve (decision flag for AI intake)</a:t>
            </a:r>
          </a:p>
          <a:p>
            <a:pPr>
              <a:spcBef>
                <a:spcPts val="200"/>
              </a:spcBef>
              <a:defRPr sz="1200">
                <a:solidFill>
                  <a:srgbClr val="6D6E71"/>
                </a:solidFill>
                <a:latin typeface="Arial"/>
              </a:defRPr>
            </a:pPr>
            <a:r>
              <a:t>  • Only applied to AI-specific capabilities</a:t>
            </a:r>
          </a:p>
          <a:p>
            <a:pPr>
              <a:spcBef>
                <a:spcPts val="200"/>
              </a:spcBef>
              <a:defRPr sz="1200">
                <a:solidFill>
                  <a:srgbClr val="6D6E71"/>
                </a:solidFill>
                <a:latin typeface="Arial"/>
              </a:defRPr>
            </a:pPr>
            <a:r>
              <a:t>  • All other elements: neutral (#6D6E71)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