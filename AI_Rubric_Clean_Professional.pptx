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A4A"/>
                </a:solidFill>
                <a:latin typeface="Calibri"/>
              </a:defRPr>
            </a:pPr>
            <a:r>
              <a:t>AI Vendor Evaluation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F6F73"/>
                </a:solidFill>
                <a:latin typeface="Calibri"/>
              </a:defRPr>
            </a:pPr>
            <a:r>
              <a:t>Problem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1B2A4A"/>
                </a:solidFill>
                <a:latin typeface="Calibri"/>
              </a:defRPr>
            </a:pPr>
            <a:r>
              <a:t>UNCLASSIFIED</a:t>
            </a:r>
            <a:br/>
            <a:r>
              <a:t>NON CLASSIFIÉ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F6F73"/>
                </a:solidFill>
                <a:latin typeface="Calibri"/>
              </a:defRPr>
            </a:pPr>
            <a:r>
              <a:t>AI adoption is accelerating faster than governance → we need a structured evaluation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697480" cy="3840480"/>
          </a:xfrm>
          <a:prstGeom prst="rect">
            <a:avLst/>
          </a:prstGeom>
          <a:solidFill>
            <a:srgbClr val="E3F2FD"/>
          </a:solidFill>
          <a:ln w="1905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Market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4231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Rapid LLM expansion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(Cohere, OpenAI, Gemini)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Multiple entry points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(CANChat, Copilot, etc.)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No standard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697480" cy="3840480"/>
          </a:xfrm>
          <a:prstGeom prst="rect">
            <a:avLst/>
          </a:prstGeom>
          <a:solidFill>
            <a:srgbClr val="F3E5F5"/>
          </a:solidFill>
          <a:ln w="1905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6459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HC/PHAC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4231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Growing use case inventory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AI Accelerator intake ↑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PATH / HAIL converging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Multiple clusters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Competing procurement paths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554480"/>
            <a:ext cx="2697480" cy="3840480"/>
          </a:xfrm>
          <a:prstGeom prst="rect">
            <a:avLst/>
          </a:prstGeom>
          <a:solidFill>
            <a:srgbClr val="FFF3E0"/>
          </a:solidFill>
          <a:ln w="1905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459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Key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011680"/>
            <a:ext cx="24231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Fragmented decisions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Shadow AI expansion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Inconsistent compliance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Cost unpredictability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Vendor lock-in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554480"/>
            <a:ext cx="2697480" cy="3840480"/>
          </a:xfrm>
          <a:prstGeom prst="rect">
            <a:avLst/>
          </a:prstGeom>
          <a:solidFill>
            <a:srgbClr val="E0F2F1"/>
          </a:solidFill>
          <a:ln w="1905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6459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Architectural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011680"/>
            <a:ext cx="24231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No enterprise control plane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Evaluation = vendor-driven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Governance too late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No policy enforcement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Missing traceability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32120"/>
            <a:ext cx="11457432" cy="777240"/>
          </a:xfrm>
          <a:prstGeom prst="rect">
            <a:avLst/>
          </a:prstGeom>
          <a:solidFill>
            <a:srgbClr val="CDE3E5"/>
          </a:solidFill>
          <a:ln w="2540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B2A4A"/>
                </a:solidFill>
                <a:latin typeface="Calibri"/>
              </a:defRPr>
            </a:pPr>
            <a:r>
              <a:t>👉  We are making decisions without a repeatable, enterprise-aligned evaluation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  <a:latin typeface="Calibri"/>
              </a:defRPr>
            </a:pPr>
            <a:r>
              <a:t>UNCLASSIFIED / NON CLASSIFIÉ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A4A"/>
                </a:solidFill>
                <a:latin typeface="Calibri"/>
              </a:defRPr>
            </a:pPr>
            <a:r>
              <a:t>LLM Evaluation Rubric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F6F73"/>
                </a:solidFill>
                <a:latin typeface="Calibri"/>
              </a:defRPr>
            </a:pPr>
            <a:r>
              <a:t>Enterprise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1B2A4A"/>
                </a:solidFill>
                <a:latin typeface="Calibri"/>
              </a:defRPr>
            </a:pPr>
            <a:r>
              <a:t>UNCLASSIFIED</a:t>
            </a:r>
            <a:br/>
            <a:r>
              <a:t>NON CLASSIFIÉ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F6F73"/>
                </a:solidFill>
                <a:latin typeface="Calibri"/>
              </a:defRPr>
            </a:pPr>
            <a:r>
              <a:t>Evaluation is architecture-first, not model-first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474720" cy="1691640"/>
          </a:xfrm>
          <a:prstGeom prst="rect">
            <a:avLst/>
          </a:prstGeom>
          <a:solidFill>
            <a:srgbClr val="E3F2FD"/>
          </a:solidFill>
          <a:ln w="1905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Strategy &amp;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AI Roadmap fit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PATH/HAIL compatibility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508760"/>
            <a:ext cx="3474720" cy="1691640"/>
          </a:xfrm>
          <a:prstGeom prst="rect">
            <a:avLst/>
          </a:prstGeom>
          <a:solidFill>
            <a:srgbClr val="F3E5F5"/>
          </a:solidFill>
          <a:ln w="1905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Data sovereignty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Compliance &amp; ATO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Auditability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3474720" cy="1691640"/>
          </a:xfrm>
          <a:prstGeom prst="rect">
            <a:avLst/>
          </a:prstGeom>
          <a:solidFill>
            <a:srgbClr val="FFF3E0"/>
          </a:solidFill>
          <a:ln w="1905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Security &amp;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Privacy controls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Threat surface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Policy enforcement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3474720" cy="1691640"/>
          </a:xfrm>
          <a:prstGeom prst="rect">
            <a:avLst/>
          </a:prstGeom>
          <a:solidFill>
            <a:srgbClr val="E0F2F1"/>
          </a:solidFill>
          <a:ln w="1905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Architecture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0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API integration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Runtime compatibility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Control plane alignment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383280"/>
            <a:ext cx="3474720" cy="1691640"/>
          </a:xfrm>
          <a:prstGeom prst="rect">
            <a:avLst/>
          </a:prstGeom>
          <a:solidFill>
            <a:srgbClr val="F1F8E9"/>
          </a:solidFill>
          <a:ln w="1905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840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Reasoning quality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Use case fit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Modality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383280"/>
            <a:ext cx="3474720" cy="1691640"/>
          </a:xfrm>
          <a:prstGeom prst="rect">
            <a:avLst/>
          </a:prstGeom>
          <a:solidFill>
            <a:srgbClr val="FCE4EC"/>
          </a:solidFill>
          <a:ln w="1905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Operations &amp;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840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FinOps transparency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Scaling model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222222"/>
                </a:solidFill>
                <a:latin typeface="Calibri"/>
              </a:defRPr>
            </a:pPr>
            <a:r>
              <a:t>Vendor viability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12080"/>
            <a:ext cx="11457432" cy="502920"/>
          </a:xfrm>
          <a:prstGeom prst="rect">
            <a:avLst/>
          </a:prstGeom>
          <a:solidFill>
            <a:srgbClr val="F5E6FF"/>
          </a:solidFill>
          <a:ln w="1905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285232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1">
                <a:solidFill>
                  <a:srgbClr val="1B2A4A"/>
                </a:solidFill>
                <a:latin typeface="Calibri"/>
              </a:defRPr>
            </a:pPr>
            <a:r>
              <a:t>Responsible AI  •  Bias mitigation  •  Human-in-the-loop  •  Explainability &amp; AIA-readiness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017520"/>
            <a:ext cx="39319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108960"/>
            <a:ext cx="35661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i="1" b="1">
                <a:solidFill>
                  <a:srgbClr val="1B2A4A"/>
                </a:solidFill>
                <a:latin typeface="Calibri"/>
              </a:defRPr>
            </a:pPr>
            <a:r>
              <a:t>"The best LLM is not the most capable — it is the one that can be governed, integrated, and scaled."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  <a:latin typeface="Calibri"/>
              </a:defRPr>
            </a:pPr>
            <a:r>
              <a:t>UNCLASSIFIED / NON CLASSIFIÉ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A4A"/>
                </a:solidFill>
                <a:latin typeface="Calibri"/>
              </a:defRPr>
            </a:pPr>
            <a:r>
              <a:t>From Evaluation → Decision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F6F73"/>
                </a:solidFill>
                <a:latin typeface="Calibri"/>
              </a:defRPr>
            </a:pPr>
            <a:r>
              <a:t>Governance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1B2A4A"/>
                </a:solidFill>
                <a:latin typeface="Calibri"/>
              </a:defRPr>
            </a:pPr>
            <a:r>
              <a:t>UNCLASSIFIED</a:t>
            </a:r>
            <a:br/>
            <a:r>
              <a:t>NON CLASSIFIÉ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F6F73"/>
                </a:solidFill>
                <a:latin typeface="Calibri"/>
              </a:defRPr>
            </a:pPr>
            <a:r>
              <a:t>The rubric is not theoretical — it feeds governance and platform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148840" cy="1920240"/>
          </a:xfrm>
          <a:prstGeom prst="rect">
            <a:avLst/>
          </a:prstGeom>
          <a:solidFill>
            <a:srgbClr val="CDE3E5"/>
          </a:solidFill>
          <a:ln w="2540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20040" cy="320040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2A4A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Vendor</a:t>
            </a:r>
          </a:p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Use case</a:t>
            </a:r>
          </a:p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Data 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554480"/>
            <a:ext cx="2148840" cy="1920240"/>
          </a:xfrm>
          <a:prstGeom prst="rect">
            <a:avLst/>
          </a:prstGeom>
          <a:solidFill>
            <a:srgbClr val="E8F5E9"/>
          </a:solidFill>
          <a:ln w="2540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0632" y="1645920"/>
            <a:ext cx="320040" cy="320040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164592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20574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2A4A"/>
                </a:solidFill>
                <a:latin typeface="Calibri"/>
              </a:defRPr>
            </a:pPr>
            <a:r>
              <a:t>Rubric</a:t>
            </a:r>
            <a:br/>
            <a:r>
              <a:t>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246888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Governance ↑</a:t>
            </a:r>
          </a:p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Arch fit ↑</a:t>
            </a:r>
          </a:p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2624" y="1554480"/>
            <a:ext cx="2148840" cy="1920240"/>
          </a:xfrm>
          <a:prstGeom prst="rect">
            <a:avLst/>
          </a:prstGeom>
          <a:solidFill>
            <a:srgbClr val="FFF9C4"/>
          </a:solidFill>
          <a:ln w="2540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645920"/>
            <a:ext cx="320040" cy="320040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164592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0574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2A4A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46888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Heatmap</a:t>
            </a:r>
          </a:p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Strengths/gaps</a:t>
            </a:r>
          </a:p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Risk 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6056" y="1554480"/>
            <a:ext cx="2148840" cy="1920240"/>
          </a:xfrm>
          <a:prstGeom prst="rect">
            <a:avLst/>
          </a:prstGeom>
          <a:solidFill>
            <a:srgbClr val="FFEBEE"/>
          </a:solidFill>
          <a:ln w="2540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97496" y="1645920"/>
            <a:ext cx="320040" cy="320040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7496" y="164592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7496" y="20574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2A4A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246888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Approve</a:t>
            </a:r>
            <a:br/>
            <a:r>
              <a:t>(conditions)</a:t>
            </a:r>
          </a:p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Restrict</a:t>
            </a:r>
          </a:p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Reject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9488" y="1554480"/>
            <a:ext cx="2148840" cy="1920240"/>
          </a:xfrm>
          <a:prstGeom prst="rect">
            <a:avLst/>
          </a:prstGeom>
          <a:solidFill>
            <a:srgbClr val="CDE3E5"/>
          </a:solidFill>
          <a:ln w="25400">
            <a:solidFill>
              <a:srgbClr val="5E9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10928" y="1645920"/>
            <a:ext cx="320040" cy="320040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0928" y="164592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20574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2A4A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246888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Use Case</a:t>
            </a:r>
            <a:br/>
            <a:r>
              <a:t>Inventory</a:t>
            </a:r>
          </a:p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Accelerator</a:t>
            </a:r>
          </a:p>
          <a:p>
            <a:pPr algn="ctr">
              <a:spcBef>
                <a:spcPts val="100"/>
              </a:spcBef>
              <a:defRPr sz="800">
                <a:solidFill>
                  <a:srgbClr val="222222"/>
                </a:solidFill>
                <a:latin typeface="Calibri"/>
              </a:defRPr>
            </a:pPr>
            <a:r>
              <a:t>ARB artifacts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61188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2A4A"/>
                </a:solidFill>
                <a:latin typeface="Calibri"/>
              </a:defRPr>
            </a:pPr>
            <a:r>
              <a:t>Strategic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886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  <a:r>
              <a:t>Standardizes AI decisions across HC/PHAC  •  Reduces SRTM duplication  •  Enables platform-based governance  •  Aligns with HC AI Strategy pillars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343400"/>
            <a:ext cx="11457432" cy="1463040"/>
          </a:xfrm>
          <a:prstGeom prst="rect">
            <a:avLst/>
          </a:prstGeom>
          <a:solidFill>
            <a:srgbClr val="F5F7F7"/>
          </a:solidFill>
          <a:ln w="2540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4348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F6F73"/>
                </a:solidFill>
                <a:latin typeface="Calibri"/>
              </a:defRPr>
            </a:pPr>
            <a:r>
              <a:t>PATH = control plane  •  HAIL = runtime  •  Rubric = decision enforcement mechanism</a:t>
            </a:r>
          </a:p>
          <a:p>
            <a:br/>
            <a:pPr>
              <a:spcBef>
                <a:spcPts val="800"/>
              </a:spcBef>
              <a:defRPr sz="1100" b="1">
                <a:solidFill>
                  <a:srgbClr val="1B2A4A"/>
                </a:solidFill>
                <a:latin typeface="Calibri"/>
              </a:defRPr>
            </a:pPr>
            <a:r>
              <a:t>👉  This is how we move from experimentation → enterprise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  <a:latin typeface="Calibri"/>
              </a:defRPr>
            </a:pPr>
            <a:r>
              <a:t>UNCLASSIFIED / NON CLASSIFIÉ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