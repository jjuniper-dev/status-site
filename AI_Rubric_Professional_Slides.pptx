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6"/>
  </p:sldMasterIdLst>
  <p:notesMasterIdLst>
    <p:notesMasterId r:id="rId45"/>
  </p:notesMasterIdLst>
  <p:handoutMasterIdLst>
    <p:handoutMasterId r:id="rId46"/>
  </p:handoutMasterIdLst>
  <p:sldIdLst>
    <p:sldId id="1323" r:id="rId7"/>
    <p:sldId id="1277" r:id="rId8"/>
    <p:sldId id="349" r:id="rId9"/>
    <p:sldId id="2146847258" r:id="rId10"/>
    <p:sldId id="2146847255" r:id="rId11"/>
    <p:sldId id="1265" r:id="rId12"/>
    <p:sldId id="1264" r:id="rId13"/>
    <p:sldId id="320" r:id="rId14"/>
    <p:sldId id="321" r:id="rId15"/>
    <p:sldId id="278" r:id="rId16"/>
    <p:sldId id="1272" r:id="rId17"/>
    <p:sldId id="2146847256" r:id="rId18"/>
    <p:sldId id="414" r:id="rId19"/>
    <p:sldId id="1327" r:id="rId20"/>
    <p:sldId id="1328" r:id="rId21"/>
    <p:sldId id="1261" r:id="rId22"/>
    <p:sldId id="1326" r:id="rId23"/>
    <p:sldId id="362" r:id="rId24"/>
    <p:sldId id="2147048680" r:id="rId25"/>
    <p:sldId id="330" r:id="rId26"/>
    <p:sldId id="376" r:id="rId27"/>
    <p:sldId id="351" r:id="rId28"/>
    <p:sldId id="1268" r:id="rId29"/>
    <p:sldId id="1313" r:id="rId30"/>
    <p:sldId id="1312" r:id="rId31"/>
    <p:sldId id="1311" r:id="rId32"/>
    <p:sldId id="1310" r:id="rId33"/>
    <p:sldId id="1309" r:id="rId34"/>
    <p:sldId id="1308" r:id="rId35"/>
    <p:sldId id="1307" r:id="rId36"/>
    <p:sldId id="1306" r:id="rId37"/>
    <p:sldId id="1305" r:id="rId38"/>
    <p:sldId id="1304" r:id="rId39"/>
    <p:sldId id="1315" r:id="rId40"/>
    <p:sldId id="1314" r:id="rId41"/>
    <p:sldId id="1318" r:id="rId42"/>
    <p:sldId id="1317" r:id="rId43"/>
    <p:sldId id="1316" r:id="rId44"/>
    <p:sldId id="2147048681" r:id="rId54"/>
    <p:sldId id="2147048682" r:id="rId55"/>
    <p:sldId id="2147048683" r:id="rId56"/>
  </p:sldIdLst>
  <p:sldSz cx="12192000" cy="6858000"/>
  <p:notesSz cx="7010400" cy="92964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ation - Remove these slides" id="{78BA01F3-F2EA-44DB-A8FF-07500EC45082}">
          <p14:sldIdLst>
            <p14:sldId id="1323"/>
            <p14:sldId id="1277"/>
            <p14:sldId id="349"/>
            <p14:sldId id="2146847258"/>
            <p14:sldId id="2146847255"/>
          </p14:sldIdLst>
        </p14:section>
        <p14:section name="Branch/Department Presentation" id="{7503B1D3-FA9D-4ED2-BA32-D5E3DEBA2B44}">
          <p14:sldIdLst>
            <p14:sldId id="1265"/>
            <p14:sldId id="1264"/>
            <p14:sldId id="320"/>
            <p14:sldId id="321"/>
            <p14:sldId id="278"/>
            <p14:sldId id="1272"/>
            <p14:sldId id="2146847256"/>
            <p14:sldId id="414"/>
            <p14:sldId id="1327"/>
            <p14:sldId id="1328"/>
            <p14:sldId id="1261"/>
            <p14:sldId id="1326"/>
            <p14:sldId id="362"/>
            <p14:sldId id="2147048680"/>
          </p14:sldIdLst>
        </p14:section>
        <p14:section name="EA Assessment" id="{EE08710B-688C-4619-8D6E-4DD82EB91BA1}">
          <p14:sldIdLst>
            <p14:sldId id="330"/>
            <p14:sldId id="376"/>
          </p14:sldIdLst>
        </p14:section>
        <p14:section name="Glossary" id="{96CCF9EB-CEF4-4178-B16A-6151E93D112C}">
          <p14:sldIdLst>
            <p14:sldId id="351"/>
          </p14:sldIdLst>
        </p14:section>
        <p14:section name="Appendix 1" id="{F9F67B2B-1A31-45C3-96E0-976AD74F0588}">
          <p14:sldIdLst>
            <p14:sldId id="1268"/>
            <p14:sldId id="1313"/>
            <p14:sldId id="1312"/>
            <p14:sldId id="1311"/>
            <p14:sldId id="1310"/>
            <p14:sldId id="1309"/>
            <p14:sldId id="1308"/>
            <p14:sldId id="1307"/>
            <p14:sldId id="1306"/>
            <p14:sldId id="1305"/>
            <p14:sldId id="1304"/>
          </p14:sldIdLst>
        </p14:section>
        <p14:section name="Appendix 2" id="{1F617FEF-DE75-4CF6-8A43-E42520C1B0EA}">
          <p14:sldIdLst>
            <p14:sldId id="1315"/>
            <p14:sldId id="1314"/>
          </p14:sldIdLst>
        </p14:section>
        <p14:section name="Appendix 3" id="{125232A1-5471-40C9-8865-E8344131709B}">
          <p14:sldIdLst>
            <p14:sldId id="1318"/>
            <p14:sldId id="1317"/>
            <p14:sldId id="1316"/>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300" userDrawn="1">
          <p15:clr>
            <a:srgbClr val="A4A3A4"/>
          </p15:clr>
        </p15:guide>
        <p15:guide id="4" orient="horz" pos="572" userDrawn="1">
          <p15:clr>
            <a:srgbClr val="A4A3A4"/>
          </p15:clr>
        </p15:guide>
        <p15:guide id="5" pos="3840" userDrawn="1">
          <p15:clr>
            <a:srgbClr val="A4A3A4"/>
          </p15:clr>
        </p15:guide>
        <p15:guide id="6" pos="66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4B9"/>
    <a:srgbClr val="004D71"/>
    <a:srgbClr val="800000"/>
    <a:srgbClr val="6600CC"/>
    <a:srgbClr val="000099"/>
    <a:srgbClr val="E7E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orient="horz" pos="482"/>
        <p:guide orient="horz" pos="300"/>
        <p:guide orient="horz" pos="572"/>
        <p:guide pos="3840"/>
        <p:guide pos="665"/>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47" Type="http://schemas.openxmlformats.org/officeDocument/2006/relationships/tags" Target="tags/tag1.xml"/><Relationship Id="rId48" Type="http://schemas.openxmlformats.org/officeDocument/2006/relationships/commentAuthors" Target="commentAuthors.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53" Type="http://schemas.microsoft.com/office/2018/10/relationships/authors" Target="authors.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8C125156-8CB5-4F94-B1DD-9DEF660CA43A}" type="datetimeFigureOut">
              <a:rPr lang="en-CA" smtClean="0"/>
              <a:t>2025-08-12</a:t>
            </a:fld>
            <a:endParaRPr lang="en-CA"/>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6C297B32-12A3-46AB-84D3-B62C0D6D9FAB}" type="slidenum">
              <a:rPr lang="en-CA" smtClean="0"/>
              <a:t>‹#›</a:t>
            </a:fld>
            <a:endParaRPr lang="en-CA"/>
          </a:p>
        </p:txBody>
      </p:sp>
    </p:spTree>
    <p:extLst>
      <p:ext uri="{BB962C8B-B14F-4D97-AF65-F5344CB8AC3E}">
        <p14:creationId xmlns:p14="http://schemas.microsoft.com/office/powerpoint/2010/main" val="1193717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CA"/>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45BE00D6-E049-4381-83C8-29CB14B5448F}" type="datetimeFigureOut">
              <a:rPr lang="en-CA" smtClean="0"/>
              <a:t>2025-08-12</a:t>
            </a:fld>
            <a:endParaRPr lang="en-CA"/>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CA"/>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CA"/>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3A5D88-BC26-4EFA-A680-927F6A4ACCF4}" type="slidenum">
              <a:rPr lang="en-CA" smtClean="0"/>
              <a:t>‹#›</a:t>
            </a:fld>
            <a:endParaRPr lang="en-CA"/>
          </a:p>
        </p:txBody>
      </p:sp>
    </p:spTree>
    <p:extLst>
      <p:ext uri="{BB962C8B-B14F-4D97-AF65-F5344CB8AC3E}">
        <p14:creationId xmlns:p14="http://schemas.microsoft.com/office/powerpoint/2010/main" val="2744622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can01.safelinks.protection.outlook.com/?url=https%3A%2F%2Fwww.canada.ca%2Fen%2Fgovernment%2Fsystem%2Fdigital-government%2Fpolicies-standards%2Fgovernment-canada-enterprise-architecture-framework.html&amp;data=05%7C01%7Civana.macmillan%40hc-sc.gc.ca%7Cca55d4ecf414415907f008dbed2890ca%7C42fd9015de4d4223a368baeacab48927%7C0%7C0%7C638364531077165670%7CUnknown%7CTWFpbGZsb3d8eyJWIjoiMC4wLjAwMDAiLCJQIjoiV2luMzIiLCJBTiI6Ik1haWwiLCJXVCI6Mn0%3D%7C3000%7C%7C%7C&amp;sdata=8AshUuRWP5Ul6CH7B96YDPHoqxCE458SJ1ZtYJp%2BHdI%3D&amp;reserved=0" TargetMode="External"/><Relationship Id="rId4" Type="http://schemas.openxmlformats.org/officeDocument/2006/relationships/hyperlink" Target="https://can01.safelinks.protection.outlook.com/?url=https%3A%2F%2Fwww.tbs-sct.canada.ca%2Fpol%2Fdoc-eng.aspx%3Fid%3D32603&amp;data=05%7C01%7Civana.macmillan%40hc-sc.gc.ca%7Cca55d4ecf414415907f008dbed2890ca%7C42fd9015de4d4223a368baeacab48927%7C0%7C0%7C638364531077165670%7CUnknown%7CTWFpbGZsb3d8eyJWIjoiMC4wLjAwMDAiLCJQIjoiV2luMzIiLCJBTiI6Ik1haWwiLCJXVCI6Mn0%3D%7C3000%7C%7C%7C&amp;sdata=T34HtogRFLH8fcX4fp9aX6ju%2BfXjbxgV5NZGIIDu6nQ%3D&amp;reserved=0" TargetMode="External"/><Relationship Id="rId5" Type="http://schemas.openxmlformats.org/officeDocument/2006/relationships/hyperlink" Target="https://can01.safelinks.protection.outlook.com/?url=https%3A%2F%2Fwww.tbs-sct.canada.ca%2Fpol%2Fdoc-eng.aspx%3Fid%3D32601&amp;data=05%7C01%7Civana.macmillan%40hc-sc.gc.ca%7Cca55d4ecf414415907f008dbed2890ca%7C42fd9015de4d4223a368baeacab48927%7C0%7C0%7C638364531077165670%7CUnknown%7CTWFpbGZsb3d8eyJWIjoiMC4wLjAwMDAiLCJQIjoiV2luMzIiLCJBTiI6Ik1haWwiLCJXVCI6Mn0%3D%7C3000%7C%7C%7C&amp;sdata=y1v%2BRNlZQ9mDXO71MEf2UzLrLHZnRh9RcdMEZneYZBA%3D&amp;reserved=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022gc-my.sharepoint.com/:p:/r/personal/ivana_macmillan_hc-sc_gc_ca/Documents/Documents/Digital%20Strategy/Digital%20Strategy%20version%2011.5%20DTPO%20all%20staff.pptx?d=wc6ae5fca7d70421b8e3d7381408e7452&amp;csf=1&amp;web=1&amp;e=JDn1SP"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mailto:web.standards-normes.web@hc-sc.gc.ca" TargetMode="External"/><Relationship Id="rId4" Type="http://schemas.openxmlformats.org/officeDocument/2006/relationships/hyperlink" Target="mailto:azureoperations-operationsazure@hc-sc.gc.ca" TargetMode="External"/><Relationship Id="rId5" Type="http://schemas.openxmlformats.org/officeDocument/2006/relationships/hyperlink" Target="mailto:devops@hc-sc.gc.ca" TargetMode="External"/><Relationship Id="rId6" Type="http://schemas.openxmlformats.org/officeDocument/2006/relationships/hyperlink" Target="mailto:TechnicalDebt.Dettetechnique@hc-sc.gc.ca" TargetMode="External"/><Relationship Id="rId7" Type="http://schemas.openxmlformats.org/officeDocument/2006/relationships/hyperlink" Target="mailto:hc-phac.arb.cea.sc-aspc@hc-sc.gc.ca" TargetMode="External"/><Relationship Id="rId8" Type="http://schemas.openxmlformats.org/officeDocument/2006/relationships/hyperlink" Target="mailto:ocdo-bdpd@hc-sc.gc.ca" TargetMode="External"/><Relationship Id="rId9" Type="http://schemas.openxmlformats.org/officeDocument/2006/relationships/hyperlink" Target="mailto:datascience-sciencededonnees@phac-aspc.gc.ca" TargetMode="External"/><Relationship Id="rId10" Type="http://schemas.openxmlformats.org/officeDocument/2006/relationships/hyperlink" Target="mailto:im.tools-outils.gi@hc-sc.gc.ca" TargetMode="External"/><Relationship Id="rId11" Type="http://schemas.openxmlformats.org/officeDocument/2006/relationships/hyperlink" Target="mailto:itsecurity-tisecurite@hc-sc.gc.ca" TargetMode="External"/><Relationship Id="rId12" Type="http://schemas.openxmlformats.org/officeDocument/2006/relationships/hyperlink" Target="mailto:m365-m365@hc-sc.gc.ca" TargetMode="External"/><Relationship Id="rId13" Type="http://schemas.openxmlformats.org/officeDocument/2006/relationships/hyperlink" Target="mailto:apm.core-noyau.de.la.gpa@hc-sc.gc.ca" TargetMode="External"/><Relationship Id="rId14" Type="http://schemas.openxmlformats.org/officeDocument/2006/relationships/hyperlink" Target="https://jill.hc-sc.gc.ca/confluence/pages/viewpage.action?pageId=12091559" TargetMode="External"/><Relationship Id="rId15" Type="http://schemas.openxmlformats.org/officeDocument/2006/relationships/hyperlink" Target="mailto:ssm-gsp@hc-sc.gc.ca" TargetMode="External"/><Relationship Id="rId16" Type="http://schemas.openxmlformats.org/officeDocument/2006/relationships/hyperlink" Target="mailto:tpo-bpt@hc-sc.gc.ca"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can01.safelinks.protection.outlook.com/?url=https%3A%2F%2Fmysource.hc-sc.gc.ca%2Fsites%2Fdefault%2Ffiles%2F2024-06%2FIM%2520Standard%2520-%2520SACR%2520Rules.pdf&amp;data=05%7C02%7CHC-PHAC.ARB.CEA.SC-ASPC%40hc-sc.gc.ca%7C65cb7de087584aef424f08ddba2595df%7C42fd9015de4d4223a368baeacab48927%7C0%7C0%7C638871392761945000%7CUnknown%7CTWFpbGZsb3d8eyJFbXB0eU1hcGkiOnRydWUsIlYiOiIwLjAuMDAwMCIsIlAiOiJXaW4zMiIsIkFOIjoiTWFpbCIsIldUIjoyfQ%3D%3D%7C0%7C%7C%7C&amp;sdata=WOTmRsxvq1SbXdOhdMkZOUBFlkUELj1JD0OMpP5n6YI%3D&amp;reserved=0"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CA"/>
          </a:p>
        </p:txBody>
      </p:sp>
      <p:sp>
        <p:nvSpPr>
          <p:cNvPr id="4" name="Slide Number Placeholder 3"/>
          <p:cNvSpPr>
            <a:spLocks noGrp="1"/>
          </p:cNvSpPr>
          <p:nvPr>
            <p:ph type="sldNum" sz="quarter" idx="10"/>
          </p:nvPr>
        </p:nvSpPr>
        <p:spPr/>
        <p:txBody>
          <a:bodyPr/>
          <a:lstStyle/>
          <a:p>
            <a:fld id="{EB3A5D88-BC26-4EFA-A680-927F6A4ACCF4}" type="slidenum">
              <a:rPr lang="en-CA" smtClean="0"/>
              <a:t>1</a:t>
            </a:fld>
            <a:endParaRPr lang="en-CA"/>
          </a:p>
        </p:txBody>
      </p:sp>
    </p:spTree>
    <p:extLst>
      <p:ext uri="{BB962C8B-B14F-4D97-AF65-F5344CB8AC3E}">
        <p14:creationId xmlns:p14="http://schemas.microsoft.com/office/powerpoint/2010/main" val="2280967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rtl="0" eaLnBrk="1" fontAlgn="b" latinLnBrk="0" hangingPunct="1">
              <a:spcBef>
                <a:spcPts val="0"/>
              </a:spcBef>
              <a:spcAft>
                <a:spcPts val="0"/>
              </a:spcAft>
            </a:pPr>
            <a:r>
              <a:rPr lang="en-CA" sz="1800" b="0" i="0" u="none" strike="noStrike" kern="1200">
                <a:solidFill>
                  <a:srgbClr val="000000"/>
                </a:solidFill>
                <a:effectLst/>
                <a:latin typeface="Calibri"/>
                <a:cs typeface="Calibri"/>
              </a:rPr>
              <a:t>Initial Draft Review with lead architect</a:t>
            </a:r>
            <a:endParaRPr lang="en-CA" sz="1800" b="0" i="0" u="none" strike="noStrike">
              <a:effectLst/>
              <a:latin typeface="Calibri"/>
              <a:cs typeface="Calibri"/>
            </a:endParaRPr>
          </a:p>
          <a:p>
            <a:pPr marL="0" algn="l" rtl="0" eaLnBrk="1" fontAlgn="b" latinLnBrk="0" hangingPunct="1">
              <a:spcBef>
                <a:spcPts val="0"/>
              </a:spcBef>
              <a:spcAft>
                <a:spcPts val="0"/>
              </a:spcAft>
            </a:pPr>
            <a:r>
              <a:rPr lang="en-CA" sz="1800" b="0" i="0" u="none" strike="noStrike" kern="1200">
                <a:solidFill>
                  <a:srgbClr val="000000"/>
                </a:solidFill>
                <a:effectLst/>
                <a:latin typeface="Calibri"/>
                <a:cs typeface="Calibri"/>
              </a:rPr>
              <a:t>Second Draft Review with EA team</a:t>
            </a:r>
            <a:endParaRPr lang="en-CA" sz="1800" b="0" i="0" u="none" strike="noStrike">
              <a:effectLst/>
              <a:latin typeface="Calibri"/>
              <a:cs typeface="Calibri"/>
            </a:endParaRPr>
          </a:p>
          <a:p>
            <a:pPr marL="0" algn="l" rtl="0" eaLnBrk="1" fontAlgn="b" latinLnBrk="0" hangingPunct="1">
              <a:spcBef>
                <a:spcPts val="0"/>
              </a:spcBef>
              <a:spcAft>
                <a:spcPts val="0"/>
              </a:spcAft>
            </a:pPr>
            <a:r>
              <a:rPr lang="en-CA" sz="1800" b="0" i="0" u="none" strike="noStrike" kern="1200">
                <a:solidFill>
                  <a:srgbClr val="000000"/>
                </a:solidFill>
                <a:effectLst/>
                <a:latin typeface="Calibri"/>
                <a:cs typeface="Calibri"/>
              </a:rPr>
              <a:t>Final review with EA and other teams as needed.</a:t>
            </a:r>
            <a:endParaRPr lang="en-CA" sz="1800" b="0" i="0" u="none" strike="noStrike">
              <a:effectLst/>
              <a:latin typeface="Calibri"/>
              <a:cs typeface="Calibri"/>
            </a:endParaRPr>
          </a:p>
          <a:p>
            <a:r>
              <a:rPr lang="en-CA" sz="1800">
                <a:cs typeface="Calibri"/>
              </a:rPr>
              <a:t>----</a:t>
            </a:r>
          </a:p>
          <a:p>
            <a:r>
              <a:rPr lang="en-CA" sz="1800">
                <a:cs typeface="Calibri"/>
              </a:rPr>
              <a:t>Why Gate 0?  </a:t>
            </a:r>
          </a:p>
          <a:p>
            <a:r>
              <a:rPr lang="en-CA"/>
              <a:t>Gate 0 architecture governance is required for projects to be aligned to the HC/PHAC architecture and the </a:t>
            </a:r>
            <a:r>
              <a:rPr lang="en-CA">
                <a:hlinkClick r:id="rId3"/>
              </a:rPr>
              <a:t>GC Enterprise Architecture Framework</a:t>
            </a:r>
            <a:r>
              <a:rPr lang="en-CA"/>
              <a:t> </a:t>
            </a:r>
            <a:r>
              <a:rPr lang="en-CA" i="1"/>
              <a:t>with the focus being on Business and Information Architecture</a:t>
            </a:r>
            <a:r>
              <a:rPr lang="en-CA"/>
              <a:t>. The GC Enterprise Architecture Framework is the criteria used by the Government of Canada and enterprise/departmental architecture review boards when reviewing digital initiatives to ensure their alignment with enterprise architectures across business, information, application, technology and security domains to support strategic outcomes. The Enterprise Architecture Framework provides details on the requirements set out in the </a:t>
            </a:r>
            <a:r>
              <a:rPr lang="en-CA">
                <a:hlinkClick r:id="rId4"/>
              </a:rPr>
              <a:t>Policy</a:t>
            </a:r>
            <a:r>
              <a:rPr lang="en-CA"/>
              <a:t> and </a:t>
            </a:r>
            <a:r>
              <a:rPr lang="en-CA">
                <a:hlinkClick r:id="rId5"/>
              </a:rPr>
              <a:t>Directive</a:t>
            </a:r>
            <a:r>
              <a:rPr lang="en-CA"/>
              <a:t> on Service and Digital where the Chief Information Officer (CIO) is responsible for </a:t>
            </a:r>
            <a:r>
              <a:rPr lang="en-CA" i="1"/>
              <a:t>prescribing expectations with regard to enterprise architecture</a:t>
            </a:r>
            <a:r>
              <a:rPr lang="en-CA"/>
              <a:t>.</a:t>
            </a:r>
            <a:endParaRPr lang="en-CA" sz="1800">
              <a:cs typeface="Calibri"/>
            </a:endParaRPr>
          </a:p>
          <a:p>
            <a:endParaRPr lang="en-CA" sz="1800">
              <a:cs typeface="Calibri"/>
            </a:endParaRPr>
          </a:p>
          <a:p>
            <a:endParaRPr lang="en-CA">
              <a:cs typeface="Calibri"/>
            </a:endParaRPr>
          </a:p>
        </p:txBody>
      </p:sp>
      <p:sp>
        <p:nvSpPr>
          <p:cNvPr id="4" name="Slide Number Placeholder 3"/>
          <p:cNvSpPr>
            <a:spLocks noGrp="1"/>
          </p:cNvSpPr>
          <p:nvPr>
            <p:ph type="sldNum" sz="quarter" idx="5"/>
          </p:nvPr>
        </p:nvSpPr>
        <p:spPr/>
        <p:txBody>
          <a:bodyPr/>
          <a:lstStyle/>
          <a:p>
            <a:fld id="{9C5D5ABD-49B2-4E60-9400-23D702987D00}" type="slidenum">
              <a:rPr lang="en-CA" smtClean="0"/>
              <a:t>2</a:t>
            </a:fld>
            <a:endParaRPr lang="en-CA"/>
          </a:p>
        </p:txBody>
      </p:sp>
    </p:spTree>
    <p:extLst>
      <p:ext uri="{BB962C8B-B14F-4D97-AF65-F5344CB8AC3E}">
        <p14:creationId xmlns:p14="http://schemas.microsoft.com/office/powerpoint/2010/main" val="1816744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408"/>
              </a:spcAft>
            </a:pPr>
            <a:r>
              <a:rPr lang="en-CA">
                <a:solidFill>
                  <a:schemeClr val="tx1">
                    <a:lumMod val="65000"/>
                    <a:lumOff val="35000"/>
                  </a:schemeClr>
                </a:solidFill>
                <a:ea typeface="Calibri" panose="020F0502020204030204" pitchFamily="34" charset="0"/>
                <a:cs typeface="Calibri Light" panose="020F0302020204030204" pitchFamily="34" charset="0"/>
              </a:rPr>
              <a:t>Published on Canada.ca</a:t>
            </a:r>
          </a:p>
          <a:p>
            <a:pPr>
              <a:spcAft>
                <a:spcPts val="408"/>
              </a:spcAft>
            </a:pPr>
            <a:r>
              <a:rPr lang="en-CA">
                <a:solidFill>
                  <a:schemeClr val="tx1">
                    <a:lumMod val="65000"/>
                    <a:lumOff val="35000"/>
                  </a:schemeClr>
                </a:solidFill>
                <a:ea typeface="Calibri" panose="020F0502020204030204" pitchFamily="34" charset="0"/>
                <a:cs typeface="Calibri Light" panose="020F0302020204030204" pitchFamily="34" charset="0"/>
              </a:rPr>
              <a:t>This is the target that initiatives are reviewed against</a:t>
            </a:r>
          </a:p>
          <a:p>
            <a:pPr>
              <a:spcAft>
                <a:spcPts val="408"/>
              </a:spcAft>
            </a:pPr>
            <a:r>
              <a:rPr lang="en-CA">
                <a:solidFill>
                  <a:schemeClr val="tx1">
                    <a:lumMod val="65000"/>
                    <a:lumOff val="35000"/>
                  </a:schemeClr>
                </a:solidFill>
                <a:ea typeface="Calibri" panose="020F0502020204030204" pitchFamily="34" charset="0"/>
                <a:cs typeface="Calibri Light" panose="020F0302020204030204" pitchFamily="34" charset="0"/>
              </a:rPr>
              <a:t>Key part of the GC EARB presentation template and EA summary slide.</a:t>
            </a:r>
          </a:p>
          <a:p>
            <a:pPr>
              <a:spcAft>
                <a:spcPts val="408"/>
              </a:spcAft>
            </a:pPr>
            <a:r>
              <a:rPr lang="en-CA">
                <a:solidFill>
                  <a:schemeClr val="tx1">
                    <a:lumMod val="65000"/>
                    <a:lumOff val="35000"/>
                  </a:schemeClr>
                </a:solidFill>
                <a:ea typeface="Calibri" panose="020F0502020204030204" pitchFamily="34" charset="0"/>
                <a:cs typeface="Calibri Light" panose="020F0302020204030204" pitchFamily="34" charset="0"/>
              </a:rPr>
              <a:t>Departments must demonstrated how they are achieving targets across all five layers.</a:t>
            </a:r>
          </a:p>
          <a:p>
            <a:endParaRPr lang="en-CA"/>
          </a:p>
        </p:txBody>
      </p:sp>
      <p:sp>
        <p:nvSpPr>
          <p:cNvPr id="4" name="Slide Number Placeholder 3"/>
          <p:cNvSpPr>
            <a:spLocks noGrp="1"/>
          </p:cNvSpPr>
          <p:nvPr>
            <p:ph type="sldNum" sz="quarter" idx="5"/>
          </p:nvPr>
        </p:nvSpPr>
        <p:spPr/>
        <p:txBody>
          <a:bodyPr/>
          <a:lstStyle/>
          <a:p>
            <a:fld id="{EB3A5D88-BC26-4EFA-A680-927F6A4ACCF4}" type="slidenum">
              <a:rPr lang="en-CA" smtClean="0"/>
              <a:t>3</a:t>
            </a:fld>
            <a:endParaRPr lang="en-CA"/>
          </a:p>
        </p:txBody>
      </p:sp>
    </p:spTree>
    <p:extLst>
      <p:ext uri="{BB962C8B-B14F-4D97-AF65-F5344CB8AC3E}">
        <p14:creationId xmlns:p14="http://schemas.microsoft.com/office/powerpoint/2010/main" val="1394112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EB3A5D88-BC26-4EFA-A680-927F6A4ACCF4}" type="slidenum">
              <a:rPr lang="en-CA" smtClean="0"/>
              <a:t>4</a:t>
            </a:fld>
            <a:endParaRPr lang="en-CA"/>
          </a:p>
        </p:txBody>
      </p:sp>
    </p:spTree>
    <p:extLst>
      <p:ext uri="{BB962C8B-B14F-4D97-AF65-F5344CB8AC3E}">
        <p14:creationId xmlns:p14="http://schemas.microsoft.com/office/powerpoint/2010/main" val="3192256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CA"/>
              <a:t>* Business and Information only</a:t>
            </a:r>
          </a:p>
          <a:p>
            <a:pPr marL="0" indent="0">
              <a:buFont typeface="Arial" panose="020B0604020202020204" pitchFamily="34" charset="0"/>
              <a:buNone/>
            </a:pPr>
            <a:r>
              <a:rPr lang="en-CA"/>
              <a:t>** Conceptual only</a:t>
            </a:r>
          </a:p>
          <a:p>
            <a:pPr marL="171450" indent="-171450">
              <a:buFont typeface="Arial" panose="020B0604020202020204" pitchFamily="34" charset="0"/>
              <a:buChar char="•"/>
            </a:pPr>
            <a:endParaRPr lang="en-CA"/>
          </a:p>
          <a:p>
            <a:pPr marL="0" indent="0">
              <a:buFont typeface="Arial" panose="020B0604020202020204" pitchFamily="34" charset="0"/>
              <a:buNone/>
            </a:pPr>
            <a:r>
              <a:rPr lang="en-CA"/>
              <a:t>Y – Slide must be included in presentation</a:t>
            </a:r>
          </a:p>
        </p:txBody>
      </p:sp>
      <p:sp>
        <p:nvSpPr>
          <p:cNvPr id="4" name="Slide Number Placeholder 3"/>
          <p:cNvSpPr>
            <a:spLocks noGrp="1"/>
          </p:cNvSpPr>
          <p:nvPr>
            <p:ph type="sldNum" sz="quarter" idx="5"/>
          </p:nvPr>
        </p:nvSpPr>
        <p:spPr/>
        <p:txBody>
          <a:bodyPr/>
          <a:lstStyle/>
          <a:p>
            <a:fld id="{EB3A5D88-BC26-4EFA-A680-927F6A4ACCF4}" type="slidenum">
              <a:rPr lang="en-CA" smtClean="0"/>
              <a:t>5</a:t>
            </a:fld>
            <a:endParaRPr lang="en-CA"/>
          </a:p>
        </p:txBody>
      </p:sp>
    </p:spTree>
    <p:extLst>
      <p:ext uri="{BB962C8B-B14F-4D97-AF65-F5344CB8AC3E}">
        <p14:creationId xmlns:p14="http://schemas.microsoft.com/office/powerpoint/2010/main" val="2591614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b="0" u="none"/>
              <a:t>This slide should be included for ARB, DASH, and GC EARB.</a:t>
            </a:r>
            <a:endParaRPr lang="en-US">
              <a:cs typeface="Calibri"/>
            </a:endParaRPr>
          </a:p>
          <a:p>
            <a:r>
              <a:rPr lang="en-US" b="0" u="none"/>
              <a:t>This slide should be completed by the program lead / project manager. </a:t>
            </a:r>
          </a:p>
          <a:p>
            <a:endParaRPr lang="en-US" b="1" u="sng"/>
          </a:p>
          <a:p>
            <a:r>
              <a:rPr lang="en-US" b="1" u="sng"/>
              <a:t>Slide Instructions:</a:t>
            </a:r>
          </a:p>
          <a:p>
            <a:pPr marL="171450" indent="-171450">
              <a:buFont typeface="Arial" panose="020B0604020202020204" pitchFamily="34" charset="0"/>
              <a:buChar char="•"/>
            </a:pPr>
            <a:r>
              <a:rPr lang="en-US"/>
              <a:t>On this slide and the others, template instructions are provided in the Notes pane.  These can be deleted once the template is completed by the department or replaced by notes specific to the initiative as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Title should list only the architecture governance table (ARB, DASH, or GC EARB) you are currently visiting. </a:t>
            </a:r>
          </a:p>
          <a:p>
            <a:pPr marL="171450" indent="-171450">
              <a:buFont typeface="Arial" panose="020B0604020202020204" pitchFamily="34" charset="0"/>
              <a:buChar char="•"/>
            </a:pPr>
            <a:r>
              <a:rPr lang="en-US"/>
              <a:t>In the title, replace the word “Department” with the name of the presenting department or agency.</a:t>
            </a:r>
          </a:p>
          <a:p>
            <a:pPr marL="171450" indent="-171450">
              <a:buFont typeface="Arial" panose="020B0604020202020204" pitchFamily="34" charset="0"/>
              <a:buChar char="•"/>
            </a:pPr>
            <a:r>
              <a:rPr lang="en-US"/>
              <a:t>Replace the text “Initiative Name” with the official name of the digital initiative/project whose architecture is the subject of the presentation.  The corresponding acronym may also be included.</a:t>
            </a:r>
          </a:p>
          <a:p>
            <a:pPr marL="171450" indent="-171450">
              <a:buFont typeface="Arial" panose="020B0604020202020204" pitchFamily="34" charset="0"/>
              <a:buChar char="•"/>
            </a:pPr>
            <a:r>
              <a:rPr lang="en-US"/>
              <a:t>Replace “Date” with the date of the architecture governance session at which this item is scheduled to be presented, as provided by the GC Enterprise Architecture team.</a:t>
            </a:r>
          </a:p>
          <a:p>
            <a:pPr marL="171450" indent="-171450">
              <a:buFont typeface="Arial" panose="020B0604020202020204" pitchFamily="34" charset="0"/>
              <a:buChar char="•"/>
            </a:pPr>
            <a:r>
              <a:rPr lang="en-US"/>
              <a:t>In the “Presenter” box at the bottom, provide the name of the Program Sponsor, followed by their Email address, and name and Email of the architect on the following line.  Add extra lines and identifying information for any other presenters.</a:t>
            </a: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6</a:t>
            </a:fld>
            <a:endParaRPr lang="en-CA"/>
          </a:p>
        </p:txBody>
      </p:sp>
    </p:spTree>
    <p:extLst>
      <p:ext uri="{BB962C8B-B14F-4D97-AF65-F5344CB8AC3E}">
        <p14:creationId xmlns:p14="http://schemas.microsoft.com/office/powerpoint/2010/main" val="1448890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u="none"/>
              <a:t>This slide should be included for ARB, DASH, and GC EARB.</a:t>
            </a:r>
          </a:p>
          <a:p>
            <a:r>
              <a:rPr lang="en-US" b="0" u="none"/>
              <a:t>This slide should be completed by the Program Lead / Project Manager. </a:t>
            </a:r>
          </a:p>
          <a:p>
            <a:endParaRPr lang="en-US" b="1" u="sng"/>
          </a:p>
          <a:p>
            <a:endParaRPr lang="en-US" b="1" u="sng"/>
          </a:p>
          <a:p>
            <a:r>
              <a:rPr lang="en-US" b="1" u="sng"/>
              <a:t>Slide Instructions:</a:t>
            </a:r>
          </a:p>
          <a:p>
            <a:pPr marL="171450" indent="-171450">
              <a:buFont typeface="Arial" panose="020B0604020202020204" pitchFamily="34" charset="0"/>
              <a:buChar char="•"/>
            </a:pPr>
            <a:r>
              <a:rPr lang="en-US"/>
              <a:t>This is a boilerplate slide intended to be tweaked to fit the table you are currently visiting, and the type of endorsement you are requesting.</a:t>
            </a:r>
          </a:p>
          <a:p>
            <a:pPr marL="171450" indent="-171450">
              <a:buFont typeface="Arial" panose="020B0604020202020204" pitchFamily="34" charset="0"/>
              <a:buChar char="•"/>
            </a:pPr>
            <a:r>
              <a:rPr lang="en-US"/>
              <a:t>The title of this slide should be adjusted to reflect that table you are currently visiting ARB, DASH, or GC EARB.</a:t>
            </a:r>
          </a:p>
          <a:p>
            <a:pPr marL="171450" indent="-171450">
              <a:buFont typeface="Arial" panose="020B0604020202020204" pitchFamily="34" charset="0"/>
              <a:buChar char="•"/>
            </a:pPr>
            <a:r>
              <a:rPr lang="en-US"/>
              <a:t>This slide contains two text boxes, one above the other.</a:t>
            </a:r>
          </a:p>
          <a:p>
            <a:pPr marL="171450" indent="-171450">
              <a:buFont typeface="Arial" panose="020B0604020202020204" pitchFamily="34" charset="0"/>
              <a:buChar char="•"/>
            </a:pPr>
            <a:r>
              <a:rPr lang="en-US"/>
              <a:t>The text box at the top of this slide contains a generic boilerplate purpose statement that includes several parts in parenthesis that are intended to be adjusted by the department to fit the circumstances of their presentation.  </a:t>
            </a:r>
          </a:p>
          <a:p>
            <a:pPr marL="628650" lvl="1" indent="-171450">
              <a:buFont typeface="Arial" panose="020B0604020202020204" pitchFamily="34" charset="0"/>
              <a:buChar char="•"/>
            </a:pPr>
            <a:r>
              <a:rPr lang="en-US" sz="1100"/>
              <a:t>The first parentheses contain three options – “initial” or “follow-up” or “final.”  Keep the term that fits and delete the others and the parentheses.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Similarly, the second parentheses also contain three options – “conceptual” or “interim” or “target.”  Keep the term that fits and delete the others and the parentheses.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The other sets of parentheses are for the department name and digital initiative name, usually the same what appears on the title slide.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 presenting department has the discretion to adjust the wording of this purpose statement.  However, note that it is intended to anticipate the decision statement that will appear in the Record of Discussions for the meeting, and as such it should represent the scope of the initiative as accurately as possible.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There is another optional line at the bottom of the top text box with which the department may indicate if the proposal is in support of an upcoming TB submission, and the date if known, as this may be a dependency on the scheduling.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 text box at the bottom is optional to be used for items flagged as “follow-up.”  There is a line for the date of previous architecture governance presentations, and another to spell out the conditions that were applied in the Record of Discussions for that past session. If it is not a follow-up item, this text box should be deleted.</a:t>
            </a:r>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7</a:t>
            </a:fld>
            <a:endParaRPr lang="en-CA"/>
          </a:p>
        </p:txBody>
      </p:sp>
    </p:spTree>
    <p:extLst>
      <p:ext uri="{BB962C8B-B14F-4D97-AF65-F5344CB8AC3E}">
        <p14:creationId xmlns:p14="http://schemas.microsoft.com/office/powerpoint/2010/main" val="2166760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ARB, DASH, and GC EARB.</a:t>
            </a:r>
          </a:p>
          <a:p>
            <a:r>
              <a:rPr lang="en-US" sz="1100" b="0" u="none"/>
              <a:t>This slide should be completed by the Program Lead / Project Manager. </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content for this slide may be quite broad, the presentation should focus on information most directly related to the proposed initiative and target architecture.</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If necessary extra slides may be used, but brevity is preferable due to the limited time available for each presentation during the architecture governance meetings. </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More detailed background information can also be added in the annexes where relevant.</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If a concept case has not been completed, refer to </a:t>
            </a:r>
            <a:r>
              <a:rPr lang="en-US" sz="1100" i="1">
                <a:effectLst/>
                <a:latin typeface="Calibri" panose="020F0502020204030204" pitchFamily="34" charset="0"/>
                <a:ea typeface="Calibri" panose="020F0502020204030204" pitchFamily="34" charset="0"/>
                <a:cs typeface="Times New Roman" panose="02020603050405020304" pitchFamily="18" charset="0"/>
              </a:rPr>
              <a:t>Appendix B: Mandatory Procedures for Concept Cases for Digitally Enabled Projects (Policy on the Planning and Management of Investments)</a:t>
            </a:r>
            <a:r>
              <a:rPr lang="en-US" sz="1100">
                <a:effectLst/>
                <a:latin typeface="Calibri" panose="020F0502020204030204" pitchFamily="34" charset="0"/>
                <a:ea typeface="Calibri" panose="020F0502020204030204" pitchFamily="34" charset="0"/>
                <a:cs typeface="Times New Roman" panose="02020603050405020304" pitchFamily="18" charset="0"/>
              </a:rPr>
              <a:t> for the related procedures and template at the following website: </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https://www.tbs-sct.canada.ca/pol/doc-eng.aspx?id=32593</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Questions to consider for the environmental scan may include:</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Which crown institutions have you been discussing your problem with to identify potential reusable solution / component?</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What other solution(s) available in the GC have you taken into consideration?</a:t>
            </a:r>
          </a:p>
        </p:txBody>
      </p:sp>
      <p:sp>
        <p:nvSpPr>
          <p:cNvPr id="4" name="Slide Number Placeholder 3"/>
          <p:cNvSpPr>
            <a:spLocks noGrp="1"/>
          </p:cNvSpPr>
          <p:nvPr>
            <p:ph type="sldNum" sz="quarter" idx="10"/>
          </p:nvPr>
        </p:nvSpPr>
        <p:spPr/>
        <p:txBody>
          <a:bodyPr/>
          <a:lstStyle/>
          <a:p>
            <a:fld id="{EB3A5D88-BC26-4EFA-A680-927F6A4ACCF4}" type="slidenum">
              <a:rPr lang="en-CA" smtClean="0"/>
              <a:t>8</a:t>
            </a:fld>
            <a:endParaRPr lang="en-CA"/>
          </a:p>
        </p:txBody>
      </p:sp>
    </p:spTree>
    <p:extLst>
      <p:ext uri="{BB962C8B-B14F-4D97-AF65-F5344CB8AC3E}">
        <p14:creationId xmlns:p14="http://schemas.microsoft.com/office/powerpoint/2010/main" val="427425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and DASH.</a:t>
            </a:r>
          </a:p>
          <a:p>
            <a:pPr>
              <a:defRPr/>
            </a:pPr>
            <a:r>
              <a:rPr lang="en-CA"/>
              <a:t>To be completed by the project team.</a:t>
            </a:r>
          </a:p>
          <a:p>
            <a:pPr>
              <a:defRPr/>
            </a:pPr>
            <a:endParaRPr lang="en-CA"/>
          </a:p>
          <a:p>
            <a:pPr marL="0" marR="0" lvl="0" indent="0" algn="l" defTabSz="914400" rtl="0" eaLnBrk="1" fontAlgn="auto" latinLnBrk="0" hangingPunct="1">
              <a:lnSpc>
                <a:spcPct val="100000"/>
              </a:lnSpc>
              <a:spcBef>
                <a:spcPts val="0"/>
              </a:spcBef>
              <a:spcAft>
                <a:spcPts val="0"/>
              </a:spcAft>
              <a:buClrTx/>
              <a:buSzTx/>
              <a:buFontTx/>
              <a:buNone/>
              <a:tabLst/>
              <a:defRPr/>
            </a:pPr>
            <a:r>
              <a:rPr lang="en-CA" b="1"/>
              <a:t>Technical debt: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ea typeface="Roboto Condensed Light" panose="02000000000000000000" pitchFamily="2" charset="0"/>
              </a:rPr>
              <a:t>Technical debt is the business impact and costs related to past cost avoidance around IT systems and services. Tech debt is </a:t>
            </a:r>
            <a:r>
              <a:rPr lang="en-US" sz="1200" b="1">
                <a:solidFill>
                  <a:srgbClr val="000000"/>
                </a:solidFill>
                <a:ea typeface="Roboto Condensed Light" panose="02000000000000000000" pitchFamily="2" charset="0"/>
              </a:rPr>
              <a:t>a</a:t>
            </a:r>
            <a:r>
              <a:rPr lang="en-US" sz="1200">
                <a:solidFill>
                  <a:srgbClr val="000000"/>
                </a:solidFill>
                <a:ea typeface="Roboto Condensed Light" panose="02000000000000000000" pitchFamily="2" charset="0"/>
              </a:rPr>
              <a:t> </a:t>
            </a:r>
            <a:r>
              <a:rPr lang="en-US" sz="1200" b="1">
                <a:solidFill>
                  <a:srgbClr val="000000"/>
                </a:solidFill>
                <a:ea typeface="Roboto Condensed Light" panose="02000000000000000000" pitchFamily="2" charset="0"/>
              </a:rPr>
              <a:t>metaphor and a storytelling device</a:t>
            </a:r>
            <a:r>
              <a:rPr lang="en-US" sz="1200">
                <a:solidFill>
                  <a:srgbClr val="000000"/>
                </a:solidFill>
                <a:ea typeface="Roboto Condensed Light" panose="02000000000000000000" pitchFamily="2" charset="0"/>
              </a:rPr>
              <a:t> that can help explain the long-term consequences, costs, and risk introduced by prioritizing short-term cost avoidance over functionality, reliability, availability, and serviceability. </a:t>
            </a:r>
            <a:endParaRPr lang="en-US" sz="1200" i="1">
              <a:solidFill>
                <a:schemeClr val="bg1">
                  <a:lumMod val="50000"/>
                </a:schemeClr>
              </a:solidFill>
              <a:cs typeface="Calibri"/>
            </a:endParaRPr>
          </a:p>
          <a:p>
            <a:pPr>
              <a:defRPr/>
            </a:pPr>
            <a:endParaRPr lang="en-CA" b="1"/>
          </a:p>
          <a:p>
            <a:pPr>
              <a:defRPr/>
            </a:pPr>
            <a:r>
              <a:rPr lang="en-CA" b="1"/>
              <a:t>Link to Digital Strategy:  </a:t>
            </a:r>
            <a:r>
              <a:rPr lang="en-CA">
                <a:hlinkClick r:id="rId3"/>
              </a:rPr>
              <a:t>Digital Strategy version 11.5 DTPO all staff.pptx</a:t>
            </a:r>
            <a:endParaRPr lang="en-CA" b="1"/>
          </a:p>
          <a:p>
            <a:pPr>
              <a:defRPr/>
            </a:pPr>
            <a:r>
              <a:rPr lang="en-CA" b="1"/>
              <a:t> </a:t>
            </a:r>
          </a:p>
          <a:p>
            <a:pPr>
              <a:defRPr/>
            </a:pPr>
            <a:endParaRPr lang="en-US" b="1"/>
          </a:p>
        </p:txBody>
      </p:sp>
      <p:sp>
        <p:nvSpPr>
          <p:cNvPr id="4" name="Slide Number Placeholder 3"/>
          <p:cNvSpPr>
            <a:spLocks noGrp="1"/>
          </p:cNvSpPr>
          <p:nvPr>
            <p:ph type="sldNum" sz="quarter" idx="10"/>
          </p:nvPr>
        </p:nvSpPr>
        <p:spPr/>
        <p:txBody>
          <a:bodyPr/>
          <a:lstStyle/>
          <a:p>
            <a:fld id="{EB3A5D88-BC26-4EFA-A680-927F6A4ACCF4}" type="slidenum">
              <a:rPr lang="en-CA" smtClean="0"/>
              <a:t>9</a:t>
            </a:fld>
            <a:endParaRPr lang="en-CA"/>
          </a:p>
        </p:txBody>
      </p:sp>
    </p:spTree>
    <p:extLst>
      <p:ext uri="{BB962C8B-B14F-4D97-AF65-F5344CB8AC3E}">
        <p14:creationId xmlns:p14="http://schemas.microsoft.com/office/powerpoint/2010/main" val="818237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and DASH.</a:t>
            </a:r>
            <a:r>
              <a:rPr lang="en-US"/>
              <a:t> </a:t>
            </a:r>
            <a:endParaRPr lang="en-CA"/>
          </a:p>
          <a:p>
            <a:r>
              <a:rPr lang="en-US" sz="1200" b="0" u="none"/>
              <a:t>This slide could be completed by the Project Team with TPO support.</a:t>
            </a:r>
            <a:endParaRPr lang="en-US" b="1" u="sng"/>
          </a:p>
        </p:txBody>
      </p:sp>
      <p:sp>
        <p:nvSpPr>
          <p:cNvPr id="4" name="Slide Number Placeholder 3"/>
          <p:cNvSpPr>
            <a:spLocks noGrp="1"/>
          </p:cNvSpPr>
          <p:nvPr>
            <p:ph type="sldNum" sz="quarter" idx="10"/>
          </p:nvPr>
        </p:nvSpPr>
        <p:spPr/>
        <p:txBody>
          <a:bodyPr/>
          <a:lstStyle/>
          <a:p>
            <a:fld id="{EB3A5D88-BC26-4EFA-A680-927F6A4ACCF4}" type="slidenum">
              <a:rPr lang="en-CA" smtClean="0"/>
              <a:t>10</a:t>
            </a:fld>
            <a:endParaRPr lang="en-CA"/>
          </a:p>
        </p:txBody>
      </p:sp>
    </p:spTree>
    <p:extLst>
      <p:ext uri="{BB962C8B-B14F-4D97-AF65-F5344CB8AC3E}">
        <p14:creationId xmlns:p14="http://schemas.microsoft.com/office/powerpoint/2010/main" val="1671741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cs typeface="Calibri"/>
              </a:rPr>
              <a:t>This slide should be included for ARB and DASH only.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a:cs typeface="Calibri"/>
              </a:rPr>
              <a:t>To be completed by the DTB Enterprise Architecture team in consultation with the project team. </a:t>
            </a: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11</a:t>
            </a:fld>
            <a:endParaRPr lang="en-CA"/>
          </a:p>
        </p:txBody>
      </p:sp>
    </p:spTree>
    <p:extLst>
      <p:ext uri="{BB962C8B-B14F-4D97-AF65-F5344CB8AC3E}">
        <p14:creationId xmlns:p14="http://schemas.microsoft.com/office/powerpoint/2010/main" val="1873449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DASH, and GC EARB.</a:t>
            </a:r>
          </a:p>
          <a:p>
            <a:r>
              <a:rPr lang="en-US" sz="1200" b="0" u="none"/>
              <a:t>This slide could be completed by the Project Architect or Program Lead.</a:t>
            </a:r>
            <a:endParaRPr lang="en-US" b="1" u="sng"/>
          </a:p>
          <a:p>
            <a:endParaRPr lang="en-US" b="1" u="sng"/>
          </a:p>
          <a:p>
            <a:r>
              <a:rPr lang="en-US" b="1" u="sng"/>
              <a:t>Slide Instructions:</a:t>
            </a:r>
          </a:p>
          <a:p>
            <a:pPr marL="171450" indent="-171450">
              <a:buFont typeface="Arial" panose="020B0604020202020204" pitchFamily="34" charset="0"/>
              <a:buChar char="•"/>
            </a:pPr>
            <a:r>
              <a:rPr lang="en-US"/>
              <a:t>This slide contains a diagram of the business process, or the information/data flow, or some combination.</a:t>
            </a:r>
          </a:p>
          <a:p>
            <a:pPr marL="171450" indent="-171450">
              <a:buFont typeface="Arial" panose="020B0604020202020204" pitchFamily="34" charset="0"/>
              <a:buChar char="•"/>
            </a:pPr>
            <a:r>
              <a:rPr lang="en-US"/>
              <a:t>There is no definitive standard approach for presenting this information.  The diagram on this slide is an example from a prior presentation and is provided for illustration purposes.</a:t>
            </a:r>
          </a:p>
          <a:p>
            <a:pPr marL="171450" indent="-171450">
              <a:buFont typeface="Arial" panose="020B0604020202020204" pitchFamily="34" charset="0"/>
              <a:buChar char="•"/>
            </a:pPr>
            <a:r>
              <a:rPr lang="en-US"/>
              <a:t>Indicate all other departments/ agencies / organizations involved in the fulfilment of the service(s) in scope.</a:t>
            </a:r>
          </a:p>
          <a:p>
            <a:pPr marL="171450" indent="-171450">
              <a:buFont typeface="Arial" panose="020B0604020202020204" pitchFamily="34" charset="0"/>
              <a:buChar char="•"/>
            </a:pPr>
            <a:r>
              <a:rPr lang="en-US"/>
              <a:t>Indicate data repositories and high-level data flow.</a:t>
            </a:r>
          </a:p>
          <a:p>
            <a:pPr marL="171450" indent="-171450">
              <a:buFont typeface="Arial" panose="020B0604020202020204" pitchFamily="34" charset="0"/>
              <a:buChar char="•"/>
            </a:pPr>
            <a:r>
              <a:rPr lang="en-US"/>
              <a:t>Alternate text should be provided that describes the visual content of the diagram.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 diagonal text field with the watermark “Example” should also be deleted.</a:t>
            </a:r>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12</a:t>
            </a:fld>
            <a:endParaRPr lang="en-CA"/>
          </a:p>
        </p:txBody>
      </p:sp>
    </p:spTree>
    <p:extLst>
      <p:ext uri="{BB962C8B-B14F-4D97-AF65-F5344CB8AC3E}">
        <p14:creationId xmlns:p14="http://schemas.microsoft.com/office/powerpoint/2010/main" val="3734533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DASH, and GC EARB.</a:t>
            </a:r>
          </a:p>
          <a:p>
            <a:r>
              <a:rPr lang="en-US" sz="1200" b="0" u="none"/>
              <a:t>This slide could be completed by the Project Architect or Program Lead.</a:t>
            </a:r>
            <a:endParaRPr lang="en-US" b="1" u="sng"/>
          </a:p>
          <a:p>
            <a:endParaRPr lang="en-US" b="1" u="sng"/>
          </a:p>
          <a:p>
            <a:r>
              <a:rPr lang="en-US" b="1" u="sng"/>
              <a:t>Slide Instructions:</a:t>
            </a:r>
          </a:p>
          <a:p>
            <a:pPr marL="171450" indent="-171450">
              <a:buFont typeface="Arial" panose="020B0604020202020204" pitchFamily="34" charset="0"/>
              <a:buChar char="•"/>
            </a:pPr>
            <a:r>
              <a:rPr lang="en-US"/>
              <a:t>This slide contains a table with two columns used to capture details on the current state architecture for each of the five layers of the Enterprise Architecture Framework.</a:t>
            </a:r>
          </a:p>
          <a:p>
            <a:pPr marL="171450" indent="-171450">
              <a:buFont typeface="Arial" panose="020B0604020202020204" pitchFamily="34" charset="0"/>
              <a:buChar char="•"/>
            </a:pPr>
            <a:r>
              <a:rPr lang="en-US"/>
              <a:t>The left-side column lists the architecture layers. The right-side column provides space for details on key elements and issues for each layer.</a:t>
            </a:r>
          </a:p>
          <a:p>
            <a:pPr marL="171450" indent="-171450">
              <a:buFont typeface="Arial" panose="020B0604020202020204" pitchFamily="34" charset="0"/>
              <a:buChar char="•"/>
            </a:pPr>
            <a:r>
              <a:rPr lang="en-US"/>
              <a:t>Describe the problems with the current architecture. </a:t>
            </a:r>
          </a:p>
          <a:p>
            <a:pPr marL="628650" lvl="1" indent="-171450">
              <a:buFont typeface="Arial" panose="020B0604020202020204" pitchFamily="34" charset="0"/>
              <a:buChar char="•"/>
            </a:pPr>
            <a:r>
              <a:rPr lang="en-US"/>
              <a:t>Brief summary of the business problem as described in the Concept Case</a:t>
            </a:r>
          </a:p>
          <a:p>
            <a:pPr marL="628650" lvl="1" indent="-171450">
              <a:buFont typeface="Arial" panose="020B0604020202020204" pitchFamily="34" charset="0"/>
              <a:buChar char="•"/>
            </a:pPr>
            <a:r>
              <a:rPr lang="en-US"/>
              <a:t>Describe the problem in each of the layers of EA Framework</a:t>
            </a:r>
            <a:r>
              <a:rPr lang="en-US" sz="1800">
                <a:effectLst/>
                <a:latin typeface="Calibri" panose="020F0502020204030204" pitchFamily="34" charset="0"/>
                <a:ea typeface="Calibri" panose="020F0502020204030204" pitchFamily="34" charset="0"/>
                <a:cs typeface="Times New Roman" panose="02020603050405020304" pitchFamily="18" charset="0"/>
              </a:rPr>
              <a:t>: Business, Information, Application, Technology and Security</a:t>
            </a:r>
            <a:endParaRPr lang="en-US"/>
          </a:p>
          <a:p>
            <a:pPr marL="628650" lvl="1" indent="-171450">
              <a:buFont typeface="Arial" panose="020B0604020202020204" pitchFamily="34" charset="0"/>
              <a:buChar char="•"/>
            </a:pPr>
            <a:r>
              <a:rPr lang="en-US"/>
              <a:t>The text in this table should clearly describe the visual content of the diagram on the following slide and can serve as supporting speaking notes.</a:t>
            </a:r>
          </a:p>
          <a:p>
            <a:pPr marL="171450" indent="-171450">
              <a:buFont typeface="Arial" panose="020B0604020202020204" pitchFamily="34" charset="0"/>
              <a:buChar char="•"/>
            </a:pPr>
            <a:r>
              <a:rPr lang="en-US"/>
              <a:t>Table can be split across multiple slides if necessary</a:t>
            </a:r>
          </a:p>
          <a:p>
            <a:pPr marL="171450" indent="-171450">
              <a:buFont typeface="Arial" panose="020B0604020202020204" pitchFamily="34" charset="0"/>
              <a:buChar char="•"/>
            </a:pPr>
            <a:r>
              <a:rPr lang="en-US"/>
              <a:t>The table has been pre-populated with example content from a prior presentation. This should be adjusted or replaced for the current presentation.  </a:t>
            </a:r>
          </a:p>
          <a:p>
            <a:pPr marL="171450" indent="-171450">
              <a:buFont typeface="Arial" panose="020B0604020202020204" pitchFamily="34" charset="0"/>
              <a:buChar char="•"/>
            </a:pPr>
            <a:r>
              <a:rPr lang="en-US"/>
              <a:t>The diagonal text field with the watermark “Example” should also be deleted.</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13</a:t>
            </a:fld>
            <a:endParaRPr lang="en-CA"/>
          </a:p>
        </p:txBody>
      </p:sp>
    </p:spTree>
    <p:extLst>
      <p:ext uri="{BB962C8B-B14F-4D97-AF65-F5344CB8AC3E}">
        <p14:creationId xmlns:p14="http://schemas.microsoft.com/office/powerpoint/2010/main" val="729871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DASH, and GC EARB.</a:t>
            </a:r>
          </a:p>
          <a:p>
            <a:r>
              <a:rPr lang="en-US" sz="1200" b="0" u="none"/>
              <a:t>This slide could be completed by the Project Architect or Program Lead.</a:t>
            </a:r>
            <a:endParaRPr lang="en-US" b="1" u="sng"/>
          </a:p>
          <a:p>
            <a:endParaRPr lang="en-US" b="1" u="sng"/>
          </a:p>
          <a:p>
            <a:r>
              <a:rPr lang="en-US" b="1" u="sng"/>
              <a:t>Slide 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This slide contains a diagram of the current state architecture. </a:t>
            </a:r>
            <a:r>
              <a:rPr lang="en-US" sz="1800">
                <a:effectLst/>
                <a:latin typeface="Calibri" panose="020F0502020204030204" pitchFamily="34" charset="0"/>
                <a:ea typeface="Calibri" panose="020F0502020204030204" pitchFamily="34" charset="0"/>
                <a:cs typeface="Times New Roman" panose="02020603050405020304" pitchFamily="18" charset="0"/>
              </a:rPr>
              <a:t>It is placed immediately </a:t>
            </a:r>
            <a:r>
              <a:rPr lang="en-US" sz="180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before the</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target state diagram</a:t>
            </a:r>
            <a:r>
              <a:rPr lang="en-US" sz="1800">
                <a:effectLst/>
                <a:latin typeface="Calibri" panose="020F0502020204030204" pitchFamily="34" charset="0"/>
                <a:ea typeface="Calibri" panose="020F0502020204030204" pitchFamily="34" charset="0"/>
                <a:cs typeface="Times New Roman" panose="02020603050405020304" pitchFamily="18" charset="0"/>
              </a:rPr>
              <a:t> to allow an easy “before and after” view of the architecture.</a:t>
            </a:r>
            <a:endParaRPr lang="en-US"/>
          </a:p>
          <a:p>
            <a:pPr marL="171450" indent="-171450">
              <a:buFont typeface="Arial" panose="020B0604020202020204" pitchFamily="34" charset="0"/>
              <a:buChar char="•"/>
            </a:pPr>
            <a:r>
              <a:rPr lang="en-US"/>
              <a:t>There is no definitive standard approach for presenting this information.  A prior example is provided for illustration purposes.</a:t>
            </a:r>
          </a:p>
          <a:p>
            <a:pPr marL="628650" lvl="1" indent="-171450">
              <a:buFont typeface="Arial" panose="020B0604020202020204" pitchFamily="34" charset="0"/>
              <a:buChar char="•"/>
            </a:pPr>
            <a:r>
              <a:rPr lang="en-US"/>
              <a:t>As a suggested best practice, this example includes a numbered legend that provides additional details on selected elements of the diagram in a sequential order.</a:t>
            </a:r>
          </a:p>
          <a:p>
            <a:pPr marL="171450" indent="-171450">
              <a:buFont typeface="Arial" panose="020B0604020202020204" pitchFamily="34" charset="0"/>
              <a:buChar char="•"/>
            </a:pPr>
            <a:r>
              <a:rPr lang="en-US"/>
              <a:t>Alternate text should be provided that describes the visual content of the diagram.  This may refer to the previous slide, which is intended to provide textual descriptions for the current state.</a:t>
            </a:r>
          </a:p>
          <a:p>
            <a:pPr marL="171450" indent="-171450">
              <a:buFont typeface="Arial" panose="020B0604020202020204" pitchFamily="34" charset="0"/>
              <a:buChar char="•"/>
            </a:pPr>
            <a:r>
              <a:rPr lang="en-US"/>
              <a:t>The diagonal text field with the watermark “Example” should also be deleted.</a:t>
            </a:r>
          </a:p>
          <a:p>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14</a:t>
            </a:fld>
            <a:endParaRPr lang="en-CA"/>
          </a:p>
        </p:txBody>
      </p:sp>
    </p:spTree>
    <p:extLst>
      <p:ext uri="{BB962C8B-B14F-4D97-AF65-F5344CB8AC3E}">
        <p14:creationId xmlns:p14="http://schemas.microsoft.com/office/powerpoint/2010/main" val="1314349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DASH, and GC EARB.</a:t>
            </a:r>
          </a:p>
          <a:p>
            <a:r>
              <a:rPr lang="en-US" sz="1200" b="0" u="none"/>
              <a:t>This slide could be completed by your project architect or program lead.</a:t>
            </a:r>
            <a:endParaRPr lang="en-US" b="1" u="sng"/>
          </a:p>
          <a:p>
            <a:pPr marL="0" marR="0" lvl="0" indent="0" algn="l" defTabSz="914400" rtl="0" eaLnBrk="1" fontAlgn="auto" latinLnBrk="0" hangingPunct="1">
              <a:lnSpc>
                <a:spcPct val="100000"/>
              </a:lnSpc>
              <a:spcBef>
                <a:spcPts val="0"/>
              </a:spcBef>
              <a:spcAft>
                <a:spcPts val="0"/>
              </a:spcAft>
              <a:buClrTx/>
              <a:buSzTx/>
              <a:buFontTx/>
              <a:buNone/>
              <a:tabLst/>
              <a:defRPr/>
            </a:pPr>
            <a:r>
              <a:rPr lang="en-CA"/>
              <a:t>For Gate 0, diagram is conceptual only</a:t>
            </a:r>
          </a:p>
          <a:p>
            <a:endParaRPr lang="en-US" b="1" u="sng"/>
          </a:p>
          <a:p>
            <a:r>
              <a:rPr lang="en-US" b="1" u="sng"/>
              <a:t>Slide Instructions:</a:t>
            </a:r>
          </a:p>
          <a:p>
            <a:pPr marL="171450" indent="-171450">
              <a:buFont typeface="Arial" panose="020B0604020202020204" pitchFamily="34" charset="0"/>
              <a:buChar char="•"/>
            </a:pPr>
            <a:r>
              <a:rPr lang="en-US"/>
              <a:t>This slide contains a diagram of the target state architecture. It is placed immediately after the current state diagram to allow an easy “before and after” view of the architecture.</a:t>
            </a:r>
          </a:p>
          <a:p>
            <a:pPr marL="171450" indent="-171450">
              <a:buFont typeface="Arial" panose="020B0604020202020204" pitchFamily="34" charset="0"/>
              <a:buChar char="•"/>
            </a:pPr>
            <a:r>
              <a:rPr lang="en-US"/>
              <a:t>There is no definitive standard approach for presenting this information.  A prior example is provided for illustration purposes.</a:t>
            </a:r>
          </a:p>
          <a:p>
            <a:pPr marL="628650" lvl="1" indent="-171450">
              <a:buFont typeface="Arial" panose="020B0604020202020204" pitchFamily="34" charset="0"/>
              <a:buChar char="•"/>
            </a:pPr>
            <a:r>
              <a:rPr lang="en-US"/>
              <a:t>As a suggested best practice, this example includes a numbered legend that provides additional details on selected elements of the diagram in a sequential order.</a:t>
            </a:r>
          </a:p>
          <a:p>
            <a:pPr marL="171450" indent="-171450">
              <a:buFont typeface="Arial" panose="020B0604020202020204" pitchFamily="34" charset="0"/>
              <a:buChar char="•"/>
            </a:pPr>
            <a:r>
              <a:rPr lang="en-US"/>
              <a:t>Alternate text should be provided that describes the visual content of the diagram.  This may refer to the following slide, which is intended to provide textual descriptions for the target state.</a:t>
            </a:r>
          </a:p>
          <a:p>
            <a:pPr marL="171450" indent="-171450">
              <a:buFont typeface="Arial" panose="020B0604020202020204" pitchFamily="34" charset="0"/>
              <a:buChar char="•"/>
            </a:pPr>
            <a:r>
              <a:rPr lang="en-US"/>
              <a:t>The diagonal text field with the watermark “Example” should also be deleted.</a:t>
            </a:r>
          </a:p>
          <a:p>
            <a:pPr marL="171450" indent="-171450">
              <a:buFont typeface="Arial" panose="020B0604020202020204" pitchFamily="34" charset="0"/>
              <a:buChar char="•"/>
            </a:pPr>
            <a:endParaRPr lang="en-US"/>
          </a:p>
          <a:p>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15</a:t>
            </a:fld>
            <a:endParaRPr lang="en-CA"/>
          </a:p>
        </p:txBody>
      </p:sp>
    </p:spTree>
    <p:extLst>
      <p:ext uri="{BB962C8B-B14F-4D97-AF65-F5344CB8AC3E}">
        <p14:creationId xmlns:p14="http://schemas.microsoft.com/office/powerpoint/2010/main" val="662299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DASH, and GC EARB.</a:t>
            </a:r>
          </a:p>
          <a:p>
            <a:r>
              <a:rPr lang="en-US" sz="1200" b="0" u="none"/>
              <a:t>This slide could be completed by your project architect or program lead.</a:t>
            </a:r>
            <a:endParaRPr lang="en-US" b="1" u="sng"/>
          </a:p>
          <a:p>
            <a:pPr marL="0" marR="0" lvl="0" indent="0" algn="l" defTabSz="914400" rtl="0" eaLnBrk="1" fontAlgn="auto" latinLnBrk="0" hangingPunct="1">
              <a:lnSpc>
                <a:spcPct val="100000"/>
              </a:lnSpc>
              <a:spcBef>
                <a:spcPts val="0"/>
              </a:spcBef>
              <a:spcAft>
                <a:spcPts val="0"/>
              </a:spcAft>
              <a:buClrTx/>
              <a:buSzTx/>
              <a:buFontTx/>
              <a:buNone/>
              <a:tabLst/>
              <a:defRPr/>
            </a:pPr>
            <a:r>
              <a:rPr lang="en-CA"/>
              <a:t>For Gate 0, complete Business and Information only</a:t>
            </a:r>
          </a:p>
          <a:p>
            <a:endParaRPr lang="en-US" b="1" u="sng"/>
          </a:p>
          <a:p>
            <a:r>
              <a:rPr lang="en-US" b="1" u="sng"/>
              <a:t>Slide Instructions:</a:t>
            </a:r>
          </a:p>
          <a:p>
            <a:pPr marL="171450" indent="-171450">
              <a:buFont typeface="Arial" panose="020B0604020202020204" pitchFamily="34" charset="0"/>
              <a:buChar char="•"/>
            </a:pPr>
            <a:r>
              <a:rPr lang="en-US"/>
              <a:t>The table on this slide is based on the five layers of the Enterprise Architecture Framework.</a:t>
            </a:r>
          </a:p>
          <a:p>
            <a:pPr marL="171450" indent="-171450">
              <a:buFont typeface="Arial" panose="020B0604020202020204" pitchFamily="34" charset="0"/>
              <a:buChar char="•"/>
            </a:pPr>
            <a:r>
              <a:rPr lang="en-US"/>
              <a:t>Describe the Target State architecture. </a:t>
            </a:r>
          </a:p>
          <a:p>
            <a:pPr marL="628650" lvl="1" indent="-171450">
              <a:buFont typeface="Arial" panose="020B0604020202020204" pitchFamily="34" charset="0"/>
              <a:buChar char="•"/>
            </a:pPr>
            <a:r>
              <a:rPr lang="en-US"/>
              <a:t>Describe how the target state architecture addresses the business problem stated in the Concept Case.</a:t>
            </a:r>
          </a:p>
          <a:p>
            <a:pPr marL="628650" lvl="1" indent="-171450">
              <a:buFont typeface="Arial" panose="020B0604020202020204" pitchFamily="34" charset="0"/>
              <a:buChar char="•"/>
            </a:pPr>
            <a:r>
              <a:rPr lang="en-US"/>
              <a:t>Describe the solution in each layer of the EA Framework: Business, Information, Application, Technology and Security</a:t>
            </a:r>
          </a:p>
          <a:p>
            <a:pPr marL="628650" lvl="1" indent="-171450">
              <a:buFont typeface="Arial" panose="020B0604020202020204" pitchFamily="34" charset="0"/>
              <a:buChar char="•"/>
            </a:pPr>
            <a:r>
              <a:rPr lang="en-US"/>
              <a:t>The text in this table should clearly describe the visual content of the diagram on the previous slide and can serve as supporting speaking notes.</a:t>
            </a:r>
          </a:p>
          <a:p>
            <a:pPr marL="171450" indent="-171450">
              <a:buFont typeface="Arial" panose="020B0604020202020204" pitchFamily="34" charset="0"/>
              <a:buChar char="•"/>
            </a:pPr>
            <a:r>
              <a:rPr lang="en-US"/>
              <a:t>Table can be split across multiple slides if necessary</a:t>
            </a:r>
          </a:p>
          <a:p>
            <a:pPr marL="171450" indent="-171450">
              <a:buFont typeface="Arial" panose="020B0604020202020204" pitchFamily="34" charset="0"/>
              <a:buChar char="•"/>
            </a:pPr>
            <a:r>
              <a:rPr lang="en-US"/>
              <a:t>The table has been pre-populated with example content from a prior presentation. This should be adjusted or replaced for the current presentation.  </a:t>
            </a:r>
          </a:p>
          <a:p>
            <a:pPr marL="171450" indent="-171450">
              <a:buFont typeface="Arial" panose="020B0604020202020204" pitchFamily="34" charset="0"/>
              <a:buChar char="•"/>
            </a:pPr>
            <a:r>
              <a:rPr lang="en-US"/>
              <a:t>The diagonal text field with the watermark “Example” should also be deleted.</a:t>
            </a:r>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16</a:t>
            </a:fld>
            <a:endParaRPr lang="en-CA"/>
          </a:p>
        </p:txBody>
      </p:sp>
    </p:spTree>
    <p:extLst>
      <p:ext uri="{BB962C8B-B14F-4D97-AF65-F5344CB8AC3E}">
        <p14:creationId xmlns:p14="http://schemas.microsoft.com/office/powerpoint/2010/main" val="1254873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0" u="none"/>
              <a:t>This slide should be included for ARB and DASH.</a:t>
            </a:r>
            <a:r>
              <a:rPr lang="en-US"/>
              <a:t> </a:t>
            </a:r>
            <a:endParaRPr lang="en-CA"/>
          </a:p>
          <a:p>
            <a:r>
              <a:rPr lang="en-US" sz="1200" b="0" u="none"/>
              <a:t>This slide could be completed by the Project Team with TPO support.</a:t>
            </a:r>
            <a:endParaRPr lang="en-US" b="1" u="sng"/>
          </a:p>
          <a:p>
            <a:pPr>
              <a:defRPr/>
            </a:pPr>
            <a:r>
              <a:rPr lang="en-CA" b="1"/>
              <a:t>Note:</a:t>
            </a:r>
            <a:r>
              <a:rPr lang="en-CA"/>
              <a:t> If Consultation/Outreach is not necessary, enter </a:t>
            </a:r>
            <a:r>
              <a:rPr lang="en-CA" i="1"/>
              <a:t>Not Applicable</a:t>
            </a:r>
          </a:p>
          <a:p>
            <a:pPr>
              <a:defRPr/>
            </a:pPr>
            <a:r>
              <a:rPr lang="en-CA" sz="1200" b="1" u="none" strike="noStrike">
                <a:solidFill>
                  <a:schemeClr val="tx1"/>
                </a:solidFill>
                <a:effectLst/>
              </a:rPr>
              <a:t>Teams/Organization Contact emails: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u="none" strike="noStrike">
                <a:solidFill>
                  <a:schemeClr val="tx1"/>
                </a:solidFill>
                <a:effectLst/>
              </a:rPr>
              <a:t>Accessibility team </a:t>
            </a:r>
            <a:r>
              <a:rPr lang="en-CA" sz="1200" b="0" u="none" strike="noStrike">
                <a:solidFill>
                  <a:schemeClr val="tx1"/>
                </a:solidFill>
                <a:effectLst/>
              </a:rPr>
              <a:t>(</a:t>
            </a:r>
            <a:r>
              <a:rPr lang="en-CA" sz="1200" b="0" i="0" u="none" strike="noStrike">
                <a:solidFill>
                  <a:srgbClr val="000000"/>
                </a:solidFill>
                <a:effectLst/>
                <a:latin typeface="Calibri"/>
              </a:rPr>
              <a:t>Web Standards</a:t>
            </a:r>
            <a:r>
              <a:rPr lang="en-CA" sz="1200" b="0" u="none" strike="noStrike">
                <a:solidFill>
                  <a:schemeClr val="tx1"/>
                </a:solidFill>
                <a:effectLst/>
              </a:rPr>
              <a:t>):</a:t>
            </a:r>
            <a:r>
              <a:rPr lang="en-CA" sz="1200" b="0" i="0" u="none" strike="noStrike">
                <a:solidFill>
                  <a:srgbClr val="000000"/>
                </a:solidFill>
                <a:effectLst/>
                <a:latin typeface="+mn-lt"/>
                <a:hlinkClick r:id="rId3"/>
              </a:rPr>
              <a:t>web.standards-normes.web@hc-sc.gc.ca</a:t>
            </a:r>
            <a:endParaRPr lang="en-CA" sz="1200" b="1" i="0" u="none" strike="noStrike">
              <a:solidFill>
                <a:schemeClr val="tx1"/>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u="none" strike="noStrike">
                <a:solidFill>
                  <a:schemeClr val="tx1"/>
                </a:solidFill>
                <a:effectLst/>
              </a:rPr>
              <a:t>Cloud team </a:t>
            </a:r>
            <a:r>
              <a:rPr lang="en-CA" sz="800"/>
              <a:t>(AWS / Azure / D365 / Google, SSC): </a:t>
            </a:r>
            <a:r>
              <a:rPr lang="en-CA" sz="800" b="0" i="0" u="none" strike="noStrike">
                <a:solidFill>
                  <a:srgbClr val="000000"/>
                </a:solidFill>
                <a:effectLst/>
                <a:latin typeface="+mn-lt"/>
                <a:hlinkClick r:id="rId4"/>
              </a:rPr>
              <a:t>azureoperations-operationsazure@hc-sc.gc.ca</a:t>
            </a:r>
            <a:endParaRPr lang="en-CA" sz="800" b="0" i="0" u="none" strike="noStrike">
              <a:solidFill>
                <a:srgbClr val="000000"/>
              </a:solidFill>
              <a:effectLst/>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DevOps team</a:t>
            </a:r>
            <a:r>
              <a:rPr lang="en-CA" sz="1800" b="0" i="0" u="none" strike="noStrike" kern="1200">
                <a:solidFill>
                  <a:srgbClr val="000000"/>
                </a:solidFill>
                <a:effectLst/>
                <a:latin typeface="Calibri" panose="020F0502020204030204" pitchFamily="34" charset="0"/>
              </a:rPr>
              <a:t>: </a:t>
            </a:r>
            <a:r>
              <a:rPr lang="en-CA" sz="1800" b="0" i="0" u="none" strike="noStrike">
                <a:solidFill>
                  <a:srgbClr val="000000"/>
                </a:solidFill>
                <a:effectLst/>
                <a:latin typeface="+mn-lt"/>
                <a:hlinkClick r:id="rId5"/>
              </a:rPr>
              <a:t>devops@hc-sc.gc.ca</a:t>
            </a:r>
            <a:endParaRPr lang="en-CA" sz="1800" kern="120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Digital Strategy/Aging IT</a:t>
            </a:r>
            <a:r>
              <a:rPr lang="en-CA" sz="1800" b="0" i="0" u="none" strike="noStrike" kern="1200">
                <a:solidFill>
                  <a:srgbClr val="000000"/>
                </a:solidFill>
                <a:effectLst/>
                <a:latin typeface="Calibri" panose="020F0502020204030204" pitchFamily="34" charset="0"/>
              </a:rPr>
              <a:t>(</a:t>
            </a:r>
            <a:r>
              <a:rPr lang="en-CA" sz="1800" b="0" i="0" u="none" strike="noStrike">
                <a:solidFill>
                  <a:srgbClr val="000000"/>
                </a:solidFill>
                <a:effectLst/>
                <a:latin typeface="Calibri"/>
              </a:rPr>
              <a:t>DTPOD</a:t>
            </a:r>
            <a:r>
              <a:rPr lang="en-CA" sz="1800" b="0" i="0" u="none" strike="noStrike">
                <a:solidFill>
                  <a:srgbClr val="000000"/>
                </a:solidFill>
                <a:effectLst/>
                <a:latin typeface="Calibri" panose="020F0502020204030204" pitchFamily="34" charset="0"/>
              </a:rPr>
              <a:t>):</a:t>
            </a:r>
            <a:r>
              <a:rPr lang="fr-CA"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6"/>
              </a:rPr>
              <a:t>TechnicalDebt.Dettetechnique@hc-sc.gc.ca</a:t>
            </a:r>
            <a:endParaRPr lang="fr-FR" sz="1800" b="0" i="0" u="none" strike="noStrike">
              <a:solidFill>
                <a:srgbClr val="00000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Enterprise Architecture </a:t>
            </a:r>
            <a:r>
              <a:rPr lang="en-CA" sz="1800" b="0" i="0" u="none" strike="noStrike" kern="1200">
                <a:solidFill>
                  <a:srgbClr val="000000"/>
                </a:solidFill>
                <a:effectLst/>
                <a:latin typeface="Calibri" panose="020F0502020204030204" pitchFamily="34" charset="0"/>
              </a:rPr>
              <a:t>(</a:t>
            </a:r>
            <a:r>
              <a:rPr lang="en-CA" sz="1800" b="0" i="0" u="none" strike="noStrike">
                <a:solidFill>
                  <a:srgbClr val="000000"/>
                </a:solidFill>
                <a:effectLst/>
                <a:latin typeface="Calibri"/>
              </a:rPr>
              <a:t>GC EA Framework Assessment): </a:t>
            </a:r>
            <a:r>
              <a:rPr lang="en-CA" sz="2800" kern="1200" noProof="0">
                <a:solidFill>
                  <a:schemeClr val="tx1"/>
                </a:solidFill>
                <a:latin typeface="+mn-lt"/>
                <a:ea typeface="+mn-ea"/>
                <a:cs typeface="+mn-cs"/>
                <a:hlinkClick r:id="rId7"/>
              </a:rPr>
              <a:t>hc-phac.arb.cea.sc-aspc@hc-sc.gc.ca</a:t>
            </a:r>
            <a:endParaRPr lang="en-CA" sz="2800" kern="1200" noProof="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HC Chief Data Office / PHAC Data </a:t>
            </a:r>
            <a:r>
              <a:rPr lang="en-CA" sz="1800" b="1" i="0" u="none" strike="noStrike" kern="1200" err="1">
                <a:solidFill>
                  <a:srgbClr val="000000"/>
                </a:solidFill>
                <a:effectLst/>
                <a:latin typeface="Calibri" panose="020F0502020204030204" pitchFamily="34" charset="0"/>
              </a:rPr>
              <a:t>Mgmt</a:t>
            </a:r>
            <a:r>
              <a:rPr lang="en-CA" sz="1800" b="1" i="0" u="none" strike="noStrike" kern="1200">
                <a:solidFill>
                  <a:srgbClr val="000000"/>
                </a:solidFill>
                <a:effectLst/>
                <a:latin typeface="Calibri" panose="020F0502020204030204" pitchFamily="34" charset="0"/>
              </a:rPr>
              <a:t> Innovation &amp; Analytics </a:t>
            </a:r>
            <a:r>
              <a:rPr lang="en-CA" sz="1800" b="0" i="0" u="none" strike="noStrike" kern="1200">
                <a:solidFill>
                  <a:srgbClr val="000000"/>
                </a:solidFill>
                <a:effectLst/>
                <a:latin typeface="Calibri" panose="020F0502020204030204" pitchFamily="34" charset="0"/>
              </a:rPr>
              <a:t>(</a:t>
            </a:r>
            <a:r>
              <a:rPr lang="en-CA" sz="1800" b="0" i="0" u="none" strike="noStrike" noProof="0">
                <a:solidFill>
                  <a:srgbClr val="000000"/>
                </a:solidFill>
                <a:effectLst/>
              </a:rPr>
              <a:t>Data management): </a:t>
            </a:r>
            <a:r>
              <a:rPr lang="en-CA" sz="2800"/>
              <a:t>HC </a:t>
            </a:r>
            <a:r>
              <a:rPr lang="en-CA" sz="2800">
                <a:hlinkClick r:id="rId8"/>
              </a:rPr>
              <a:t>ocdo-bdpd@hc-sc.gc.ca</a:t>
            </a:r>
            <a:r>
              <a:rPr lang="en-CA" sz="2800" b="0" i="0" u="none" strike="noStrike">
                <a:solidFill>
                  <a:schemeClr val="tx1"/>
                </a:solidFill>
                <a:effectLst/>
                <a:latin typeface="+mn-lt"/>
              </a:rPr>
              <a:t> </a:t>
            </a:r>
            <a:r>
              <a:rPr lang="en-CA" sz="2800" b="0" i="0" u="none" strike="noStrike">
                <a:solidFill>
                  <a:srgbClr val="000000"/>
                </a:solidFill>
                <a:effectLst/>
                <a:latin typeface="Calibri" panose="020F0502020204030204" pitchFamily="34" charset="0"/>
              </a:rPr>
              <a:t>PHAC </a:t>
            </a:r>
            <a:r>
              <a:rPr lang="en-CA" sz="1800">
                <a:effectLst/>
                <a:hlinkClick r:id="rId9" tooltip="mailto:datascience-sciencededonnees@phac-aspc.gc.ca"/>
              </a:rPr>
              <a:t>datascience-sciencededonnees@phac-aspc.gc.ca</a:t>
            </a:r>
            <a:r>
              <a:rPr lang="en-CA" sz="1800">
                <a:effectLst/>
              </a:rPr>
              <a:t> </a:t>
            </a:r>
            <a:endParaRPr lang="en-CA" sz="1800" b="0" i="0" u="none" strike="noStrike">
              <a:effectLst/>
              <a:latin typeface="Arial" panose="020B060402020202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IM Ops, Tools and SharePoint</a:t>
            </a:r>
            <a:r>
              <a:rPr lang="en-CA" sz="1800" b="0" i="0" u="none" strike="noStrike" kern="1200">
                <a:solidFill>
                  <a:srgbClr val="000000"/>
                </a:solidFill>
                <a:effectLst/>
                <a:latin typeface="Calibri" panose="020F0502020204030204" pitchFamily="34" charset="0"/>
              </a:rPr>
              <a:t> (</a:t>
            </a:r>
            <a:r>
              <a:rPr lang="en-CA" sz="1800" b="0" i="0" u="none" strike="noStrike">
                <a:solidFill>
                  <a:srgbClr val="000000"/>
                </a:solidFill>
                <a:effectLst/>
                <a:latin typeface="Calibri"/>
              </a:rPr>
              <a:t>See Appendix 0 - </a:t>
            </a:r>
            <a:r>
              <a:rPr lang="en-CA" sz="1800"/>
              <a:t>INFORMATION MANAGEMENT Considerations</a:t>
            </a:r>
            <a:r>
              <a:rPr lang="en-CA" sz="1800" b="0" i="0" u="none" strike="noStrike">
                <a:solidFill>
                  <a:srgbClr val="000000"/>
                </a:solidFill>
                <a:effectLst/>
                <a:latin typeface="Calibri"/>
              </a:rPr>
              <a:t>): </a:t>
            </a:r>
            <a:r>
              <a:rPr lang="en-CA" sz="1800" kern="1200">
                <a:solidFill>
                  <a:schemeClr val="tx1"/>
                </a:solidFill>
                <a:latin typeface="+mn-lt"/>
                <a:ea typeface="+mn-ea"/>
                <a:cs typeface="+mn-cs"/>
                <a:hlinkClick r:id="rId10"/>
              </a:rPr>
              <a:t>im.tools-outils.gi@hc-sc.gc.ca</a:t>
            </a:r>
            <a:endParaRPr lang="en-CA" sz="1800" b="0" i="0" u="none" strike="noStrike">
              <a:solidFill>
                <a:srgbClr val="000000"/>
              </a:solidFill>
              <a:effectLst/>
              <a:latin typeface="Calibri"/>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IT Security </a:t>
            </a:r>
            <a:r>
              <a:rPr lang="en-CA" sz="1800" b="0" i="0" u="none" strike="noStrike" kern="1200">
                <a:solidFill>
                  <a:srgbClr val="000000"/>
                </a:solidFill>
                <a:effectLst/>
                <a:latin typeface="Calibri" panose="020F0502020204030204" pitchFamily="34" charset="0"/>
              </a:rPr>
              <a:t>(</a:t>
            </a:r>
            <a:r>
              <a:rPr lang="en-CA" sz="1800" b="0" i="0" u="none" strike="noStrike">
                <a:solidFill>
                  <a:srgbClr val="000000"/>
                </a:solidFill>
                <a:effectLst/>
                <a:latin typeface="Calibri"/>
              </a:rPr>
              <a:t>Authority to Operate / SRTM): </a:t>
            </a:r>
            <a:r>
              <a:rPr lang="en-CA" sz="1800" b="0" i="0" u="none" strike="noStrike">
                <a:solidFill>
                  <a:srgbClr val="000000"/>
                </a:solidFill>
                <a:effectLst/>
                <a:latin typeface="Calibri"/>
                <a:hlinkClick r:id="rId11"/>
              </a:rPr>
              <a:t>itsecurity-tisecurite@hc-sc.gc.ca</a:t>
            </a:r>
            <a:r>
              <a:rPr lang="en-CA" sz="1800" b="0" i="0" u="none" strike="noStrike">
                <a:solidFill>
                  <a:srgbClr val="000000"/>
                </a:solidFill>
                <a:effectLst/>
                <a:latin typeface="Calibri"/>
              </a:rPr>
              <a:t> </a:t>
            </a:r>
            <a:endParaRPr lang="en-CA" sz="1800" b="0" i="0" u="none" strike="noStrike">
              <a:effectLst/>
              <a:latin typeface="Arial" panose="020B0604020202020204" pitchFamily="34" charset="0"/>
            </a:endParaRPr>
          </a:p>
          <a:p>
            <a:pPr fontAlgn="b">
              <a:defRPr/>
            </a:pPr>
            <a:r>
              <a:rPr lang="en-CA" sz="1800" b="1" i="0" u="none" strike="noStrike" kern="1200">
                <a:solidFill>
                  <a:srgbClr val="000000"/>
                </a:solidFill>
                <a:effectLst/>
                <a:latin typeface="Calibri"/>
                <a:cs typeface="Calibri"/>
              </a:rPr>
              <a:t>IT Service Delivery</a:t>
            </a:r>
            <a:r>
              <a:rPr lang="en-CA" sz="1800" b="0" i="0" u="none" strike="noStrike" kern="1200">
                <a:solidFill>
                  <a:srgbClr val="000000"/>
                </a:solidFill>
                <a:effectLst/>
                <a:latin typeface="Calibri"/>
                <a:cs typeface="Calibri"/>
              </a:rPr>
              <a:t> (</a:t>
            </a:r>
            <a:r>
              <a:rPr lang="en-CA" sz="1800" b="0" i="0" u="none" strike="noStrike">
                <a:solidFill>
                  <a:srgbClr val="000000"/>
                </a:solidFill>
                <a:effectLst/>
                <a:latin typeface="Calibri"/>
              </a:rPr>
              <a:t>Desktop Engineering): </a:t>
            </a:r>
            <a:r>
              <a:rPr lang="en-CA" sz="1800">
                <a:solidFill>
                  <a:srgbClr val="000000"/>
                </a:solidFill>
                <a:latin typeface="Calibri"/>
              </a:rPr>
              <a:t>Request through Service Gateway</a:t>
            </a:r>
            <a:endParaRPr lang="en-CA" sz="1800">
              <a:solidFill>
                <a:srgbClr val="000000"/>
              </a:solidFill>
              <a:latin typeface="Arial" panose="020B0604020202020204" pitchFamily="34" charset="0"/>
              <a:cs typeface="Arial"/>
            </a:endParaRPr>
          </a:p>
          <a:p>
            <a:pPr marL="0" marR="0" lvl="0" indent="0" algn="l" defTabSz="914400">
              <a:lnSpc>
                <a:spcPct val="100000"/>
              </a:lnSpc>
              <a:spcBef>
                <a:spcPts val="0"/>
              </a:spcBef>
              <a:spcAft>
                <a:spcPts val="0"/>
              </a:spcAft>
              <a:buClrTx/>
              <a:buSzTx/>
              <a:buFontTx/>
              <a:buNone/>
              <a:tabLst/>
              <a:defRPr/>
            </a:pPr>
            <a:r>
              <a:rPr lang="en-CA" sz="1800" b="1">
                <a:solidFill>
                  <a:srgbClr val="000000"/>
                </a:solidFill>
              </a:rPr>
              <a:t>M365</a:t>
            </a:r>
            <a:r>
              <a:rPr lang="en-CA" sz="1800" b="1" i="0" u="none" strike="noStrike" kern="1200">
                <a:solidFill>
                  <a:srgbClr val="000000"/>
                </a:solidFill>
                <a:effectLst/>
                <a:latin typeface="Calibri"/>
                <a:cs typeface="Calibri"/>
              </a:rPr>
              <a:t> team including SharePoint as an App repository: </a:t>
            </a:r>
            <a:r>
              <a:rPr lang="pl-PL" sz="1800" b="0" i="0" u="none" strike="noStrike">
                <a:solidFill>
                  <a:srgbClr val="000000"/>
                </a:solidFill>
                <a:effectLst/>
                <a:latin typeface="+mn-lt"/>
                <a:hlinkClick r:id="rId12"/>
              </a:rPr>
              <a:t>m365-m365@hc-sc.gc.ca</a:t>
            </a:r>
            <a:endParaRPr lang="en-CA" sz="1800" b="0" i="0" u="none" strike="noStrike">
              <a:effectLst/>
              <a:latin typeface="Arial" panose="020B0604020202020204" pitchFamily="34" charset="0"/>
              <a:cs typeface="Arial"/>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Other Government Departments(</a:t>
            </a:r>
            <a:r>
              <a:rPr lang="en-CA" sz="1800" b="0" i="0" u="none" strike="noStrike">
                <a:solidFill>
                  <a:srgbClr val="000000"/>
                </a:solidFill>
                <a:effectLst/>
                <a:latin typeface="Calibri" panose="020F0502020204030204" pitchFamily="34" charset="0"/>
              </a:rPr>
              <a:t>Environmental scan): </a:t>
            </a:r>
            <a:r>
              <a:rPr lang="fr-FR" sz="1800" b="0" i="0" u="none" strike="noStrike">
                <a:solidFill>
                  <a:srgbClr val="000000"/>
                </a:solidFill>
                <a:effectLst/>
                <a:latin typeface="Calibri" panose="020F0502020204030204" pitchFamily="34" charset="0"/>
                <a:hlinkClick r:id="rId13"/>
              </a:rPr>
              <a:t>apm.core-noyau.de.la.gpa@hc-sc.gc.ca</a:t>
            </a:r>
            <a:r>
              <a:rPr lang="fr-FR" sz="1800" b="0" i="0" u="none" strike="noStrike">
                <a:solidFill>
                  <a:srgbClr val="000000"/>
                </a:solidFill>
                <a:effectLst/>
                <a:latin typeface="Calibri" panose="020F0502020204030204" pitchFamily="34" charset="0"/>
              </a:rPr>
              <a:t>. GC Exchange. TBS/ EA </a:t>
            </a:r>
            <a:r>
              <a:rPr lang="fr-FR" sz="1800" b="0" i="0" u="none" strike="noStrike" err="1">
                <a:solidFill>
                  <a:srgbClr val="000000"/>
                </a:solidFill>
                <a:effectLst/>
                <a:latin typeface="Calibri" panose="020F0502020204030204" pitchFamily="34" charset="0"/>
              </a:rPr>
              <a:t>CoP</a:t>
            </a:r>
            <a:endParaRPr lang="en-CA" sz="1800" b="0" i="0" u="none" strike="noStrike">
              <a:effectLst/>
              <a:latin typeface="Arial" panose="020B060402020202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Product Development/</a:t>
            </a:r>
            <a:r>
              <a:rPr lang="en-CA" sz="1800" b="1" i="0" u="none" strike="noStrike" kern="1200" err="1">
                <a:solidFill>
                  <a:srgbClr val="000000"/>
                </a:solidFill>
                <a:effectLst/>
                <a:latin typeface="Calibri" panose="020F0502020204030204" pitchFamily="34" charset="0"/>
              </a:rPr>
              <a:t>CoE</a:t>
            </a:r>
            <a:r>
              <a:rPr lang="en-CA" sz="1800" b="1" i="0" u="none" strike="noStrike" kern="1200">
                <a:solidFill>
                  <a:srgbClr val="000000"/>
                </a:solidFill>
                <a:effectLst/>
                <a:latin typeface="Calibri" panose="020F0502020204030204" pitchFamily="34" charset="0"/>
              </a:rPr>
              <a:t> </a:t>
            </a:r>
            <a:r>
              <a:rPr lang="en-CA" sz="1800" b="0" i="0" u="none" strike="noStrike" kern="1200">
                <a:solidFill>
                  <a:srgbClr val="000000"/>
                </a:solidFill>
                <a:effectLst/>
                <a:latin typeface="Calibri" panose="020F0502020204030204" pitchFamily="34" charset="0"/>
              </a:rPr>
              <a:t>(</a:t>
            </a:r>
            <a:r>
              <a:rPr lang="en-CA" sz="1800" b="0" i="0" u="none" strike="noStrike">
                <a:solidFill>
                  <a:srgbClr val="000000"/>
                </a:solidFill>
                <a:effectLst/>
                <a:latin typeface="Calibri"/>
              </a:rPr>
              <a:t>Database, SDLC, Data Analytics): </a:t>
            </a:r>
            <a:r>
              <a:rPr lang="en-CA" sz="4000">
                <a:hlinkClick r:id="rId14"/>
              </a:rPr>
              <a:t>Data and Analytics Platform Services (</a:t>
            </a:r>
            <a:r>
              <a:rPr lang="en-CA" sz="4000" err="1">
                <a:hlinkClick r:id="rId14"/>
              </a:rPr>
              <a:t>DaAPS</a:t>
            </a:r>
            <a:r>
              <a:rPr lang="en-CA" sz="4000">
                <a:hlinkClick r:id="rId14"/>
              </a:rPr>
              <a:t>) | services de la </a:t>
            </a:r>
            <a:r>
              <a:rPr lang="en-CA" sz="4000" err="1">
                <a:hlinkClick r:id="rId14"/>
              </a:rPr>
              <a:t>plateforme</a:t>
            </a:r>
            <a:r>
              <a:rPr lang="en-CA" sz="4000">
                <a:hlinkClick r:id="rId14"/>
              </a:rPr>
              <a:t> de données et </a:t>
            </a:r>
            <a:r>
              <a:rPr lang="en-CA" sz="4000" err="1">
                <a:hlinkClick r:id="rId14"/>
              </a:rPr>
              <a:t>d’analyse</a:t>
            </a:r>
            <a:r>
              <a:rPr lang="en-CA" sz="4000">
                <a:hlinkClick r:id="rId14"/>
              </a:rPr>
              <a:t> (SPDA) - Data and Analytics Platform Services (</a:t>
            </a:r>
            <a:r>
              <a:rPr lang="en-CA" sz="4000" err="1">
                <a:hlinkClick r:id="rId14"/>
              </a:rPr>
              <a:t>DaAPS</a:t>
            </a:r>
            <a:r>
              <a:rPr lang="en-CA" sz="4000">
                <a:hlinkClick r:id="rId14"/>
              </a:rPr>
              <a:t>) | Services de la </a:t>
            </a:r>
            <a:r>
              <a:rPr lang="en-CA" sz="4000" err="1">
                <a:hlinkClick r:id="rId14"/>
              </a:rPr>
              <a:t>Plateforme</a:t>
            </a:r>
            <a:r>
              <a:rPr lang="en-CA" sz="4000">
                <a:hlinkClick r:id="rId14"/>
              </a:rPr>
              <a:t> de Données et </a:t>
            </a:r>
            <a:r>
              <a:rPr lang="en-CA" sz="4000" err="1">
                <a:hlinkClick r:id="rId14"/>
              </a:rPr>
              <a:t>d’Analyse</a:t>
            </a:r>
            <a:r>
              <a:rPr lang="en-CA" sz="4000">
                <a:hlinkClick r:id="rId14"/>
              </a:rPr>
              <a:t> (SPDA)  - Confluence</a:t>
            </a:r>
            <a:endParaRPr lang="en-CA" sz="4000"/>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a:cs typeface="Calibri"/>
              </a:rPr>
              <a:t>SSC (via SSM) </a:t>
            </a:r>
            <a:r>
              <a:rPr lang="en-CA" sz="1800" b="0" i="0" u="none" strike="noStrike" kern="1200">
                <a:solidFill>
                  <a:srgbClr val="000000"/>
                </a:solidFill>
                <a:effectLst/>
                <a:latin typeface="Calibri"/>
                <a:cs typeface="Calibri"/>
              </a:rPr>
              <a:t>(</a:t>
            </a:r>
            <a:r>
              <a:rPr lang="en-CA" sz="1800" b="0" i="0" u="none" strike="noStrike">
                <a:solidFill>
                  <a:srgbClr val="000000"/>
                </a:solidFill>
                <a:effectLst/>
                <a:latin typeface="Calibri"/>
                <a:cs typeface="Calibri"/>
              </a:rPr>
              <a:t>SSC services / Business Request</a:t>
            </a:r>
            <a:r>
              <a:rPr lang="en-CA" sz="1800">
                <a:solidFill>
                  <a:srgbClr val="000000"/>
                </a:solidFill>
                <a:latin typeface="Calibri"/>
                <a:cs typeface="Calibri"/>
              </a:rPr>
              <a:t>): </a:t>
            </a:r>
            <a:r>
              <a:rPr lang="en-CA" sz="1800" u="sng" kern="10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5"/>
              </a:rPr>
              <a:t>ssm-gsp@hc-sc.gc.ca</a:t>
            </a:r>
            <a:endParaRPr lang="en-CA" sz="1800" b="0" i="0" u="none" strike="noStrike">
              <a:effectLst/>
              <a:latin typeface="Calibri"/>
              <a:cs typeface="Calibri"/>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CA" sz="1800" b="1" i="0" u="none" strike="noStrike" kern="1200">
                <a:solidFill>
                  <a:srgbClr val="000000"/>
                </a:solidFill>
                <a:effectLst/>
                <a:latin typeface="Calibri" panose="020F0502020204030204" pitchFamily="34" charset="0"/>
              </a:rPr>
              <a:t>Technology Project Office / EA </a:t>
            </a:r>
            <a:r>
              <a:rPr lang="en-CA" sz="1800" b="0" i="0" u="none" strike="noStrike" kern="1200">
                <a:solidFill>
                  <a:srgbClr val="000000"/>
                </a:solidFill>
                <a:effectLst/>
                <a:latin typeface="Calibri" panose="020F0502020204030204" pitchFamily="34" charset="0"/>
              </a:rPr>
              <a:t>(</a:t>
            </a:r>
            <a:r>
              <a:rPr lang="en-CA" sz="1800" b="0" i="0" u="none" strike="noStrike">
                <a:solidFill>
                  <a:srgbClr val="000000"/>
                </a:solidFill>
                <a:effectLst/>
                <a:latin typeface="Calibri"/>
              </a:rPr>
              <a:t>Options Analysis / Technology Assessment/Solution Architecture): </a:t>
            </a:r>
            <a:r>
              <a:rPr lang="fr-FR" sz="1800" b="0" i="0" u="none" strike="noStrike">
                <a:solidFill>
                  <a:srgbClr val="000000"/>
                </a:solidFill>
                <a:effectLst/>
                <a:latin typeface="Calibri"/>
                <a:hlinkClick r:id="rId16"/>
              </a:rPr>
              <a:t>tpo-bpt@hc-sc.gc.ca</a:t>
            </a:r>
            <a:endParaRPr lang="en-CA" sz="1800" b="0" i="0" u="none" strike="noStrike">
              <a:solidFill>
                <a:srgbClr val="000000"/>
              </a:solidFill>
              <a:effectLst/>
              <a:latin typeface="Calibri"/>
            </a:endParaRPr>
          </a:p>
        </p:txBody>
      </p:sp>
      <p:sp>
        <p:nvSpPr>
          <p:cNvPr id="4" name="Slide Number Placeholder 3"/>
          <p:cNvSpPr>
            <a:spLocks noGrp="1"/>
          </p:cNvSpPr>
          <p:nvPr>
            <p:ph type="sldNum" sz="quarter" idx="10"/>
          </p:nvPr>
        </p:nvSpPr>
        <p:spPr/>
        <p:txBody>
          <a:bodyPr/>
          <a:lstStyle/>
          <a:p>
            <a:fld id="{EB3A5D88-BC26-4EFA-A680-927F6A4ACCF4}" type="slidenum">
              <a:rPr lang="en-CA" smtClean="0"/>
              <a:t>17</a:t>
            </a:fld>
            <a:endParaRPr lang="en-CA"/>
          </a:p>
        </p:txBody>
      </p:sp>
    </p:spTree>
    <p:extLst>
      <p:ext uri="{BB962C8B-B14F-4D97-AF65-F5344CB8AC3E}">
        <p14:creationId xmlns:p14="http://schemas.microsoft.com/office/powerpoint/2010/main" val="3511747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200" b="0" u="none"/>
              <a:t>This slide should be included for ARB, DASH, and GC EARB Gate 2 only.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could be completed by the Project Architect or Program Lead.</a:t>
            </a:r>
            <a:endParaRPr lang="en-US" b="1" u="sng"/>
          </a:p>
          <a:p>
            <a:endParaRPr lang="en-US" b="1" u="sng"/>
          </a:p>
          <a:p>
            <a:r>
              <a:rPr lang="en-US" b="1" u="sng"/>
              <a:t>Slide Instructions:</a:t>
            </a:r>
          </a:p>
          <a:p>
            <a:pPr marL="171450" indent="-171450">
              <a:buFont typeface="Arial" panose="020B0604020202020204" pitchFamily="34" charset="0"/>
              <a:buChar char="•"/>
            </a:pPr>
            <a:r>
              <a:rPr lang="en-US"/>
              <a:t>The slide contains two tables: an options evaluation grid; and a rating score reference table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 content of both tables is provided as examples and should be changed to suit the requirements of the current proposal under review.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Normally the evaluation table on this slide will be completed through a consensus review process by the project team involving multiple stakeholders, or possibly by a third-party review team (e.g. results of RFP process).</a:t>
            </a:r>
          </a:p>
          <a:p>
            <a:pPr marL="171450" lvl="0" indent="-171450">
              <a:buFont typeface="Arial" panose="020B0604020202020204" pitchFamily="34" charset="0"/>
              <a:buChar char="•"/>
            </a:pPr>
            <a:r>
              <a:rPr lang="en-US"/>
              <a:t>Top table contains the evaluation grid, with content to be filled in with results of any options analysis used for the current initiative (if one has been completed).</a:t>
            </a:r>
          </a:p>
          <a:p>
            <a:pPr marL="628650" lvl="1" indent="-171450">
              <a:buFont typeface="Arial" panose="020B0604020202020204" pitchFamily="34" charset="0"/>
              <a:buChar char="•"/>
            </a:pPr>
            <a:r>
              <a:rPr lang="en-US"/>
              <a:t>The top-left cell serves as a header for both the top row (Technology Options) and for the left column (Evaluation Criteria).</a:t>
            </a:r>
          </a:p>
          <a:p>
            <a:pPr marL="628650" lvl="1" indent="-171450">
              <a:buFont typeface="Arial" panose="020B0604020202020204" pitchFamily="34" charset="0"/>
              <a:buChar char="•"/>
            </a:pPr>
            <a:r>
              <a:rPr lang="en-US"/>
              <a:t>First left-most column contains the list of evaluation criteria, one criterion per row, and Total Score at the bottom.</a:t>
            </a:r>
          </a:p>
          <a:p>
            <a:pPr marL="628650" lvl="1" indent="-171450">
              <a:buFont typeface="Arial" panose="020B0604020202020204" pitchFamily="34" charset="0"/>
              <a:buChar char="•"/>
            </a:pPr>
            <a:r>
              <a:rPr lang="en-US"/>
              <a:t>Next five columns include headers with each of the evaluated options, and cells that list the respective score for each option rated against the corresponding evaluation criterion.</a:t>
            </a:r>
          </a:p>
          <a:p>
            <a:pPr marL="171450" indent="-171450">
              <a:buFont typeface="Arial" panose="020B0604020202020204" pitchFamily="34" charset="0"/>
              <a:buChar char="•"/>
            </a:pPr>
            <a:r>
              <a:rPr lang="en-US"/>
              <a:t>The table has been pre-populated with example content from a prior presentation. This should be adjusted or deleted for the current presentation.  </a:t>
            </a:r>
          </a:p>
          <a:p>
            <a:pPr marL="171450" indent="-171450">
              <a:buFont typeface="Arial" panose="020B0604020202020204" pitchFamily="34" charset="0"/>
              <a:buChar char="•"/>
            </a:pPr>
            <a:r>
              <a:rPr lang="en-US"/>
              <a:t>Bottom table is a reference grid with two columns, the first containing a set of rating scores, and the second showing the corresponding interpretations.</a:t>
            </a:r>
          </a:p>
          <a:p>
            <a:pPr marL="171450" indent="-171450">
              <a:buFont typeface="Arial" panose="020B0604020202020204" pitchFamily="34" charset="0"/>
              <a:buChar char="•"/>
            </a:pPr>
            <a:r>
              <a:rPr lang="en-US"/>
              <a:t>It is intended to be used as a reference for evaluation of the options against the stated criteria in the top table.  The content of the bottom reference table is as follows:</a:t>
            </a:r>
          </a:p>
          <a:p>
            <a:pPr marL="457200" lvl="1" indent="0">
              <a:buFont typeface="Arial" panose="020B0604020202020204" pitchFamily="34" charset="0"/>
              <a:buNone/>
            </a:pPr>
            <a:r>
              <a:rPr lang="en-US"/>
              <a:t>Rating	Interpretation</a:t>
            </a:r>
          </a:p>
          <a:p>
            <a:pPr marL="457200" lvl="1" indent="0">
              <a:buFont typeface="Arial" panose="020B0604020202020204" pitchFamily="34" charset="0"/>
              <a:buNone/>
            </a:pPr>
            <a:r>
              <a:rPr lang="en-US"/>
              <a:t>4	Fully – The option fully meets the expectations defined by the criterion.</a:t>
            </a:r>
          </a:p>
          <a:p>
            <a:pPr marL="457200" lvl="1" indent="0">
              <a:buFont typeface="Arial" panose="020B0604020202020204" pitchFamily="34" charset="0"/>
              <a:buNone/>
            </a:pPr>
            <a:r>
              <a:rPr lang="en-US"/>
              <a:t>3	Mostly – The option almost completely meets the expectations defined by the criterion.</a:t>
            </a:r>
          </a:p>
          <a:p>
            <a:pPr marL="457200" lvl="1" indent="0">
              <a:buFont typeface="Arial" panose="020B0604020202020204" pitchFamily="34" charset="0"/>
              <a:buNone/>
            </a:pPr>
            <a:r>
              <a:rPr lang="en-US"/>
              <a:t>2	Partially – The option only partially meets the expectations defined by the criterion.</a:t>
            </a:r>
          </a:p>
          <a:p>
            <a:pPr marL="457200" lvl="1" indent="0">
              <a:buFont typeface="Arial" panose="020B0604020202020204" pitchFamily="34" charset="0"/>
              <a:buNone/>
            </a:pPr>
            <a:r>
              <a:rPr lang="en-US"/>
              <a:t>1	Poorly – The option does a poor job of meeting the expectations defined by the criterion.</a:t>
            </a:r>
          </a:p>
          <a:p>
            <a:pPr marL="457200" lvl="1" indent="0">
              <a:buFont typeface="Arial" panose="020B0604020202020204" pitchFamily="34" charset="0"/>
              <a:buNone/>
            </a:pPr>
            <a:r>
              <a:rPr lang="en-US"/>
              <a:t>0	None – The option does not meet the expectations defined by the criterion. </a:t>
            </a:r>
          </a:p>
          <a:p>
            <a:pPr marL="457200" lvl="1" indent="0">
              <a:buFont typeface="Arial" panose="020B0604020202020204" pitchFamily="34" charset="0"/>
              <a:buNone/>
            </a:pPr>
            <a:r>
              <a:rPr lang="en-US"/>
              <a:t>X	Non-Compliant – The option is non-compliant regarding a given mandatory criterion. </a:t>
            </a:r>
          </a:p>
          <a:p>
            <a:pPr marL="171450" indent="-171450">
              <a:buFont typeface="Arial" panose="020B0604020202020204" pitchFamily="34" charset="0"/>
              <a:buChar char="•"/>
            </a:pPr>
            <a:r>
              <a:rPr lang="en-US"/>
              <a:t>The diagonal text field with the watermark “Example” should also be deleted.</a:t>
            </a:r>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solidFill>
                  <a:prstClr val="black"/>
                </a:solidFill>
              </a:rPr>
              <a:pPr/>
              <a:t>18</a:t>
            </a:fld>
            <a:endParaRPr lang="en-CA">
              <a:solidFill>
                <a:prstClr val="black"/>
              </a:solidFill>
            </a:endParaRPr>
          </a:p>
        </p:txBody>
      </p:sp>
    </p:spTree>
    <p:extLst>
      <p:ext uri="{BB962C8B-B14F-4D97-AF65-F5344CB8AC3E}">
        <p14:creationId xmlns:p14="http://schemas.microsoft.com/office/powerpoint/2010/main" val="2896492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b="1" u="sng"/>
              <a:t>Slide Instructions:</a:t>
            </a:r>
          </a:p>
          <a:p>
            <a:pPr marL="171450" indent="-171450">
              <a:buFont typeface="Arial" panose="020B0604020202020204" pitchFamily="34" charset="0"/>
              <a:buChar char="•"/>
            </a:pPr>
            <a:r>
              <a:rPr lang="en-US"/>
              <a:t>To be completed by HC or TBS EA Team.</a:t>
            </a:r>
            <a:endParaRPr lang="en-US">
              <a:ea typeface="Calibri"/>
              <a:cs typeface="Calibri"/>
            </a:endParaRPr>
          </a:p>
          <a:p>
            <a:pPr marL="171450" indent="-171450">
              <a:buFont typeface="Arial" panose="020B0604020202020204" pitchFamily="34" charset="0"/>
              <a:buChar char="•"/>
            </a:pPr>
            <a:r>
              <a:rPr lang="en-US"/>
              <a:t>The slide contains 2 tables:</a:t>
            </a:r>
            <a:endParaRPr lang="en-US">
              <a:ea typeface="Calibri"/>
              <a:cs typeface="Calibri"/>
            </a:endParaRPr>
          </a:p>
          <a:p>
            <a:pPr marL="628650" lvl="1" indent="-171450">
              <a:buFont typeface="Arial" panose="020B0604020202020204" pitchFamily="34" charset="0"/>
              <a:buChar char="•"/>
            </a:pPr>
            <a:r>
              <a:rPr lang="en-US"/>
              <a:t>Top table will contain the observations of the TBS EA assessor for each of the five architecture layers, as well as an indicator of the degree of alignment (Fully, Partially, Not) based on a review of the Target Architecture and related EA Framework responses provided in the appendices.</a:t>
            </a:r>
            <a:endParaRPr lang="en-US">
              <a:ea typeface="Calibri"/>
              <a:cs typeface="Calibri"/>
            </a:endParaRPr>
          </a:p>
          <a:p>
            <a:pPr marL="628650" lvl="1" indent="-171450">
              <a:buFont typeface="Arial" panose="020B0604020202020204" pitchFamily="34" charset="0"/>
              <a:buChar char="•"/>
            </a:pPr>
            <a:r>
              <a:rPr lang="en-US"/>
              <a:t>Bottom table will contain the recommendation for GC EARB decision (i.e. Endorsement, Endorsement with Conditions) and a brief statement of any proposed conditions.  This will often be adopted as the decision statement for the item in the Record of Discussions.</a:t>
            </a:r>
            <a:endParaRPr lang="en-US">
              <a:ea typeface="Calibri"/>
              <a:cs typeface="Calibri"/>
            </a:endParaRPr>
          </a:p>
          <a:p>
            <a:pPr marL="171450" indent="-171450">
              <a:buFont typeface="Arial" panose="020B0604020202020204" pitchFamily="34" charset="0"/>
              <a:buChar char="•"/>
            </a:pPr>
            <a:r>
              <a:rPr lang="en-US"/>
              <a:t>This slide is normally the last slide during EARB presentation</a:t>
            </a:r>
            <a:endParaRPr lang="en-US">
              <a:ea typeface="Calibri"/>
              <a:cs typeface="Calibri"/>
            </a:endParaRP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r>
              <a:rPr lang="en-CA" i="1"/>
              <a:t>SharePoint is the sole </a:t>
            </a:r>
            <a:r>
              <a:rPr lang="en-CA" i="1">
                <a:solidFill>
                  <a:srgbClr val="0563C1"/>
                </a:solidFill>
              </a:rPr>
              <a:t>official corporate repository </a:t>
            </a:r>
            <a:r>
              <a:rPr lang="en-CA" i="1"/>
              <a:t>in use across all HC and PHAC branches. SACR is designed to manage a division's day-to-day end-user created documents. SACR may not be a suitable replacement for custom applications used in existing processes. Extending the use of SharePoint to support business solutions and applications will be assessed on a case-by-case basis.</a:t>
            </a:r>
            <a:endParaRPr lang="en-CA">
              <a:solidFill>
                <a:srgbClr val="444444"/>
              </a:solidFill>
            </a:endParaRPr>
          </a:p>
          <a:p>
            <a:r>
              <a:rPr lang="en-CA"/>
              <a:t> </a:t>
            </a:r>
            <a:endParaRPr lang="en-US">
              <a:solidFill>
                <a:srgbClr val="444444"/>
              </a:solidFill>
            </a:endParaRPr>
          </a:p>
          <a:p>
            <a:r>
              <a:rPr lang="en-CA">
                <a:solidFill>
                  <a:srgbClr val="444444"/>
                </a:solidFill>
                <a:hlinkClick r:id="rId3"/>
              </a:rPr>
              <a:t>https://mysource.hc-sc.gc.ca/sites/default/files/2024-06/IM%20Standard%20-%20SACR%20Rules.pdf</a:t>
            </a:r>
            <a:endParaRPr lang="en-CA"/>
          </a:p>
          <a:p>
            <a:endParaRPr lang="en-CA">
              <a:ea typeface="Calibri"/>
              <a:cs typeface="Calibri"/>
            </a:endParaRPr>
          </a:p>
        </p:txBody>
      </p:sp>
      <p:sp>
        <p:nvSpPr>
          <p:cNvPr id="4" name="Slide Number Placeholder 3"/>
          <p:cNvSpPr>
            <a:spLocks noGrp="1"/>
          </p:cNvSpPr>
          <p:nvPr>
            <p:ph type="sldNum" sz="quarter" idx="10"/>
          </p:nvPr>
        </p:nvSpPr>
        <p:spPr/>
        <p:txBody>
          <a:bodyPr/>
          <a:lstStyle/>
          <a:p>
            <a:pPr>
              <a:defRPr/>
            </a:pPr>
            <a:fld id="{5AA7FD66-F810-415C-9FF2-DF680522269D}" type="slidenum">
              <a:rPr lang="en-CA" altLang="en-US" smtClean="0"/>
              <a:pPr>
                <a:defRPr/>
              </a:pPr>
              <a:t>20</a:t>
            </a:fld>
            <a:endParaRPr lang="en-CA" altLang="en-US"/>
          </a:p>
        </p:txBody>
      </p:sp>
    </p:spTree>
    <p:extLst>
      <p:ext uri="{BB962C8B-B14F-4D97-AF65-F5344CB8AC3E}">
        <p14:creationId xmlns:p14="http://schemas.microsoft.com/office/powerpoint/2010/main" val="3933961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Slide Instructions:</a:t>
            </a:r>
          </a:p>
          <a:p>
            <a:pPr marL="171450" indent="-171450">
              <a:buFont typeface="Arial" panose="020B0604020202020204" pitchFamily="34" charset="0"/>
              <a:buChar char="•"/>
            </a:pPr>
            <a:r>
              <a:rPr lang="en-US"/>
              <a:t>To be completed by TBS EA Team if solution is being proposed as an Enterprise Solution in Appendix 2.</a:t>
            </a:r>
          </a:p>
          <a:p>
            <a:pPr marL="171450" indent="-171450">
              <a:buFont typeface="Arial" panose="020B0604020202020204" pitchFamily="34" charset="0"/>
              <a:buChar char="•"/>
            </a:pPr>
            <a:r>
              <a:rPr lang="en-US"/>
              <a:t>The slide contains 2 tables:</a:t>
            </a:r>
          </a:p>
          <a:p>
            <a:pPr marL="628650" lvl="1" indent="-171450">
              <a:buFont typeface="Arial" panose="020B0604020202020204" pitchFamily="34" charset="0"/>
              <a:buChar char="•"/>
            </a:pPr>
            <a:r>
              <a:rPr lang="en-US"/>
              <a:t>Top table will contain the observations of the TBS EA assessor for each of the three facets of the Enterprise Solution Framework</a:t>
            </a:r>
            <a:r>
              <a:rPr lang="en-US" sz="1800">
                <a:effectLst/>
                <a:latin typeface="Calibri" panose="020F0502020204030204" pitchFamily="34" charset="0"/>
                <a:ea typeface="Calibri" panose="020F0502020204030204" pitchFamily="34" charset="0"/>
                <a:cs typeface="Times New Roman" panose="02020603050405020304" pitchFamily="18" charset="0"/>
              </a:rPr>
              <a:t>, as well as an indicator of the degree of alignment (Fully, Partially, Not),</a:t>
            </a:r>
            <a:r>
              <a:rPr lang="en-US"/>
              <a:t> based on</a:t>
            </a:r>
            <a:r>
              <a:rPr lang="en-US" sz="1800">
                <a:effectLst/>
                <a:latin typeface="Calibri" panose="020F0502020204030204" pitchFamily="34" charset="0"/>
                <a:ea typeface="Calibri" panose="020F0502020204030204" pitchFamily="34" charset="0"/>
                <a:cs typeface="Times New Roman" panose="02020603050405020304" pitchFamily="18" charset="0"/>
              </a:rPr>
              <a:t> a review of </a:t>
            </a:r>
            <a:r>
              <a:rPr lang="en-US"/>
              <a:t>the responses provided in Appendix 2.</a:t>
            </a:r>
          </a:p>
          <a:p>
            <a:pPr marL="628650" lvl="1" indent="-171450">
              <a:buFont typeface="Arial" panose="020B0604020202020204" pitchFamily="34" charset="0"/>
              <a:buChar char="•"/>
            </a:pPr>
            <a:r>
              <a:rPr lang="en-US"/>
              <a:t>Bottom table will contain the recommendation for GC EARB decision (i.e. Endorsement, Endorsement with Conditions) and a brief statement of any proposed conditions.  This will often be adopted as the decision statement for the item in the Record of Discussions.</a:t>
            </a:r>
          </a:p>
          <a:p>
            <a:pPr marL="171450" lvl="0" indent="-171450">
              <a:buFont typeface="Arial" panose="020B0604020202020204" pitchFamily="34" charset="0"/>
              <a:buChar char="•"/>
            </a:pPr>
            <a:r>
              <a:rPr lang="en-US"/>
              <a:t>If used, this will be the last slide during EARB presentation</a:t>
            </a:r>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5"/>
          </p:nvPr>
        </p:nvSpPr>
        <p:spPr/>
        <p:txBody>
          <a:bodyPr/>
          <a:lstStyle/>
          <a:p>
            <a:fld id="{EB3A5D88-BC26-4EFA-A680-927F6A4ACCF4}" type="slidenum">
              <a:rPr lang="en-CA" smtClean="0"/>
              <a:t>21</a:t>
            </a:fld>
            <a:endParaRPr lang="en-CA"/>
          </a:p>
        </p:txBody>
      </p:sp>
    </p:spTree>
    <p:extLst>
      <p:ext uri="{BB962C8B-B14F-4D97-AF65-F5344CB8AC3E}">
        <p14:creationId xmlns:p14="http://schemas.microsoft.com/office/powerpoint/2010/main" val="3913963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a:t>This slide should be included for ARB, DASH, and GC EARB.</a:t>
            </a:r>
          </a:p>
          <a:p>
            <a:pPr marL="0" marR="0" lvl="0" indent="0" algn="l" defTabSz="914400" rtl="0" eaLnBrk="1" fontAlgn="auto" latinLnBrk="0" hangingPunct="1">
              <a:lnSpc>
                <a:spcPct val="100000"/>
              </a:lnSpc>
              <a:spcBef>
                <a:spcPts val="0"/>
              </a:spcBef>
              <a:spcAft>
                <a:spcPts val="0"/>
              </a:spcAft>
              <a:buClrTx/>
              <a:buSzTx/>
              <a:buFontTx/>
              <a:buNone/>
              <a:tabLst/>
              <a:defRPr/>
            </a:pPr>
            <a:r>
              <a:rPr lang="en-CA"/>
              <a:t>To be completed by the project team</a:t>
            </a:r>
            <a:endParaRPr lang="en-US"/>
          </a:p>
          <a:p>
            <a:endParaRPr lang="en-US" b="1" u="sng"/>
          </a:p>
          <a:p>
            <a:r>
              <a:rPr lang="en-US" b="1" u="sng"/>
              <a:t>Slide Instructions:</a:t>
            </a:r>
          </a:p>
          <a:p>
            <a:pPr marL="171450" indent="-171450">
              <a:buFont typeface="Arial" panose="020B0604020202020204" pitchFamily="34" charset="0"/>
              <a:buChar char="•"/>
            </a:pPr>
            <a:r>
              <a:rPr lang="en-US"/>
              <a:t>This slide contains a table with 2 columns: Left-side column has header “Acronym” and right-side column has header “Definition”</a:t>
            </a:r>
          </a:p>
          <a:p>
            <a:pPr marL="171450" indent="-171450">
              <a:buFont typeface="Arial" panose="020B0604020202020204" pitchFamily="34" charset="0"/>
              <a:buChar char="•"/>
            </a:pPr>
            <a:r>
              <a:rPr lang="en-US"/>
              <a:t>List all acronyms used in the presentation and provide a corresponding definition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The table has been partially pre-populated with examples from the appendices.</a:t>
            </a: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22</a:t>
            </a:fld>
            <a:endParaRPr lang="en-CA"/>
          </a:p>
        </p:txBody>
      </p:sp>
    </p:spTree>
    <p:extLst>
      <p:ext uri="{BB962C8B-B14F-4D97-AF65-F5344CB8AC3E}">
        <p14:creationId xmlns:p14="http://schemas.microsoft.com/office/powerpoint/2010/main" val="112193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slide contains a table with three columns used to list the business capabilities addressed with this architecture.</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More details on the Business Capability Model 2.0 reference material can be found at: </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https://wiki.gccollab.ca/GC_Enterprise_Architecture/Business_Capability_Model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Delete all rows that are not applicable to the current presentation</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should focus on the top 3-5 relevant business capabilities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table has been pre-populated with example content from a prior presentation. This should be adjusted or deleted for the current presentation.  </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diagonal text field with the watermark “Example” should also be deleted.</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third column is optional and may be deleted.  It contains a mapping to corresponding elements in the departmental business capability model, but if the department does not have one, it should be removed.</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23</a:t>
            </a:fld>
            <a:endParaRPr lang="en-CA"/>
          </a:p>
        </p:txBody>
      </p:sp>
    </p:spTree>
    <p:extLst>
      <p:ext uri="{BB962C8B-B14F-4D97-AF65-F5344CB8AC3E}">
        <p14:creationId xmlns:p14="http://schemas.microsoft.com/office/powerpoint/2010/main" val="2563183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text box at the top of the body section of this slide contains static text with an overview statement about the Business Architecture layer of the GC EA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text box is a table with two columns that is used to capture information related to the Business Architecture 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24</a:t>
            </a:fld>
            <a:endParaRPr lang="en-CA"/>
          </a:p>
        </p:txBody>
      </p:sp>
    </p:spTree>
    <p:extLst>
      <p:ext uri="{BB962C8B-B14F-4D97-AF65-F5344CB8AC3E}">
        <p14:creationId xmlns:p14="http://schemas.microsoft.com/office/powerpoint/2010/main" val="646239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slide contains a table that is used to capture information related to the Business Architecture criteria from the GC EA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table is composed of two columns.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25</a:t>
            </a:fld>
            <a:endParaRPr lang="en-CA"/>
          </a:p>
        </p:txBody>
      </p:sp>
    </p:spTree>
    <p:extLst>
      <p:ext uri="{BB962C8B-B14F-4D97-AF65-F5344CB8AC3E}">
        <p14:creationId xmlns:p14="http://schemas.microsoft.com/office/powerpoint/2010/main" val="2549286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text box at the top of the body section of this slide contains static text with an overview statement about the Information Architecture layer of the GC EA Framework:</a:t>
            </a:r>
          </a:p>
          <a:p>
            <a:pPr marL="742950" marR="0" lvl="1" indent="-285750">
              <a:lnSpc>
                <a:spcPct val="107000"/>
              </a:lnSpc>
              <a:spcBef>
                <a:spcPts val="0"/>
              </a:spcBef>
              <a:spcAft>
                <a:spcPts val="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text box is a table with two columns that is used to capture information related to the Information Architecture 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26</a:t>
            </a:fld>
            <a:endParaRPr lang="en-CA"/>
          </a:p>
        </p:txBody>
      </p:sp>
    </p:spTree>
    <p:extLst>
      <p:ext uri="{BB962C8B-B14F-4D97-AF65-F5344CB8AC3E}">
        <p14:creationId xmlns:p14="http://schemas.microsoft.com/office/powerpoint/2010/main" val="7228743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slide contains a table with two columns that is used to capture information related to the Information Architecture criteria from the GC EA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table is composed of two columns.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27</a:t>
            </a:fld>
            <a:endParaRPr lang="en-CA"/>
          </a:p>
        </p:txBody>
      </p:sp>
    </p:spTree>
    <p:extLst>
      <p:ext uri="{BB962C8B-B14F-4D97-AF65-F5344CB8AC3E}">
        <p14:creationId xmlns:p14="http://schemas.microsoft.com/office/powerpoint/2010/main" val="2023276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slide contains a table with two columns that is used to capture information related to the Information Architecture criteria from the GC EA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table is composed of two columns.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28</a:t>
            </a:fld>
            <a:endParaRPr lang="en-CA"/>
          </a:p>
        </p:txBody>
      </p:sp>
    </p:spTree>
    <p:extLst>
      <p:ext uri="{BB962C8B-B14F-4D97-AF65-F5344CB8AC3E}">
        <p14:creationId xmlns:p14="http://schemas.microsoft.com/office/powerpoint/2010/main" val="3373213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text box at the top of the body section of this slide contains static text with an overview statement about the Application Architecture layer of the GC EA Framework:</a:t>
            </a:r>
          </a:p>
          <a:p>
            <a:pPr marL="742950" marR="0" lvl="1" indent="-285750">
              <a:lnSpc>
                <a:spcPct val="107000"/>
              </a:lnSpc>
              <a:spcBef>
                <a:spcPts val="0"/>
              </a:spcBef>
              <a:spcAft>
                <a:spcPts val="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text box is a table with two columns that is used to capture information related to the Application Architecture 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29</a:t>
            </a:fld>
            <a:endParaRPr lang="en-CA"/>
          </a:p>
        </p:txBody>
      </p:sp>
    </p:spTree>
    <p:extLst>
      <p:ext uri="{BB962C8B-B14F-4D97-AF65-F5344CB8AC3E}">
        <p14:creationId xmlns:p14="http://schemas.microsoft.com/office/powerpoint/2010/main" val="28530145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text box at the top of the body section of this slide contains static text with an overview statement about the Technology Architecture layer of the GC EA Framework:</a:t>
            </a:r>
          </a:p>
          <a:p>
            <a:pPr marL="742950" marR="0" lvl="1" indent="-285750">
              <a:lnSpc>
                <a:spcPct val="107000"/>
              </a:lnSpc>
              <a:spcBef>
                <a:spcPts val="0"/>
              </a:spcBef>
              <a:spcAft>
                <a:spcPts val="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text box is a table with two columns that is used to capture information related to the Technology Architecture 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30</a:t>
            </a:fld>
            <a:endParaRPr lang="en-CA"/>
          </a:p>
        </p:txBody>
      </p:sp>
    </p:spTree>
    <p:extLst>
      <p:ext uri="{BB962C8B-B14F-4D97-AF65-F5344CB8AC3E}">
        <p14:creationId xmlns:p14="http://schemas.microsoft.com/office/powerpoint/2010/main" val="602595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slide contains a table with two columns that is used to capture information related to the Technology Architecture criteria from the GC EA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table is composed of two columns.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31</a:t>
            </a:fld>
            <a:endParaRPr lang="en-CA"/>
          </a:p>
        </p:txBody>
      </p:sp>
    </p:spTree>
    <p:extLst>
      <p:ext uri="{BB962C8B-B14F-4D97-AF65-F5344CB8AC3E}">
        <p14:creationId xmlns:p14="http://schemas.microsoft.com/office/powerpoint/2010/main" val="40620796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text box at the top of the body section of this slide contains static text with an overview statement about the Security Architecture layer of the GC EA Framework:</a:t>
            </a:r>
          </a:p>
          <a:p>
            <a:pPr marL="742950" marR="0" lvl="1" indent="-285750">
              <a:lnSpc>
                <a:spcPct val="107000"/>
              </a:lnSpc>
              <a:spcBef>
                <a:spcPts val="0"/>
              </a:spcBef>
              <a:spcAft>
                <a:spcPts val="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text box is a table with two columns that is used to capture information related to the Security Architecture 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pPr marL="0" indent="0">
              <a:buFont typeface="Arial" panose="020B0604020202020204" pitchFamily="34" charset="0"/>
              <a:buNone/>
            </a:pPr>
            <a:endParaRPr lang="en-US"/>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32</a:t>
            </a:fld>
            <a:endParaRPr lang="en-CA"/>
          </a:p>
        </p:txBody>
      </p:sp>
    </p:spTree>
    <p:extLst>
      <p:ext uri="{BB962C8B-B14F-4D97-AF65-F5344CB8AC3E}">
        <p14:creationId xmlns:p14="http://schemas.microsoft.com/office/powerpoint/2010/main" val="2076213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This slide contains a table with two columns that is used to capture information related to the Security Architecture criteria from the GC EA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https://www.canada.ca/en/government/system/digital-government/policies-standards/government-canada-enterprise-architecture-framework.html</a:t>
            </a:r>
          </a:p>
          <a:p>
            <a:pPr marL="342900" marR="0" lvl="0" indent="-342900">
              <a:lnSpc>
                <a:spcPct val="107000"/>
              </a:lnSpc>
              <a:spcBef>
                <a:spcPts val="0"/>
              </a:spcBef>
              <a:spcAft>
                <a:spcPts val="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table is composed of two columns.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high-level criteria from the GC EA Framework. These statements are labeled with letter-number pairs (e.g. “B-1.”)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each high-level criterion heading is a listing of multiple rows with the related sub-criteria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this be achieved?” corresponding to each of the high-level criteria, and below this are a set of blank cells in the rows for the sub-criteria.</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demonstrate how the corresponding sub-criteria requirements in the left-side column are being addressed in the Target Architecture of the current presentation.</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t>33</a:t>
            </a:fld>
            <a:endParaRPr lang="en-CA"/>
          </a:p>
        </p:txBody>
      </p:sp>
    </p:spTree>
    <p:extLst>
      <p:ext uri="{BB962C8B-B14F-4D97-AF65-F5344CB8AC3E}">
        <p14:creationId xmlns:p14="http://schemas.microsoft.com/office/powerpoint/2010/main" val="30747323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Appendix 2 is to be completed by the presenting department if solution is being proposed as an Enterprise Solution.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text box at the top of the body section of this slide contains static text with a definition of Enterprise Solutions and a link to information on the GC Enterprise Architecture wiki:</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https://wiki.gccollab.ca/GC_Enterprise_Architecture/Enterprise_Solutions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text box is a table with two columns that is used to capture responses to questions in the for the first facet in the Enterprise Solution Framework: Governance.</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facets from the Enterprise Solution Framework. These facets are labeled with letter-number pairs (e.g. “ES-1.”)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facet heading is a listing of multiple rows with the related questions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the questions for this facet be addressed?” and below this are a set of blank cells to capture the responses to the questions.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provide responses to the questions in the left-side column for the proposed solution in the current presentation.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A5D88-BC26-4EFA-A680-927F6A4ACCF4}"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041498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Appendix 2 is to be completed by the presenting department if solution is being proposed as an Enterprise Solution.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This slide contains </a:t>
            </a:r>
            <a:r>
              <a:rPr lang="en-US" sz="1100">
                <a:effectLst/>
                <a:latin typeface="Calibri" panose="020F0502020204030204" pitchFamily="34" charset="0"/>
                <a:ea typeface="Calibri" panose="020F0502020204030204" pitchFamily="34" charset="0"/>
                <a:cs typeface="Times New Roman" panose="02020603050405020304" pitchFamily="18" charset="0"/>
              </a:rPr>
              <a:t>a table with two columns that is used to capture responses to questions in the for the second and third facets in the Enterprise Solution Framework: Culture and Solutions.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Left-side column is structured on the facets from the Enterprise Solution Framework. These facets are labeled with letter-number pairs (e.g. “ES-1.”) and serve as headings for subsequent rows.</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Below the facet heading is a listing of multiple rows with the related questions from the Framework.</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Right-side column contains a heading cell with the question “HOW will the questions for this facet be addressed?” and below this are a set of blank cells to capture the responses to the questions.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The presenting department should provide any relevant details in the blank cells to provide responses to the questions in the left-side column for the proposed solution in the current presentation.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200">
              <a:latin typeface="Comic Sans MS" panose="030F0702030302020204" pitchFamily="66"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A5D88-BC26-4EFA-A680-927F6A4ACCF4}"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71874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This slide consists of two tables presented one above the other. Both tables have the same format, with two columns, where the left-side column contains they type of detail to be provided, and the right-side column is a cell in which the requested details are to be entered.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Any text in the right-side cells may be replaced with the information indicated.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For help in completing this slide feel free to contact your Client Executive: </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https://service.ssc-spc.gc.ca/en/contact/partclisupport/client-execs </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solidFill>
                  <a:prstClr val="black"/>
                </a:solidFill>
              </a:rPr>
              <a:pPr/>
              <a:t>36</a:t>
            </a:fld>
            <a:endParaRPr lang="en-CA">
              <a:solidFill>
                <a:prstClr val="black"/>
              </a:solidFill>
            </a:endParaRPr>
          </a:p>
        </p:txBody>
      </p:sp>
    </p:spTree>
    <p:extLst>
      <p:ext uri="{BB962C8B-B14F-4D97-AF65-F5344CB8AC3E}">
        <p14:creationId xmlns:p14="http://schemas.microsoft.com/office/powerpoint/2010/main" val="17255620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This slide consists of two tables presented side-by-side. Both tables have the same format, with two columns, where the left-side column contains they type of detail to be provided, and the right-side column is an empty cell in which the requested details are to be entered.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Some of the left-side cells include a brief list of possible response options.  For those, complete the information on this slide by selecting values from the listed options, or providing an additional value where applicable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For help in completing this slide refer to the guidance on: </a:t>
            </a: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US" sz="1100">
                <a:effectLst/>
                <a:latin typeface="Calibri" panose="020F0502020204030204" pitchFamily="34" charset="0"/>
                <a:ea typeface="Calibri" panose="020F0502020204030204" pitchFamily="34" charset="0"/>
                <a:cs typeface="Times New Roman" panose="02020603050405020304" pitchFamily="18" charset="0"/>
              </a:rPr>
              <a:t>https://wiki.gccollab.ca/GC_EARB_Presenter_Template_%E2%80%93_SSC_Appendix_3_Guidelines</a:t>
            </a:r>
          </a:p>
          <a:p>
            <a:endParaRPr lang="en-US"/>
          </a:p>
        </p:txBody>
      </p:sp>
      <p:sp>
        <p:nvSpPr>
          <p:cNvPr id="4" name="Slide Number Placeholder 3"/>
          <p:cNvSpPr>
            <a:spLocks noGrp="1"/>
          </p:cNvSpPr>
          <p:nvPr>
            <p:ph type="sldNum" sz="quarter" idx="10"/>
          </p:nvPr>
        </p:nvSpPr>
        <p:spPr/>
        <p:txBody>
          <a:bodyPr/>
          <a:lstStyle/>
          <a:p>
            <a:fld id="{EB3A5D88-BC26-4EFA-A680-927F6A4ACCF4}" type="slidenum">
              <a:rPr lang="en-CA" smtClean="0">
                <a:solidFill>
                  <a:prstClr val="black"/>
                </a:solidFill>
              </a:rPr>
              <a:pPr/>
              <a:t>37</a:t>
            </a:fld>
            <a:endParaRPr lang="en-CA">
              <a:solidFill>
                <a:prstClr val="black"/>
              </a:solidFill>
            </a:endParaRPr>
          </a:p>
        </p:txBody>
      </p:sp>
    </p:spTree>
    <p:extLst>
      <p:ext uri="{BB962C8B-B14F-4D97-AF65-F5344CB8AC3E}">
        <p14:creationId xmlns:p14="http://schemas.microsoft.com/office/powerpoint/2010/main" val="28991092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u="none"/>
              <a:t>This slide should be included for GC EARB only.</a:t>
            </a:r>
          </a:p>
          <a:p>
            <a:r>
              <a:rPr lang="en-US" sz="1100" b="0" u="none"/>
              <a:t>This slide should be completed by your project architect with assistance from enterprise architecture.</a:t>
            </a:r>
          </a:p>
          <a:p>
            <a:pPr marL="0" marR="0">
              <a:lnSpc>
                <a:spcPct val="107000"/>
              </a:lnSpc>
              <a:spcBef>
                <a:spcPts val="0"/>
              </a:spcBef>
              <a:spcAft>
                <a:spcPts val="800"/>
              </a:spcAft>
            </a:pPr>
            <a:endParaRPr lang="en-US" sz="1100" b="1" u="sng">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100" b="1" u="sng">
                <a:effectLst/>
                <a:latin typeface="Calibri" panose="020F0502020204030204" pitchFamily="34" charset="0"/>
                <a:ea typeface="Calibri" panose="020F0502020204030204" pitchFamily="34" charset="0"/>
                <a:cs typeface="Times New Roman" panose="02020603050405020304" pitchFamily="18" charset="0"/>
              </a:rPr>
              <a:t>Slide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This slide contains three tables, as well as two text boxes with additional instructions.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The table on the top left is a static reference grid containing the codes of the Cloud Usage Profiles use cases based on the Cloud Connection Patterns presented to GC EARB.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Details of the Cloud Connection Patterns can be found in the presentation: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Font typeface="Arial" panose="020B0604020202020204" pitchFamily="34" charset="0"/>
              <a:buChar char="•"/>
              <a:tabLst>
                <a:tab pos="9144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https://www.gcpedia.gc.ca/gcwiki/images/7/75/GC_Cloud_Connection_Patterns.pdf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The table on top right is a static reference grid used to determine which Cloud defense services are needed from SSC and CCCS, based on the Use Cases identified.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The table on the bottom is the fillable part of the template.  It contains the data that will be used to derive the relevant Use Case codes.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Each row in the bottom table should correspond to a line of connectivity in the Target Architecture diagram that spans between a component in a Cloud environment and either a user or a component in an on-premise environment.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CA" sz="1100">
                <a:effectLst/>
                <a:latin typeface="Calibri" panose="020F0502020204030204" pitchFamily="34" charset="0"/>
                <a:ea typeface="Calibri" panose="020F0502020204030204" pitchFamily="34" charset="0"/>
                <a:cs typeface="Times New Roman" panose="02020603050405020304" pitchFamily="18" charset="0"/>
              </a:rPr>
              <a:t>The example content that is provided in the last three rows is based on the example target architecture diagram on Slide 8 of the template.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400" b="0" i="0" u="none" strike="noStrike" kern="1200" cap="none" spc="0" normalizeH="0" baseline="0" noProof="0">
              <a:ln>
                <a:noFill/>
              </a:ln>
              <a:solidFill>
                <a:srgbClr val="FF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400" b="0" i="0" u="none" strike="noStrike" kern="1200" cap="none" spc="0" normalizeH="0" baseline="0" noProof="0">
              <a:ln>
                <a:noFill/>
              </a:ln>
              <a:solidFill>
                <a:srgbClr val="FF0000"/>
              </a:solidFill>
              <a:effectLst/>
              <a:uLnTx/>
              <a:uFillTx/>
              <a:latin typeface="Calibri"/>
              <a:ea typeface="+mn-ea"/>
              <a:cs typeface="+mn-cs"/>
            </a:endParaRPr>
          </a:p>
          <a:p>
            <a:pPr marL="171450" indent="-171450">
              <a:buFont typeface="Arial" panose="020B0604020202020204" pitchFamily="34" charset="0"/>
              <a:buChar char="•"/>
            </a:pPr>
            <a:endParaRPr lang="en-US"/>
          </a:p>
          <a:p>
            <a:endParaRPr lang="en-US"/>
          </a:p>
        </p:txBody>
      </p:sp>
      <p:sp>
        <p:nvSpPr>
          <p:cNvPr id="4" name="Slide Number Placeholder 3"/>
          <p:cNvSpPr>
            <a:spLocks noGrp="1"/>
          </p:cNvSpPr>
          <p:nvPr>
            <p:ph type="sldNum" sz="quarter" idx="5"/>
          </p:nvPr>
        </p:nvSpPr>
        <p:spPr/>
        <p:txBody>
          <a:bodyPr/>
          <a:lstStyle/>
          <a:p>
            <a:fld id="{EB3A5D88-BC26-4EFA-A680-927F6A4ACCF4}" type="slidenum">
              <a:rPr lang="en-CA" smtClean="0"/>
              <a:t>38</a:t>
            </a:fld>
            <a:endParaRPr lang="en-CA"/>
          </a:p>
        </p:txBody>
      </p:sp>
    </p:spTree>
    <p:extLst>
      <p:ext uri="{BB962C8B-B14F-4D97-AF65-F5344CB8AC3E}">
        <p14:creationId xmlns:p14="http://schemas.microsoft.com/office/powerpoint/2010/main" val="350317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English">
    <p:spTree>
      <p:nvGrpSpPr>
        <p:cNvPr id="1" name=""/>
        <p:cNvGrpSpPr/>
        <p:nvPr/>
      </p:nvGrpSpPr>
      <p:grpSpPr>
        <a:xfrm>
          <a:off x="0" y="0"/>
          <a:ext cx="0" cy="0"/>
          <a:chOff x="0" y="0"/>
          <a:chExt cx="0" cy="0"/>
        </a:xfrm>
      </p:grpSpPr>
      <p:sp>
        <p:nvSpPr>
          <p:cNvPr id="17" name="Title 1"/>
          <p:cNvSpPr>
            <a:spLocks noGrp="1"/>
          </p:cNvSpPr>
          <p:nvPr>
            <p:ph type="ctrTitle" hasCustomPrompt="1"/>
          </p:nvPr>
        </p:nvSpPr>
        <p:spPr>
          <a:xfrm>
            <a:off x="1103445" y="2060849"/>
            <a:ext cx="10270067" cy="613891"/>
          </a:xfrm>
          <a:prstGeom prst="rect">
            <a:avLst/>
          </a:prstGeom>
        </p:spPr>
        <p:txBody>
          <a:bodyPr/>
          <a:lstStyle>
            <a:lvl1pPr algn="l">
              <a:defRPr sz="3600">
                <a:solidFill>
                  <a:schemeClr val="tx2"/>
                </a:solidFill>
              </a:defRPr>
            </a:lvl1pPr>
          </a:lstStyle>
          <a:p>
            <a:r>
              <a:rPr lang="en-US"/>
              <a:t>Title</a:t>
            </a:r>
            <a:endParaRPr lang="en-CA"/>
          </a:p>
        </p:txBody>
      </p:sp>
      <p:sp>
        <p:nvSpPr>
          <p:cNvPr id="18" name="Text Placeholder 14"/>
          <p:cNvSpPr>
            <a:spLocks noGrp="1"/>
          </p:cNvSpPr>
          <p:nvPr>
            <p:ph type="body" sz="quarter" idx="13" hasCustomPrompt="1"/>
          </p:nvPr>
        </p:nvSpPr>
        <p:spPr>
          <a:xfrm>
            <a:off x="1103446" y="2708920"/>
            <a:ext cx="10273141" cy="720080"/>
          </a:xfrm>
          <a:prstGeom prst="rect">
            <a:avLst/>
          </a:prstGeom>
        </p:spPr>
        <p:txBody>
          <a:bodyPr/>
          <a:lstStyle>
            <a:lvl1pPr marL="0" indent="0">
              <a:buNone/>
              <a:defRPr sz="2400">
                <a:solidFill>
                  <a:schemeClr val="tx1">
                    <a:lumMod val="75000"/>
                    <a:lumOff val="25000"/>
                  </a:schemeClr>
                </a:solidFill>
              </a:defRPr>
            </a:lvl1pPr>
          </a:lstStyle>
          <a:p>
            <a:pPr lvl="0"/>
            <a:r>
              <a:rPr lang="en-US"/>
              <a:t>Sub-title</a:t>
            </a:r>
          </a:p>
        </p:txBody>
      </p:sp>
      <p:sp>
        <p:nvSpPr>
          <p:cNvPr id="21" name="Slide Number Placeholder 5"/>
          <p:cNvSpPr>
            <a:spLocks noGrp="1"/>
          </p:cNvSpPr>
          <p:nvPr>
            <p:ph type="sldNum" sz="quarter" idx="12"/>
          </p:nvPr>
        </p:nvSpPr>
        <p:spPr>
          <a:xfrm>
            <a:off x="11616615" y="6492876"/>
            <a:ext cx="560421" cy="365125"/>
          </a:xfrm>
        </p:spPr>
        <p:txBody>
          <a:bodyPr/>
          <a:lstStyle>
            <a:lvl1pPr>
              <a:defRPr sz="800">
                <a:solidFill>
                  <a:schemeClr val="tx1">
                    <a:lumMod val="75000"/>
                    <a:lumOff val="25000"/>
                  </a:schemeClr>
                </a:solidFill>
              </a:defRPr>
            </a:lvl1pPr>
          </a:lstStyle>
          <a:p>
            <a:fld id="{32D4B517-E49B-41B6-9DBC-23634E0F1CDC}" type="slidenum">
              <a:rPr lang="en-CA" smtClean="0"/>
              <a:pPr/>
              <a:t>‹#›</a:t>
            </a:fld>
            <a:endParaRPr lang="en-CA"/>
          </a:p>
        </p:txBody>
      </p:sp>
      <p:pic>
        <p:nvPicPr>
          <p:cNvPr id="10" name="Picture 9">
            <a:extLst>
              <a:ext uri="{FF2B5EF4-FFF2-40B4-BE49-F238E27FC236}">
                <a16:creationId xmlns:a16="http://schemas.microsoft.com/office/drawing/2014/main" id="{DA9F76F8-155C-AC89-F755-2A4CEDB767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7932" y="800708"/>
            <a:ext cx="1570676" cy="484291"/>
          </a:xfrm>
          <a:prstGeom prst="rect">
            <a:avLst/>
          </a:prstGeom>
        </p:spPr>
      </p:pic>
      <p:pic>
        <p:nvPicPr>
          <p:cNvPr id="11" name="Picture 10">
            <a:extLst>
              <a:ext uri="{FF2B5EF4-FFF2-40B4-BE49-F238E27FC236}">
                <a16:creationId xmlns:a16="http://schemas.microsoft.com/office/drawing/2014/main" id="{C0A60B38-964D-B5E7-CCFF-B2A9826C23F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5360" y="947009"/>
            <a:ext cx="4288932" cy="393759"/>
          </a:xfrm>
          <a:prstGeom prst="rect">
            <a:avLst/>
          </a:prstGeom>
        </p:spPr>
      </p:pic>
      <p:grpSp>
        <p:nvGrpSpPr>
          <p:cNvPr id="12" name="Group 11">
            <a:extLst>
              <a:ext uri="{FF2B5EF4-FFF2-40B4-BE49-F238E27FC236}">
                <a16:creationId xmlns:a16="http://schemas.microsoft.com/office/drawing/2014/main" id="{D12C9153-C101-283C-C1B9-8F9038FC57F3}"/>
              </a:ext>
            </a:extLst>
          </p:cNvPr>
          <p:cNvGrpSpPr/>
          <p:nvPr userDrawn="1"/>
        </p:nvGrpSpPr>
        <p:grpSpPr>
          <a:xfrm>
            <a:off x="-8156" y="707591"/>
            <a:ext cx="12205664" cy="152480"/>
            <a:chOff x="-8156" y="612224"/>
            <a:chExt cx="12205664" cy="152480"/>
          </a:xfrm>
        </p:grpSpPr>
        <p:sp>
          <p:nvSpPr>
            <p:cNvPr id="13" name="Freeform 15">
              <a:extLst>
                <a:ext uri="{FF2B5EF4-FFF2-40B4-BE49-F238E27FC236}">
                  <a16:creationId xmlns:a16="http://schemas.microsoft.com/office/drawing/2014/main" id="{F8EE7AC8-CC3E-FAB7-7D32-DAFF348B4C5D}"/>
                </a:ext>
              </a:extLst>
            </p:cNvPr>
            <p:cNvSpPr>
              <a:spLocks/>
            </p:cNvSpPr>
            <p:nvPr userDrawn="1"/>
          </p:nvSpPr>
          <p:spPr bwMode="auto">
            <a:xfrm>
              <a:off x="8997108" y="613891"/>
              <a:ext cx="3200400" cy="150813"/>
            </a:xfrm>
            <a:custGeom>
              <a:avLst/>
              <a:gdLst>
                <a:gd name="T0" fmla="*/ 96 w 1374"/>
                <a:gd name="T1" fmla="*/ 0 h 95"/>
                <a:gd name="T2" fmla="*/ 90 w 1374"/>
                <a:gd name="T3" fmla="*/ 0 h 95"/>
                <a:gd name="T4" fmla="*/ 0 w 1374"/>
                <a:gd name="T5" fmla="*/ 95 h 95"/>
                <a:gd name="T6" fmla="*/ 6 w 1374"/>
                <a:gd name="T7" fmla="*/ 95 h 95"/>
                <a:gd name="T8" fmla="*/ 1374 w 1374"/>
                <a:gd name="T9" fmla="*/ 95 h 95"/>
                <a:gd name="T10" fmla="*/ 1374 w 1374"/>
                <a:gd name="T11" fmla="*/ 0 h 95"/>
                <a:gd name="T12" fmla="*/ 96 w 13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374" h="95">
                  <a:moveTo>
                    <a:pt x="96" y="0"/>
                  </a:moveTo>
                  <a:lnTo>
                    <a:pt x="90" y="0"/>
                  </a:lnTo>
                  <a:lnTo>
                    <a:pt x="0" y="95"/>
                  </a:lnTo>
                  <a:lnTo>
                    <a:pt x="6" y="95"/>
                  </a:lnTo>
                  <a:lnTo>
                    <a:pt x="1374" y="95"/>
                  </a:lnTo>
                  <a:lnTo>
                    <a:pt x="1374" y="0"/>
                  </a:lnTo>
                  <a:lnTo>
                    <a:pt x="96" y="0"/>
                  </a:lnTo>
                  <a:close/>
                </a:path>
              </a:pathLst>
            </a:custGeom>
            <a:solidFill>
              <a:srgbClr val="333E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sz="1800"/>
            </a:p>
          </p:txBody>
        </p:sp>
        <p:sp>
          <p:nvSpPr>
            <p:cNvPr id="22" name="Freeform 13">
              <a:extLst>
                <a:ext uri="{FF2B5EF4-FFF2-40B4-BE49-F238E27FC236}">
                  <a16:creationId xmlns:a16="http://schemas.microsoft.com/office/drawing/2014/main" id="{C572AC8D-CAAD-A857-1CB1-4CBDD8DC1B43}"/>
                </a:ext>
              </a:extLst>
            </p:cNvPr>
            <p:cNvSpPr>
              <a:spLocks/>
            </p:cNvSpPr>
            <p:nvPr userDrawn="1"/>
          </p:nvSpPr>
          <p:spPr bwMode="auto">
            <a:xfrm>
              <a:off x="-8156" y="613891"/>
              <a:ext cx="9418320" cy="150813"/>
            </a:xfrm>
            <a:custGeom>
              <a:avLst/>
              <a:gdLst>
                <a:gd name="T0" fmla="*/ 4398 w 4398"/>
                <a:gd name="T1" fmla="*/ 0 h 95"/>
                <a:gd name="T2" fmla="*/ 0 w 4398"/>
                <a:gd name="T3" fmla="*/ 0 h 95"/>
                <a:gd name="T4" fmla="*/ 0 w 4398"/>
                <a:gd name="T5" fmla="*/ 95 h 95"/>
                <a:gd name="T6" fmla="*/ 4302 w 4398"/>
                <a:gd name="T7" fmla="*/ 95 h 95"/>
                <a:gd name="T8" fmla="*/ 4398 w 4398"/>
                <a:gd name="T9" fmla="*/ 0 h 95"/>
              </a:gdLst>
              <a:ahLst/>
              <a:cxnLst>
                <a:cxn ang="0">
                  <a:pos x="T0" y="T1"/>
                </a:cxn>
                <a:cxn ang="0">
                  <a:pos x="T2" y="T3"/>
                </a:cxn>
                <a:cxn ang="0">
                  <a:pos x="T4" y="T5"/>
                </a:cxn>
                <a:cxn ang="0">
                  <a:pos x="T6" y="T7"/>
                </a:cxn>
                <a:cxn ang="0">
                  <a:pos x="T8" y="T9"/>
                </a:cxn>
              </a:cxnLst>
              <a:rect l="0" t="0" r="r" b="b"/>
              <a:pathLst>
                <a:path w="4398" h="95">
                  <a:moveTo>
                    <a:pt x="4398" y="0"/>
                  </a:moveTo>
                  <a:lnTo>
                    <a:pt x="0" y="0"/>
                  </a:lnTo>
                  <a:lnTo>
                    <a:pt x="0" y="95"/>
                  </a:lnTo>
                  <a:lnTo>
                    <a:pt x="4302" y="95"/>
                  </a:lnTo>
                  <a:lnTo>
                    <a:pt x="439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sz="1800"/>
            </a:p>
          </p:txBody>
        </p:sp>
        <p:sp>
          <p:nvSpPr>
            <p:cNvPr id="23" name="Freeform 14">
              <a:extLst>
                <a:ext uri="{FF2B5EF4-FFF2-40B4-BE49-F238E27FC236}">
                  <a16:creationId xmlns:a16="http://schemas.microsoft.com/office/drawing/2014/main" id="{76EA2706-BDD3-A11F-CFAE-2B274D56028B}"/>
                </a:ext>
              </a:extLst>
            </p:cNvPr>
            <p:cNvSpPr>
              <a:spLocks/>
            </p:cNvSpPr>
            <p:nvPr userDrawn="1"/>
          </p:nvSpPr>
          <p:spPr bwMode="auto">
            <a:xfrm>
              <a:off x="9039950" y="612224"/>
              <a:ext cx="404422" cy="150813"/>
            </a:xfrm>
            <a:custGeom>
              <a:avLst/>
              <a:gdLst>
                <a:gd name="T0" fmla="*/ 96 w 174"/>
                <a:gd name="T1" fmla="*/ 0 h 95"/>
                <a:gd name="T2" fmla="*/ 96 w 174"/>
                <a:gd name="T3" fmla="*/ 0 h 95"/>
                <a:gd name="T4" fmla="*/ 0 w 174"/>
                <a:gd name="T5" fmla="*/ 95 h 95"/>
                <a:gd name="T6" fmla="*/ 6 w 174"/>
                <a:gd name="T7" fmla="*/ 95 h 95"/>
                <a:gd name="T8" fmla="*/ 84 w 174"/>
                <a:gd name="T9" fmla="*/ 95 h 95"/>
                <a:gd name="T10" fmla="*/ 174 w 174"/>
                <a:gd name="T11" fmla="*/ 0 h 95"/>
                <a:gd name="T12" fmla="*/ 96 w 1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74" h="95">
                  <a:moveTo>
                    <a:pt x="96" y="0"/>
                  </a:moveTo>
                  <a:lnTo>
                    <a:pt x="96" y="0"/>
                  </a:lnTo>
                  <a:lnTo>
                    <a:pt x="0" y="95"/>
                  </a:lnTo>
                  <a:lnTo>
                    <a:pt x="6" y="95"/>
                  </a:lnTo>
                  <a:lnTo>
                    <a:pt x="84" y="95"/>
                  </a:lnTo>
                  <a:lnTo>
                    <a:pt x="174" y="0"/>
                  </a:lnTo>
                  <a:lnTo>
                    <a:pt x="96" y="0"/>
                  </a:lnTo>
                  <a:close/>
                </a:path>
              </a:pathLst>
            </a:custGeom>
            <a:solidFill>
              <a:srgbClr val="CFDE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sz="1800"/>
            </a:p>
          </p:txBody>
        </p:sp>
      </p:grpSp>
    </p:spTree>
    <p:extLst>
      <p:ext uri="{BB962C8B-B14F-4D97-AF65-F5344CB8AC3E}">
        <p14:creationId xmlns:p14="http://schemas.microsoft.com/office/powerpoint/2010/main" val="3516616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Page With header B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677645" y="6494330"/>
            <a:ext cx="514355" cy="365125"/>
          </a:xfrm>
        </p:spPr>
        <p:txBody>
          <a:bodyPr/>
          <a:lstStyle>
            <a:lvl1pPr>
              <a:defRPr sz="800"/>
            </a:lvl1pPr>
          </a:lstStyle>
          <a:p>
            <a:fld id="{32D4B517-E49B-41B6-9DBC-23634E0F1CDC}" type="slidenum">
              <a:rPr lang="en-CA" smtClean="0"/>
              <a:pPr/>
              <a:t>‹#›</a:t>
            </a:fld>
            <a:endParaRPr lang="en-CA"/>
          </a:p>
        </p:txBody>
      </p:sp>
      <p:sp>
        <p:nvSpPr>
          <p:cNvPr id="11" name="Content Placeholder 2"/>
          <p:cNvSpPr>
            <a:spLocks noGrp="1"/>
          </p:cNvSpPr>
          <p:nvPr>
            <p:ph idx="10" hasCustomPrompt="1"/>
          </p:nvPr>
        </p:nvSpPr>
        <p:spPr>
          <a:xfrm>
            <a:off x="1048280" y="1124744"/>
            <a:ext cx="10095440" cy="5293146"/>
          </a:xfrm>
          <a:prstGeom prst="rect">
            <a:avLst/>
          </a:prstGeom>
        </p:spPr>
        <p:txBody>
          <a:bodyPr lIns="0" tIns="0" rIns="0" bIns="0"/>
          <a:lstStyle>
            <a:lvl1pPr marL="0" indent="0">
              <a:buNone/>
              <a:defRPr sz="2200">
                <a:solidFill>
                  <a:srgbClr val="004D71"/>
                </a:solidFill>
                <a:latin typeface="Calibri" panose="020F0502020204030204" pitchFamily="34" charset="0"/>
              </a:defRPr>
            </a:lvl1pPr>
            <a:lvl2pPr>
              <a:defRPr sz="2000">
                <a:solidFill>
                  <a:srgbClr val="004D71"/>
                </a:solidFill>
                <a:latin typeface="Calibri" panose="020F0502020204030204" pitchFamily="34" charset="0"/>
              </a:defRPr>
            </a:lvl2pPr>
            <a:lvl3pPr>
              <a:defRPr sz="1800">
                <a:solidFill>
                  <a:srgbClr val="004D71"/>
                </a:solidFill>
                <a:latin typeface="Calibri" panose="020F0502020204030204" pitchFamily="34" charset="0"/>
              </a:defRPr>
            </a:lvl3pPr>
            <a:lvl4pPr>
              <a:defRPr sz="1600">
                <a:solidFill>
                  <a:srgbClr val="004D71"/>
                </a:solidFill>
                <a:latin typeface="Calibri" panose="020F0502020204030204" pitchFamily="34" charset="0"/>
              </a:defRPr>
            </a:lvl4pPr>
            <a:lvl5pPr marL="0" indent="1255713">
              <a:defRPr sz="1400">
                <a:solidFill>
                  <a:srgbClr val="004D71"/>
                </a:solidFill>
                <a:latin typeface="Calibri" panose="020F0502020204030204" pitchFamily="34" charset="0"/>
              </a:defRPr>
            </a:lvl5pPr>
          </a:lstStyle>
          <a:p>
            <a:pPr lvl="0"/>
            <a:r>
              <a:rPr lang="en-CA" altLang="ko-KR"/>
              <a:t>Click to add text</a:t>
            </a:r>
          </a:p>
        </p:txBody>
      </p:sp>
      <p:sp>
        <p:nvSpPr>
          <p:cNvPr id="2" name="Title 1"/>
          <p:cNvSpPr>
            <a:spLocks noGrp="1"/>
          </p:cNvSpPr>
          <p:nvPr>
            <p:ph type="title"/>
          </p:nvPr>
        </p:nvSpPr>
        <p:spPr>
          <a:xfrm>
            <a:off x="1012265" y="138062"/>
            <a:ext cx="7243976" cy="878670"/>
          </a:xfrm>
          <a:prstGeom prst="rect">
            <a:avLst/>
          </a:prstGeom>
        </p:spPr>
        <p:txBody>
          <a:bodyPr wrap="none" lIns="0" tIns="0" rIns="0" bIns="0" anchor="ctr" anchorCtr="0"/>
          <a:lstStyle>
            <a:lvl1pPr marL="457200" indent="-457200" algn="l">
              <a:buFont typeface="Arial" panose="020B0604020202020204" pitchFamily="34" charset="0"/>
              <a:buNone/>
              <a:defRPr lang="en-CA" sz="2800" baseline="0">
                <a:solidFill>
                  <a:schemeClr val="accent1"/>
                </a:solidFill>
                <a:latin typeface="Calibri" panose="020F0502020204030204" pitchFamily="34" charset="0"/>
                <a:ea typeface="+mn-ea"/>
                <a:cs typeface="+mn-cs"/>
              </a:defRPr>
            </a:lvl1pPr>
          </a:lstStyle>
          <a:p>
            <a:pPr marL="0" marR="0" lvl="0" indent="0" algn="l" fontAlgn="auto">
              <a:lnSpc>
                <a:spcPct val="100000"/>
              </a:lnSpc>
              <a:spcBef>
                <a:spcPct val="20000"/>
              </a:spcBef>
              <a:spcAft>
                <a:spcPts val="0"/>
              </a:spcAft>
              <a:buClrTx/>
              <a:buSzTx/>
              <a:buFont typeface="Arial" panose="020B0604020202020204" pitchFamily="34" charset="0"/>
              <a:tabLst/>
            </a:pPr>
            <a:endParaRPr lang="en-CA"/>
          </a:p>
        </p:txBody>
      </p:sp>
    </p:spTree>
    <p:extLst>
      <p:ext uri="{BB962C8B-B14F-4D97-AF65-F5344CB8AC3E}">
        <p14:creationId xmlns:p14="http://schemas.microsoft.com/office/powerpoint/2010/main" val="2077113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61EE013-6913-419C-B620-AB39EC99FAE5}"/>
              </a:ext>
            </a:extLst>
          </p:cNvPr>
          <p:cNvSpPr/>
          <p:nvPr userDrawn="1"/>
        </p:nvSpPr>
        <p:spPr>
          <a:xfrm>
            <a:off x="0" y="6309360"/>
            <a:ext cx="12192000" cy="54864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2" name="Group 31">
            <a:extLst>
              <a:ext uri="{FF2B5EF4-FFF2-40B4-BE49-F238E27FC236}">
                <a16:creationId xmlns:a16="http://schemas.microsoft.com/office/drawing/2014/main" id="{E6362AFD-6F68-40DE-A8FE-6061BE2F7F43}"/>
              </a:ext>
            </a:extLst>
          </p:cNvPr>
          <p:cNvGrpSpPr/>
          <p:nvPr userDrawn="1"/>
        </p:nvGrpSpPr>
        <p:grpSpPr>
          <a:xfrm>
            <a:off x="11060057" y="6536533"/>
            <a:ext cx="91438" cy="90487"/>
            <a:chOff x="11060057" y="6550819"/>
            <a:chExt cx="91438" cy="90487"/>
          </a:xfrm>
          <a:solidFill>
            <a:schemeClr val="tx1"/>
          </a:solidFill>
        </p:grpSpPr>
        <p:sp>
          <p:nvSpPr>
            <p:cNvPr id="33" name="Arrow: Chevron 23">
              <a:extLst>
                <a:ext uri="{FF2B5EF4-FFF2-40B4-BE49-F238E27FC236}">
                  <a16:creationId xmlns:a16="http://schemas.microsoft.com/office/drawing/2014/main" id="{7F22AD14-C112-4440-89D1-AC93947211FE}"/>
                </a:ext>
              </a:extLst>
            </p:cNvPr>
            <p:cNvSpPr/>
            <p:nvPr userDrawn="1"/>
          </p:nvSpPr>
          <p:spPr>
            <a:xfrm>
              <a:off x="11060057" y="6550819"/>
              <a:ext cx="45719" cy="90487"/>
            </a:xfrm>
            <a:prstGeom prst="chevron">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4" name="Arrow: Chevron 24">
              <a:extLst>
                <a:ext uri="{FF2B5EF4-FFF2-40B4-BE49-F238E27FC236}">
                  <a16:creationId xmlns:a16="http://schemas.microsoft.com/office/drawing/2014/main" id="{75B43B4C-811A-40BB-92D8-0746106BA03E}"/>
                </a:ext>
              </a:extLst>
            </p:cNvPr>
            <p:cNvSpPr/>
            <p:nvPr userDrawn="1"/>
          </p:nvSpPr>
          <p:spPr>
            <a:xfrm>
              <a:off x="11105776" y="6550819"/>
              <a:ext cx="45719" cy="90487"/>
            </a:xfrm>
            <a:prstGeom prst="chevron">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sp>
        <p:nvSpPr>
          <p:cNvPr id="36" name="Titre 15">
            <a:extLst>
              <a:ext uri="{FF2B5EF4-FFF2-40B4-BE49-F238E27FC236}">
                <a16:creationId xmlns:a16="http://schemas.microsoft.com/office/drawing/2014/main" id="{BF54DC26-5A73-4C96-97BE-3D7BF4546771}"/>
              </a:ext>
            </a:extLst>
          </p:cNvPr>
          <p:cNvSpPr>
            <a:spLocks noGrp="1"/>
          </p:cNvSpPr>
          <p:nvPr>
            <p:ph type="title" hasCustomPrompt="1"/>
          </p:nvPr>
        </p:nvSpPr>
        <p:spPr>
          <a:xfrm>
            <a:off x="379827" y="274639"/>
            <a:ext cx="11431174" cy="667512"/>
          </a:xfrm>
        </p:spPr>
        <p:txBody>
          <a:bodyPr>
            <a:normAutofit/>
          </a:bodyPr>
          <a:lstStyle>
            <a:lvl1pPr>
              <a:defRPr sz="3200" b="1">
                <a:solidFill>
                  <a:schemeClr val="tx1"/>
                </a:solidFill>
                <a:latin typeface="Arial" panose="020B0604020202020204" pitchFamily="34" charset="0"/>
                <a:cs typeface="Arial" panose="020B0604020202020204" pitchFamily="34" charset="0"/>
              </a:defRPr>
            </a:lvl1pPr>
          </a:lstStyle>
          <a:p>
            <a:r>
              <a:rPr lang="fr-CA"/>
              <a:t>Click to </a:t>
            </a:r>
            <a:r>
              <a:rPr lang="fr-CA" err="1"/>
              <a:t>add</a:t>
            </a:r>
            <a:r>
              <a:rPr lang="fr-CA"/>
              <a:t> </a:t>
            </a:r>
            <a:r>
              <a:rPr lang="fr-CA" err="1"/>
              <a:t>title</a:t>
            </a:r>
            <a:endParaRPr lang="fr-CA"/>
          </a:p>
        </p:txBody>
      </p:sp>
      <p:sp>
        <p:nvSpPr>
          <p:cNvPr id="37" name="Espace réservé du contenu 16">
            <a:extLst>
              <a:ext uri="{FF2B5EF4-FFF2-40B4-BE49-F238E27FC236}">
                <a16:creationId xmlns:a16="http://schemas.microsoft.com/office/drawing/2014/main" id="{CFEB372A-5D29-45BF-9788-912F7BB03DF7}"/>
              </a:ext>
            </a:extLst>
          </p:cNvPr>
          <p:cNvSpPr>
            <a:spLocks noGrp="1"/>
          </p:cNvSpPr>
          <p:nvPr>
            <p:ph idx="1" hasCustomPrompt="1"/>
          </p:nvPr>
        </p:nvSpPr>
        <p:spPr>
          <a:xfrm>
            <a:off x="379827" y="1169324"/>
            <a:ext cx="11442239" cy="4867536"/>
          </a:xfrm>
        </p:spPr>
        <p:txBody>
          <a:bodyPr>
            <a:normAutofit/>
          </a:bodyPr>
          <a:lstStyle>
            <a:lvl1pPr>
              <a:defRPr sz="2000">
                <a:solidFill>
                  <a:schemeClr val="tx1"/>
                </a:solidFill>
                <a:latin typeface="Arial" panose="020B0604020202020204" pitchFamily="34" charset="0"/>
                <a:cs typeface="Arial" panose="020B0604020202020204" pitchFamily="34" charset="0"/>
              </a:defRPr>
            </a:lvl1pPr>
          </a:lstStyle>
          <a:p>
            <a:r>
              <a:rPr lang="fr-CA"/>
              <a:t>Click to </a:t>
            </a:r>
            <a:r>
              <a:rPr lang="fr-CA" err="1"/>
              <a:t>add</a:t>
            </a:r>
            <a:r>
              <a:rPr lang="fr-CA"/>
              <a:t> </a:t>
            </a:r>
            <a:r>
              <a:rPr lang="fr-CA" err="1"/>
              <a:t>text</a:t>
            </a:r>
            <a:endParaRPr lang="fr-CA"/>
          </a:p>
        </p:txBody>
      </p:sp>
      <p:cxnSp>
        <p:nvCxnSpPr>
          <p:cNvPr id="38" name="Straight Connector 37"/>
          <p:cNvCxnSpPr/>
          <p:nvPr userDrawn="1"/>
        </p:nvCxnSpPr>
        <p:spPr>
          <a:xfrm>
            <a:off x="308610" y="1009248"/>
            <a:ext cx="11601450" cy="0"/>
          </a:xfrm>
          <a:prstGeom prst="line">
            <a:avLst/>
          </a:prstGeom>
          <a:ln>
            <a:solidFill>
              <a:srgbClr val="E8DFD2"/>
            </a:solidFill>
          </a:ln>
        </p:spPr>
        <p:style>
          <a:lnRef idx="3">
            <a:schemeClr val="accent1"/>
          </a:lnRef>
          <a:fillRef idx="0">
            <a:schemeClr val="accent1"/>
          </a:fillRef>
          <a:effectRef idx="2">
            <a:schemeClr val="accent1"/>
          </a:effectRef>
          <a:fontRef idx="minor">
            <a:schemeClr val="tx1"/>
          </a:fontRef>
        </p:style>
      </p:cxnSp>
      <p:sp>
        <p:nvSpPr>
          <p:cNvPr id="39" name="Slide Number Placeholder 5">
            <a:extLst>
              <a:ext uri="{FF2B5EF4-FFF2-40B4-BE49-F238E27FC236}">
                <a16:creationId xmlns:a16="http://schemas.microsoft.com/office/drawing/2014/main" id="{F8AA28D4-6980-4B90-8AA7-C191F146F884}"/>
              </a:ext>
            </a:extLst>
          </p:cNvPr>
          <p:cNvSpPr>
            <a:spLocks noGrp="1"/>
          </p:cNvSpPr>
          <p:nvPr>
            <p:ph type="sldNum" sz="quarter" idx="4"/>
          </p:nvPr>
        </p:nvSpPr>
        <p:spPr>
          <a:xfrm>
            <a:off x="11476653" y="6510529"/>
            <a:ext cx="514477" cy="200055"/>
          </a:xfrm>
          <a:prstGeom prst="rect">
            <a:avLst/>
          </a:prstGeom>
        </p:spPr>
        <p:txBody>
          <a:bodyPr vert="horz" wrap="square" lIns="91440" tIns="0" rIns="91440" bIns="45720" rtlCol="0" anchor="t">
            <a:spAutoFit/>
          </a:bodyPr>
          <a:lstStyle>
            <a:lvl1pPr algn="l">
              <a:defRPr sz="1000" b="0" i="0">
                <a:solidFill>
                  <a:schemeClr val="tx1"/>
                </a:solidFill>
                <a:latin typeface="Arial" panose="020B0604020202020204" pitchFamily="34" charset="0"/>
                <a:cs typeface="Arial" panose="020B0604020202020204" pitchFamily="34" charset="0"/>
              </a:defRPr>
            </a:lvl1pPr>
          </a:lstStyle>
          <a:p>
            <a:r>
              <a:rPr lang="en-CA"/>
              <a:t>   </a:t>
            </a:r>
            <a:fld id="{C2CFCAEE-9001-4833-86ED-EE890F7E4795}" type="slidenum">
              <a:rPr lang="en-CA" smtClean="0"/>
              <a:pPr/>
              <a:t>‹#›</a:t>
            </a:fld>
            <a:endParaRPr lang="en-CA"/>
          </a:p>
        </p:txBody>
      </p:sp>
      <p:sp>
        <p:nvSpPr>
          <p:cNvPr id="40" name="Footer Placeholder 5">
            <a:extLst>
              <a:ext uri="{FF2B5EF4-FFF2-40B4-BE49-F238E27FC236}">
                <a16:creationId xmlns:a16="http://schemas.microsoft.com/office/drawing/2014/main" id="{370685AC-95D5-4E1E-B894-2932B5C42956}"/>
              </a:ext>
            </a:extLst>
          </p:cNvPr>
          <p:cNvSpPr txBox="1">
            <a:spLocks/>
          </p:cNvSpPr>
          <p:nvPr userDrawn="1"/>
        </p:nvSpPr>
        <p:spPr>
          <a:xfrm>
            <a:off x="5357813" y="6510528"/>
            <a:ext cx="5547093" cy="200055"/>
          </a:xfrm>
          <a:prstGeom prst="rect">
            <a:avLst/>
          </a:prstGeom>
          <a:noFill/>
        </p:spPr>
        <p:txBody>
          <a:bodyPr wrap="square" lIns="0" tIns="0" rIns="0" rtlCol="0" anchor="t">
            <a:spAutoFit/>
          </a:bodyPr>
          <a:lstStyle>
            <a:defPPr>
              <a:defRPr lang="en-US"/>
            </a:defPPr>
            <a:lvl1pPr marL="0" algn="r" defTabSz="914400" rtl="0" eaLnBrk="1" latinLnBrk="0" hangingPunct="1">
              <a:defRPr lang="en-US" sz="1000" kern="1200" spc="10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pc="300">
                <a:solidFill>
                  <a:schemeClr val="tx1"/>
                </a:solidFill>
                <a:latin typeface="Arial" panose="020B0604020202020204" pitchFamily="34" charset="0"/>
                <a:cs typeface="Arial" panose="020B0604020202020204" pitchFamily="34" charset="0"/>
              </a:rPr>
              <a:t>HEALTH CANADA | PUBLIC HEALTH AGENCY OF CANADA</a:t>
            </a:r>
          </a:p>
        </p:txBody>
      </p:sp>
    </p:spTree>
    <p:extLst>
      <p:ext uri="{BB962C8B-B14F-4D97-AF65-F5344CB8AC3E}">
        <p14:creationId xmlns:p14="http://schemas.microsoft.com/office/powerpoint/2010/main" val="25791434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32D4B517-E49B-41B6-9DBC-23634E0F1CDC}" type="slidenum">
              <a:rPr lang="en-CA" smtClean="0"/>
              <a:pPr/>
              <a:t>‹#›</a:t>
            </a:fld>
            <a:endParaRPr lang="en-CA"/>
          </a:p>
        </p:txBody>
      </p:sp>
      <p:sp>
        <p:nvSpPr>
          <p:cNvPr id="3" name="Title Placeholder 2"/>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4" name="hl"/>
          <p:cNvSpPr txBox="1"/>
          <p:nvPr userDrawn="1"/>
        </p:nvSpPr>
        <p:spPr>
          <a:xfrm>
            <a:off x="0" y="0"/>
            <a:ext cx="12192000" cy="369332"/>
          </a:xfrm>
          <a:prstGeom prst="rect">
            <a:avLst/>
          </a:prstGeom>
          <a:noFill/>
        </p:spPr>
        <p:txBody>
          <a:bodyPr vert="horz" rtlCol="0">
            <a:spAutoFit/>
          </a:bodyPr>
          <a:lstStyle/>
          <a:p>
            <a:endParaRPr lang="en-US" sz="1800">
              <a:solidFill>
                <a:schemeClr val="tx1"/>
              </a:solidFill>
            </a:endParaRPr>
          </a:p>
        </p:txBody>
      </p:sp>
      <p:sp>
        <p:nvSpPr>
          <p:cNvPr id="2" name="TextBox 1">
            <a:extLst>
              <a:ext uri="{FF2B5EF4-FFF2-40B4-BE49-F238E27FC236}">
                <a16:creationId xmlns:a16="http://schemas.microsoft.com/office/drawing/2014/main" id="{36B7ACB5-DDB7-4AD7-A8B2-98638026D307}"/>
              </a:ext>
            </a:extLst>
          </p:cNvPr>
          <p:cNvSpPr txBox="1"/>
          <p:nvPr>
            <p:extLst>
              <p:ext uri="{1162E1C5-73C7-4A58-AE30-91384D911F3F}">
                <p184:classification xmlns:p184="http://schemas.microsoft.com/office/powerpoint/2018/4/main" val="hdr"/>
              </p:ext>
            </p:extLst>
          </p:nvPr>
        </p:nvSpPr>
        <p:spPr>
          <a:xfrm>
            <a:off x="10188575" y="63500"/>
            <a:ext cx="1974850" cy="182880"/>
          </a:xfrm>
          <a:prstGeom prst="rect">
            <a:avLst/>
          </a:prstGeom>
        </p:spPr>
        <p:txBody>
          <a:bodyPr horzOverflow="overflow" lIns="0" tIns="0" rIns="0" bIns="0">
            <a:spAutoFit/>
          </a:bodyPr>
          <a:lstStyle/>
          <a:p>
            <a:pPr algn="l"/>
            <a:r>
              <a:rPr lang="en-CA" sz="1200">
                <a:solidFill>
                  <a:srgbClr val="000000"/>
                </a:solidFill>
                <a:latin typeface="Calibri" panose="020F0502020204030204" pitchFamily="34" charset="0"/>
                <a:cs typeface="Calibri" panose="020F0502020204030204" pitchFamily="34" charset="0"/>
              </a:rPr>
              <a:t>UNCLASSIFIED / NON CLASSIFIÉ</a:t>
            </a:r>
          </a:p>
        </p:txBody>
      </p:sp>
    </p:spTree>
    <p:extLst>
      <p:ext uri="{BB962C8B-B14F-4D97-AF65-F5344CB8AC3E}">
        <p14:creationId xmlns:p14="http://schemas.microsoft.com/office/powerpoint/2010/main" val="323602225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Lst>
  <p:hf hd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gcdocs.gc.ca/health-sante/llisapi.dll/link/9401649" TargetMode="External"/><Relationship Id="rId4" Type="http://schemas.openxmlformats.org/officeDocument/2006/relationships/hyperlink" Target="https://022gc.sharepoint.com/:w:/r/sites/CommitteeDigitalArchitectureOversightCommittee-Comitearchite/Shared%20Documents/General/Administration/Terms%20of%20Reference/ToR%20-%20Digital%20Architecture%20and%20Strategy%20for%20Health%20(DASH)%20v3.01%20%5BApproved%202023-10-30%5D.docx?d=w3369e8de5fcf4278bc7616fdaa7c7889&amp;csf=1&amp;web=1&amp;e=icJLFK" TargetMode="External"/><Relationship Id="rId5" Type="http://schemas.openxmlformats.org/officeDocument/2006/relationships/hyperlink" Target="https://wiki.gccollab.ca/GC_Enterprise_Architecture/Boar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hyperlink" Target="https://022gc.sharepoint.com/:b:/r/sites/HC-DTB-DTPOD-DTPD/HcGenDivisionalCommitteesandGovernance/ARB%20ToR%20-%20Templates%20-%20Reference%20Documents/architecture_governance.pdf?csf=1&amp;web=1&amp;e=ck5IG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canada.ca/en/government/system/digital-government/policies-standards/government-canada-enterprise-architecture-framework.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tbs-sct.gc.ca/pol/doc-eng.aspx?id=32603" TargetMode="External"/><Relationship Id="rId4" Type="http://schemas.openxmlformats.org/officeDocument/2006/relationships/hyperlink" Target="https://www.tbs-sct.gc.ca/pol/doc-eng.aspx?id=32601" TargetMode="External"/><Relationship Id="rId5" Type="http://schemas.openxmlformats.org/officeDocument/2006/relationships/hyperlink" Target="https://www.tbs-sct.canada.ca/pol/doc-eng.aspx?id=32593&amp;section=procedure&amp;p=B"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mailto:web.standards-normes.web@hc-sc.gc.ca" TargetMode="External"/><Relationship Id="rId4" Type="http://schemas.openxmlformats.org/officeDocument/2006/relationships/hyperlink" Target="mailto:azureoperations-operationsazure@hc-sc.gc.ca" TargetMode="External"/><Relationship Id="rId5" Type="http://schemas.openxmlformats.org/officeDocument/2006/relationships/hyperlink" Target="mailto:devops@hc-sc.gc.ca" TargetMode="External"/><Relationship Id="rId6" Type="http://schemas.openxmlformats.org/officeDocument/2006/relationships/hyperlink" Target="mailto:TechnicalDebt.Dettetechnique@hc-sc.gc.ca" TargetMode="External"/><Relationship Id="rId7" Type="http://schemas.openxmlformats.org/officeDocument/2006/relationships/hyperlink" Target="mailto:hc-phac.arb.cea.sc-aspc@hc-sc.gc.ca" TargetMode="External"/><Relationship Id="rId8" Type="http://schemas.openxmlformats.org/officeDocument/2006/relationships/hyperlink" Target="mailto:ocdo-bdpd@hc-sc.gc.ca" TargetMode="External"/><Relationship Id="rId9" Type="http://schemas.openxmlformats.org/officeDocument/2006/relationships/hyperlink" Target="mailto:datascience-sciencededonnees@phac-aspc.gc.ca" TargetMode="External"/><Relationship Id="rId10" Type="http://schemas.openxmlformats.org/officeDocument/2006/relationships/hyperlink" Target="mailto:im.tools-outils.gi@hc-sc.gc.ca" TargetMode="External"/><Relationship Id="rId11" Type="http://schemas.openxmlformats.org/officeDocument/2006/relationships/hyperlink" Target="https://can01.safelinks.protection.outlook.com/?url=https%3A%2F%2Fwww.tbs-sct.gc.ca%2Fpol%2Fdoc-eng.aspx%3Fid%3D32603&amp;data=05%7C02%7Civana.macmillan%40hc-sc.gc.ca%7Ca2d3c8ed8ba7460915ac08dd82ab3dbc%7C42fd9015de4d4223a368baeacab48927%7C0%7C0%7C638810394190242608%7CUnknown%7CTWFpbGZsb3d8eyJFbXB0eU1hcGkiOnRydWUsIlYiOiIwLjAuMDAwMCIsIlAiOiJXaW4zMiIsIkFOIjoiTWFpbCIsIldUIjoyfQ%3D%3D%7C0%7C%7C%7C&amp;sdata=fNaEDZzl3mVAcCZZvTGRQsUtvRsUl1ux%2F8fzGRmJMmg%3D&amp;reserved=0" TargetMode="External"/><Relationship Id="rId12" Type="http://schemas.openxmlformats.org/officeDocument/2006/relationships/hyperlink" Target="https://can01.safelinks.protection.outlook.com/?url=https%3A%2F%2Fwww.tbs-sct.canada.ca%2Fpol%2Fdoc-eng.aspx%3Fid%3D32716&amp;data=05%7C02%7Civana.macmillan%40hc-sc.gc.ca%7Ca2d3c8ed8ba7460915ac08dd82ab3dbc%7C42fd9015de4d4223a368baeacab48927%7C0%7C0%7C638810394190273903%7CUnknown%7CTWFpbGZsb3d8eyJFbXB0eU1hcGkiOnRydWUsIlYiOiIwLjAuMDAwMCIsIlAiOiJXaW4zMiIsIkFOIjoiTWFpbCIsIldUIjoyfQ%3D%3D%7C0%7C%7C%7C&amp;sdata=2vJpwklhclWw2G8YZfCZLmG65jO95pm2%2BAOB6rRErB8%3D&amp;reserved=0" TargetMode="External"/><Relationship Id="rId13" Type="http://schemas.openxmlformats.org/officeDocument/2006/relationships/hyperlink" Target="https://can01.safelinks.protection.outlook.com/?url=https%3A%2F%2Fjill.hc-sc.gc.ca%2Fconfluence%2Fdisplay%2FSDLC%2FArtefact%2B-%2BIM%2BAccountability%2BProfile&amp;data=05%7C02%7Civana.macmillan%40hc-sc.gc.ca%7Ca2d3c8ed8ba7460915ac08dd82ab3dbc%7C42fd9015de4d4223a368baeacab48927%7C0%7C0%7C638810394190287124%7CUnknown%7CTWFpbGZsb3d8eyJFbXB0eU1hcGkiOnRydWUsIlYiOiIwLjAuMDAwMCIsIlAiOiJXaW4zMiIsIkFOIjoiTWFpbCIsIldUIjoyfQ%3D%3D%7C0%7C%7C%7C&amp;sdata=Eos4ZmtLoWUoc4K1urAuLsLIv7mSTEExZgZeCjAImgE%3D&amp;reserved=0" TargetMode="External"/><Relationship Id="rId14" Type="http://schemas.openxmlformats.org/officeDocument/2006/relationships/hyperlink" Target="https://can01.safelinks.protection.outlook.com/?url=https%3A%2F%2Fmysource.hc-sc.gc.ca%2Fen%2Fss%2Fprograms-and-services%2Fdigital-transformation%2Finformation-management%2Fcontact-us-information&amp;data=05%7C02%7Civana.macmillan%40hc-sc.gc.ca%7Ca2d3c8ed8ba7460915ac08dd82ab3dbc%7C42fd9015de4d4223a368baeacab48927%7C0%7C0%7C638810394190300031%7CUnknown%7CTWFpbGZsb3d8eyJFbXB0eU1hcGkiOnRydWUsIlYiOiIwLjAuMDAwMCIsIlAiOiJXaW4zMiIsIkFOIjoiTWFpbCIsIldUIjoyfQ%3D%3D%7C0%7C%7C%7C&amp;sdata=dpy6u7fB0BTFOmNeV7Scfx%2B3OTE3glLjmNytpHjZWoo%3D&amp;reserved=0" TargetMode="External"/><Relationship Id="rId15" Type="http://schemas.openxmlformats.org/officeDocument/2006/relationships/hyperlink" Target="mailto:itsecurity-tisecurite@hc-sc.gc.ca" TargetMode="External"/><Relationship Id="rId16" Type="http://schemas.openxmlformats.org/officeDocument/2006/relationships/hyperlink" Target="mailto:m365-m365@hc-sc.gc.ca" TargetMode="External"/><Relationship Id="rId17" Type="http://schemas.openxmlformats.org/officeDocument/2006/relationships/hyperlink" Target="mailto:apm.core-noyau.de.la.gpa@hc-sc.gc.ca" TargetMode="External"/><Relationship Id="rId18" Type="http://schemas.openxmlformats.org/officeDocument/2006/relationships/hyperlink" Target="mailto:Data%20and%20Analytics%20Platform%20Services%20(DaAPS)%20%7C%20services%20de%20la%20plateforme%20de%20donn&#233;es%20et%20d&#8217;analyse%20(SPDA)%20-%20Data%20and%20Analytics%20Platform%20Services%20(DaAPS)%20%7C%20Services%20de%20la%20Plateforme%20de%20Donn&#233;es%20et%20d&#8217;Analyse%20(SPDA)&#160;%20-%20Confluence" TargetMode="External"/><Relationship Id="rId19" Type="http://schemas.openxmlformats.org/officeDocument/2006/relationships/hyperlink" Target="mailto:ssm-gsp@hc-sc.gc.ca" TargetMode="External"/><Relationship Id="rId20" Type="http://schemas.openxmlformats.org/officeDocument/2006/relationships/hyperlink" Target="mailto:tpo-bpt@hc-sc.gc.c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can01.safelinks.protection.outlook.com/?url=https%3A%2F%2Fmysource.hc-sc.gc.ca%2Fsites%2Fdefault%2Ffiles%2F2024-06%2FIM%2520Standard%2520-%2520SACR%2520Rules.pdf&amp;data=05%7C02%7CHC-PHAC.ARB.CEA.SC-ASPC%40hc-sc.gc.ca%7C65cb7de087584aef424f08ddba2595df%7C42fd9015de4d4223a368baeacab48927%7C0%7C0%7C638871392761945000%7CUnknown%7CTWFpbGZsb3d8eyJFbXB0eU1hcGkiOnRydWUsIlYiOiIwLjAuMDAwMCIsIlAiOiJXaW4zMiIsIkFOIjoiTWFpbCIsIldUIjoyfQ%3D%3D%7C0%7C%7C%7C&amp;sdata=WOTmRsxvq1SbXdOhdMkZOUBFlkUELj1JD0OMpP5n6YI%3D&amp;reserved=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23.xml"/><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24.xml"/><Relationship Id="rId4" Type="http://schemas.openxmlformats.org/officeDocument/2006/relationships/image" Target="../media/image10.emf"/></Relationships>
</file>

<file path=ppt/slides/_rels/slide2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25.xml"/><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26.xml"/><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27.xml"/><Relationship Id="rId4" Type="http://schemas.openxmlformats.org/officeDocument/2006/relationships/image" Target="../media/image11.emf"/></Relationships>
</file>

<file path=ppt/slides/_rels/slide2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 Id="rId3" Type="http://schemas.openxmlformats.org/officeDocument/2006/relationships/notesSlide" Target="../notesSlides/notesSlide28.xml"/><Relationship Id="rId4" Type="http://schemas.openxmlformats.org/officeDocument/2006/relationships/image" Target="../media/image12.emf"/></Relationships>
</file>

<file path=ppt/slides/_rels/slide3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2.xml"/><Relationship Id="rId3" Type="http://schemas.openxmlformats.org/officeDocument/2006/relationships/notesSlide" Target="../notesSlides/notesSlide29.xml"/><Relationship Id="rId4" Type="http://schemas.openxmlformats.org/officeDocument/2006/relationships/image" Target="../media/image13.emf"/></Relationships>
</file>

<file path=ppt/slides/_rels/slide3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2.xml"/><Relationship Id="rId3" Type="http://schemas.openxmlformats.org/officeDocument/2006/relationships/notesSlide" Target="../notesSlides/notesSlide30.xml"/><Relationship Id="rId4" Type="http://schemas.openxmlformats.org/officeDocument/2006/relationships/image" Target="../media/image13.emf"/></Relationships>
</file>

<file path=ppt/slides/_rels/slide3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2.xml"/><Relationship Id="rId3" Type="http://schemas.openxmlformats.org/officeDocument/2006/relationships/notesSlide" Target="../notesSlides/notesSlide31.xml"/><Relationship Id="rId4" Type="http://schemas.openxmlformats.org/officeDocument/2006/relationships/hyperlink" Target="https://www.gcpedia.gc.ca/wiki/Security_Categorization_Tool" TargetMode="External"/><Relationship Id="rId5" Type="http://schemas.openxmlformats.org/officeDocument/2006/relationships/hyperlink" Target="https://cyber.gc.ca/en/guidance/it-security-risk-management-lifecycle-approach-itsg-33" TargetMode="External"/><Relationship Id="rId6" Type="http://schemas.openxmlformats.org/officeDocument/2006/relationships/image" Target="../media/image14.emf"/></Relationships>
</file>

<file path=ppt/slides/_rels/slide3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2.xml"/><Relationship Id="rId3" Type="http://schemas.openxmlformats.org/officeDocument/2006/relationships/notesSlide" Target="../notesSlides/notesSlide32.xml"/><Relationship Id="rId4" Type="http://schemas.openxmlformats.org/officeDocument/2006/relationships/image" Target="../media/image14.emf"/><Relationship Id="rId5" Type="http://schemas.openxmlformats.org/officeDocument/2006/relationships/hyperlink" Target="https://github.com/canada-ca/PCTF-CCP" TargetMode="External"/><Relationship Id="rId6" Type="http://schemas.openxmlformats.org/officeDocument/2006/relationships/hyperlink" Target="https://cyber.gc.ca/en/guidance/baseline-security-requirements-network-security-zones-government-canada-itsg-22" TargetMode="External"/><Relationship Id="rId7" Type="http://schemas.openxmlformats.org/officeDocument/2006/relationships/hyperlink" Target="https://cyber.gc.ca/en/guidance/network-security-zoning-design-considerations-placement-services-within-zones-itsg-38" TargetMode="External"/><Relationship Id="rId8" Type="http://schemas.openxmlformats.org/officeDocument/2006/relationships/hyperlink" Target="https://www.canada.ca/en/government/system/digital-government/modern-emerging-technologies/policy-implementation-notices/implementing-https-secure-web-connections-itpin.html" TargetMode="External"/><Relationship Id="rId9" Type="http://schemas.openxmlformats.org/officeDocument/2006/relationships/hyperlink" Target="https://cyber.gc.ca/en/guidance/implementation-guidance-email-domain-protection" TargetMode="External"/><Relationship Id="rId10" Type="http://schemas.openxmlformats.org/officeDocument/2006/relationships/hyperlink" Target="https://www.tbs-sct.gc.ca/pol/doc-eng.aspx?id=32604" TargetMode="External"/><Relationship Id="rId11" Type="http://schemas.openxmlformats.org/officeDocument/2006/relationships/hyperlink" Target="https://www.canada.ca/en/government/system/digital-government/online-security-privacy/security-identity-management/government-canada-cyber-security-event-management-plan.html" TargetMode="External"/><Relationship Id="rId12" Type="http://schemas.openxmlformats.org/officeDocument/2006/relationships/hyperlink" Target="https://cyber.gc.ca/en/contact-u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wiki.gccollab.ca/GC_Enterprise_Architecture/Enterprise_Solutions" TargetMode="Externa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slideLayout" Target="../slideLayouts/slideLayout2.xml"/><Relationship Id="rId4" Type="http://schemas.openxmlformats.org/officeDocument/2006/relationships/notesSlide" Target="../notesSlides/notesSlide35.xml"/><Relationship Id="rId5" Type="http://schemas.openxmlformats.org/officeDocument/2006/relationships/hyperlink" Target="https://service.ssc-spc.gc.ca/en/service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can01.safelinks.protection.outlook.com/?url=https%3A%2F%2Fwww.gcpedia.gc.ca%2Fgcwiki%2Fimages%2F7%2F75%2FGC_Cloud_Connection_Patterns.pdf&amp;data=04%7C01%7CAsma.Shams%40tbs-sct.gc.ca%7C9fb24279864648c4122108d9dcd71850%7C6397df10459540479c4f03311282152b%7C0%7C0%7C637783638648946934%7CUnknown%7CTWFpbGZsb3d8eyJWIjoiMC4wLjAwMDAiLCJQIjoiV2luMzIiLCJBTiI6Ik1haWwiLCJXVCI6Mn0%3D%7C3000&amp;sdata=8QQosiGAPwPhtKDSnX4jPemt%2FQMj81EOWADziQ6jyOc%3D&amp;reserved=0" TargetMode="External"/><Relationship Id="rId4" Type="http://schemas.openxmlformats.org/officeDocument/2006/relationships/hyperlink" Target="https://www.gcpedia.gc.ca/gcwiki/images/e/e7/GC_Secure_Cloud_Connectivity_Requirements.pdf"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CA">
                <a:latin typeface="Arial"/>
                <a:cs typeface="Arial"/>
              </a:rPr>
              <a:t>Purpose of Architecture Governance</a:t>
            </a:r>
            <a:endParaRPr lang="en-CA" sz="2400">
              <a:solidFill>
                <a:srgbClr val="FF0000"/>
              </a:solidFill>
              <a:latin typeface="Arial"/>
              <a:cs typeface="Arial"/>
            </a:endParaRPr>
          </a:p>
        </p:txBody>
      </p:sp>
      <p:sp>
        <p:nvSpPr>
          <p:cNvPr id="3" name="Content Placeholder 2"/>
          <p:cNvSpPr>
            <a:spLocks noGrp="1"/>
          </p:cNvSpPr>
          <p:nvPr>
            <p:ph idx="1"/>
          </p:nvPr>
        </p:nvSpPr>
        <p:spPr>
          <a:xfrm>
            <a:off x="803411" y="1279371"/>
            <a:ext cx="10673241" cy="4669909"/>
          </a:xfrm>
        </p:spPr>
        <p:txBody>
          <a:bodyPr vert="horz" lIns="91440" tIns="45720" rIns="91440" bIns="45720" rtlCol="0" anchor="t">
            <a:normAutofit lnSpcReduction="10000"/>
          </a:bodyPr>
          <a:lstStyle/>
          <a:p>
            <a:r>
              <a:rPr lang="en-CA">
                <a:latin typeface="+mn-lt"/>
                <a:cs typeface="Arial"/>
              </a:rPr>
              <a:t>To provide strategic architectural direction by approving relevant frameworks, standards, and principles that will inform and guide investments. </a:t>
            </a:r>
          </a:p>
          <a:p>
            <a:endParaRPr lang="en-CA">
              <a:latin typeface="+mn-lt"/>
            </a:endParaRPr>
          </a:p>
          <a:p>
            <a:r>
              <a:rPr lang="en-CA">
                <a:latin typeface="+mn-lt"/>
                <a:cs typeface="Arial"/>
              </a:rPr>
              <a:t>Ensure digital investments / projects are in alignment with HC/PHAC and the GC digital and architectural direction.</a:t>
            </a:r>
          </a:p>
          <a:p>
            <a:endParaRPr lang="en-CA">
              <a:latin typeface="+mn-lt"/>
            </a:endParaRPr>
          </a:p>
          <a:p>
            <a:r>
              <a:rPr lang="en-CA">
                <a:latin typeface="+mn-lt"/>
                <a:cs typeface="Arial"/>
              </a:rPr>
              <a:t>Inform Solution Architecture at the beginning of the initiative to re-use / leverage existing architectures when possible. </a:t>
            </a:r>
            <a:endParaRPr lang="en-CA">
              <a:latin typeface="+mn-lt"/>
            </a:endParaRPr>
          </a:p>
          <a:p>
            <a:endParaRPr lang="en-CA">
              <a:latin typeface="+mn-lt"/>
            </a:endParaRPr>
          </a:p>
          <a:p>
            <a:r>
              <a:rPr lang="en-CA">
                <a:latin typeface="+mn-lt"/>
                <a:cs typeface="Arial"/>
              </a:rPr>
              <a:t>Review / inform / endorse initiatives from an enterprise architecture perspective and facilitate presentations at the three architecture governance tables that oversee HC/PHAC architecture</a:t>
            </a:r>
          </a:p>
          <a:p>
            <a:pPr lvl="1"/>
            <a:r>
              <a:rPr lang="en-CA" sz="1800">
                <a:solidFill>
                  <a:srgbClr val="3C44B9"/>
                </a:solidFill>
                <a:hlinkClick r:id="rId3">
                  <a:extLst>
                    <a:ext uri="{A12FA001-AC4F-418D-AE19-62706E023703}">
                      <ahyp:hlinkClr xmlns:ahyp="http://schemas.microsoft.com/office/drawing/2018/hyperlinkcolor" val="tx"/>
                    </a:ext>
                  </a:extLst>
                </a:hlinkClick>
              </a:rPr>
              <a:t>DTB Architecture Review Board - Terms of Reference</a:t>
            </a:r>
            <a:endParaRPr lang="en-CA" sz="1800">
              <a:solidFill>
                <a:srgbClr val="3C44B9"/>
              </a:solidFill>
              <a:ea typeface="Calibri"/>
              <a:cs typeface="Calibri"/>
            </a:endParaRPr>
          </a:p>
          <a:p>
            <a:pPr lvl="1"/>
            <a:r>
              <a:rPr lang="en-CA" sz="1800">
                <a:hlinkClick r:id="rId4"/>
              </a:rPr>
              <a:t>Digital Architecture and Strategy for Health (DASH) – Terms of Reference</a:t>
            </a:r>
            <a:endParaRPr lang="en-CA" sz="1800">
              <a:ea typeface="Calibri"/>
              <a:cs typeface="Calibri"/>
            </a:endParaRPr>
          </a:p>
          <a:p>
            <a:pPr lvl="1"/>
            <a:r>
              <a:rPr lang="en-CA" sz="1800">
                <a:hlinkClick r:id="rId5"/>
              </a:rPr>
              <a:t>GoC Enterprise Architecture Review Board – Terms of Reference</a:t>
            </a:r>
            <a:endParaRPr lang="en-CA" sz="1800">
              <a:ea typeface="Calibri"/>
              <a:cs typeface="Calibri"/>
            </a:endParaRPr>
          </a:p>
          <a:p>
            <a:pPr lvl="1"/>
            <a:endParaRPr lang="en-CA">
              <a:latin typeface="+mn-lt"/>
              <a:cs typeface="Arial"/>
            </a:endParaRPr>
          </a:p>
          <a:p>
            <a:endParaRPr lang="en-CA"/>
          </a:p>
        </p:txBody>
      </p:sp>
      <p:sp>
        <p:nvSpPr>
          <p:cNvPr id="4" name="Espace réservé du numéro de diapositive 3"/>
          <p:cNvSpPr>
            <a:spLocks noGrp="1"/>
          </p:cNvSpPr>
          <p:nvPr>
            <p:ph type="sldNum" sz="quarter" idx="4"/>
          </p:nvPr>
        </p:nvSpPr>
        <p:spPr/>
        <p:txBody>
          <a:bodyPr/>
          <a:lstStyle/>
          <a:p>
            <a:r>
              <a:rPr lang="en-CA"/>
              <a:t>   </a:t>
            </a:r>
            <a:fld id="{32D4B517-E49B-41B6-9DBC-23634E0F1CDC}" type="slidenum">
              <a:rPr lang="en-CA" smtClean="0"/>
              <a:pPr/>
              <a:t>1</a:t>
            </a:fld>
            <a:endParaRPr lang="en-CA"/>
          </a:p>
        </p:txBody>
      </p:sp>
      <p:sp>
        <p:nvSpPr>
          <p:cNvPr id="5" name="TextBox 4">
            <a:extLst>
              <a:ext uri="{FF2B5EF4-FFF2-40B4-BE49-F238E27FC236}">
                <a16:creationId xmlns:a16="http://schemas.microsoft.com/office/drawing/2014/main" id="{3F60D5E9-BF94-FBBB-397F-575C3E21D736}"/>
              </a:ext>
            </a:extLst>
          </p:cNvPr>
          <p:cNvSpPr txBox="1"/>
          <p:nvPr/>
        </p:nvSpPr>
        <p:spPr>
          <a:xfrm>
            <a:off x="10740516" y="274639"/>
            <a:ext cx="11509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reference</a:t>
            </a:r>
          </a:p>
        </p:txBody>
      </p:sp>
    </p:spTree>
    <p:extLst>
      <p:ext uri="{BB962C8B-B14F-4D97-AF65-F5344CB8AC3E}">
        <p14:creationId xmlns:p14="http://schemas.microsoft.com/office/powerpoint/2010/main" val="2664826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itre 1">
            <a:extLst>
              <a:ext uri="{FF2B5EF4-FFF2-40B4-BE49-F238E27FC236}">
                <a16:creationId xmlns:a16="http://schemas.microsoft.com/office/drawing/2014/main" id="{60C3EB1D-4CEA-FC85-1EEC-CAA768E6C258}"/>
              </a:ext>
            </a:extLst>
          </p:cNvPr>
          <p:cNvSpPr>
            <a:spLocks noGrp="1"/>
          </p:cNvSpPr>
          <p:nvPr>
            <p:ph type="title"/>
          </p:nvPr>
        </p:nvSpPr>
        <p:spPr>
          <a:xfrm>
            <a:off x="379827" y="274639"/>
            <a:ext cx="11431174" cy="667512"/>
          </a:xfrm>
        </p:spPr>
        <p:txBody>
          <a:bodyPr>
            <a:normAutofit/>
          </a:bodyPr>
          <a:lstStyle/>
          <a:p>
            <a:r>
              <a:rPr lang="en-CA"/>
              <a:t>Architecture Governance Process</a:t>
            </a:r>
            <a:endParaRPr lang="en-CA">
              <a:solidFill>
                <a:srgbClr val="FF0000"/>
              </a:solidFill>
            </a:endParaRPr>
          </a:p>
        </p:txBody>
      </p:sp>
      <p:sp>
        <p:nvSpPr>
          <p:cNvPr id="64" name="Rectangle 63">
            <a:extLst>
              <a:ext uri="{FF2B5EF4-FFF2-40B4-BE49-F238E27FC236}">
                <a16:creationId xmlns:a16="http://schemas.microsoft.com/office/drawing/2014/main" id="{2D669B43-DB7D-0173-6B99-1A066A69D4C3}"/>
              </a:ext>
              <a:ext uri="{C183D7F6-B498-43B3-948B-1728B52AA6E4}">
                <adec:decorative xmlns:adec="http://schemas.microsoft.com/office/drawing/2017/decorative" val="1"/>
              </a:ext>
            </a:extLst>
          </p:cNvPr>
          <p:cNvSpPr/>
          <p:nvPr/>
        </p:nvSpPr>
        <p:spPr>
          <a:xfrm>
            <a:off x="379828" y="2422218"/>
            <a:ext cx="3555418" cy="36861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E6A04D6D-7A35-B974-975A-4E23129372CA}"/>
              </a:ext>
            </a:extLst>
          </p:cNvPr>
          <p:cNvSpPr/>
          <p:nvPr/>
        </p:nvSpPr>
        <p:spPr>
          <a:xfrm>
            <a:off x="965584" y="2515690"/>
            <a:ext cx="2435297" cy="441232"/>
          </a:xfrm>
          <a:prstGeom prst="rect">
            <a:avLst/>
          </a:prstGeom>
          <a:solidFill>
            <a:srgbClr val="669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1200">
                <a:solidFill>
                  <a:schemeClr val="tx1"/>
                </a:solidFill>
              </a:rPr>
              <a:t>BRM Engagement</a:t>
            </a:r>
          </a:p>
        </p:txBody>
      </p:sp>
      <p:sp>
        <p:nvSpPr>
          <p:cNvPr id="10" name="Rectangle 9">
            <a:extLst>
              <a:ext uri="{FF2B5EF4-FFF2-40B4-BE49-F238E27FC236}">
                <a16:creationId xmlns:a16="http://schemas.microsoft.com/office/drawing/2014/main" id="{32A29805-D186-B6A1-CFCC-A31A98DA3D2A}"/>
              </a:ext>
            </a:extLst>
          </p:cNvPr>
          <p:cNvSpPr/>
          <p:nvPr/>
        </p:nvSpPr>
        <p:spPr>
          <a:xfrm>
            <a:off x="965583" y="4719524"/>
            <a:ext cx="2435297" cy="1119617"/>
          </a:xfrm>
          <a:prstGeom prst="rect">
            <a:avLst/>
          </a:prstGeom>
          <a:solidFill>
            <a:srgbClr val="669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400">
              <a:solidFill>
                <a:schemeClr val="tx1"/>
              </a:solidFill>
            </a:endParaRPr>
          </a:p>
          <a:p>
            <a:r>
              <a:rPr lang="en-CA" sz="1200" u="sng">
                <a:solidFill>
                  <a:schemeClr val="tx1"/>
                </a:solidFill>
              </a:rPr>
              <a:t>ARB Preparation with EA</a:t>
            </a:r>
          </a:p>
          <a:p>
            <a:pPr marL="0" algn="l" rtl="0" eaLnBrk="1" fontAlgn="b" latinLnBrk="0" hangingPunct="1">
              <a:spcBef>
                <a:spcPts val="0"/>
              </a:spcBef>
              <a:spcAft>
                <a:spcPts val="0"/>
              </a:spcAft>
            </a:pPr>
            <a:r>
              <a:rPr lang="en-CA" sz="1200" b="0" i="0" u="none" strike="noStrike" kern="1200">
                <a:solidFill>
                  <a:srgbClr val="000000"/>
                </a:solidFill>
                <a:effectLst/>
                <a:latin typeface="Calibri" panose="020F0502020204030204" pitchFamily="34" charset="0"/>
              </a:rPr>
              <a:t>1st Draft Review</a:t>
            </a:r>
            <a:endParaRPr lang="en-CA" sz="1200" b="0" i="1" u="none" strike="noStrike">
              <a:solidFill>
                <a:srgbClr val="FF0000"/>
              </a:solidFill>
              <a:effectLst/>
              <a:latin typeface="Arial" panose="020B0604020202020204" pitchFamily="34" charset="0"/>
            </a:endParaRPr>
          </a:p>
          <a:p>
            <a:pPr marL="0" algn="l" rtl="0" eaLnBrk="1" fontAlgn="b" latinLnBrk="0" hangingPunct="1">
              <a:spcBef>
                <a:spcPts val="0"/>
              </a:spcBef>
              <a:spcAft>
                <a:spcPts val="0"/>
              </a:spcAft>
            </a:pPr>
            <a:r>
              <a:rPr lang="en-CA" sz="1200" b="0" i="0" u="none" strike="noStrike" kern="1200">
                <a:solidFill>
                  <a:srgbClr val="000000"/>
                </a:solidFill>
                <a:effectLst/>
                <a:latin typeface="Calibri" panose="020F0502020204030204" pitchFamily="34" charset="0"/>
              </a:rPr>
              <a:t>2nd Draft Review</a:t>
            </a:r>
            <a:endParaRPr lang="en-CA" sz="1200" b="0" i="0" u="none" strike="noStrike">
              <a:effectLst/>
              <a:latin typeface="Arial" panose="020B0604020202020204" pitchFamily="34" charset="0"/>
            </a:endParaRPr>
          </a:p>
          <a:p>
            <a:pPr marL="0" algn="l" rtl="0" eaLnBrk="1" fontAlgn="b" latinLnBrk="0" hangingPunct="1">
              <a:spcBef>
                <a:spcPts val="0"/>
              </a:spcBef>
              <a:spcAft>
                <a:spcPts val="0"/>
              </a:spcAft>
            </a:pPr>
            <a:r>
              <a:rPr lang="en-CA" sz="1200" b="0" i="0" u="none" strike="noStrike" kern="1200">
                <a:solidFill>
                  <a:srgbClr val="000000"/>
                </a:solidFill>
                <a:effectLst/>
                <a:latin typeface="Calibri" panose="020F0502020204030204" pitchFamily="34" charset="0"/>
              </a:rPr>
              <a:t>Final review with other teams</a:t>
            </a:r>
            <a:r>
              <a:rPr lang="en-CA" sz="1200">
                <a:solidFill>
                  <a:srgbClr val="000000"/>
                </a:solidFill>
                <a:latin typeface="Calibri" panose="020F0502020204030204" pitchFamily="34" charset="0"/>
              </a:rPr>
              <a:t>(</a:t>
            </a:r>
            <a:r>
              <a:rPr lang="en-CA" sz="1200" b="0" i="0" u="none" strike="noStrike" kern="1200">
                <a:solidFill>
                  <a:srgbClr val="000000"/>
                </a:solidFill>
                <a:effectLst/>
                <a:latin typeface="Calibri" panose="020F0502020204030204" pitchFamily="34" charset="0"/>
              </a:rPr>
              <a:t>as needed)</a:t>
            </a:r>
            <a:endParaRPr lang="en-CA" sz="1200" b="0" i="0" u="none" strike="noStrike">
              <a:effectLst/>
              <a:latin typeface="Arial" panose="020B0604020202020204" pitchFamily="34" charset="0"/>
            </a:endParaRPr>
          </a:p>
          <a:p>
            <a:pPr algn="ctr"/>
            <a:endParaRPr lang="en-CA" sz="1400">
              <a:solidFill>
                <a:schemeClr val="tx1"/>
              </a:solidFill>
            </a:endParaRPr>
          </a:p>
        </p:txBody>
      </p:sp>
      <p:sp>
        <p:nvSpPr>
          <p:cNvPr id="11" name="Rectangle 10">
            <a:extLst>
              <a:ext uri="{FF2B5EF4-FFF2-40B4-BE49-F238E27FC236}">
                <a16:creationId xmlns:a16="http://schemas.microsoft.com/office/drawing/2014/main" id="{0ABB4F1A-167E-65D6-0346-AF48E7E84310}"/>
              </a:ext>
            </a:extLst>
          </p:cNvPr>
          <p:cNvSpPr/>
          <p:nvPr/>
        </p:nvSpPr>
        <p:spPr>
          <a:xfrm>
            <a:off x="965584" y="3016083"/>
            <a:ext cx="2435297" cy="714571"/>
          </a:xfrm>
          <a:prstGeom prst="rect">
            <a:avLst/>
          </a:prstGeom>
          <a:solidFill>
            <a:srgbClr val="669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1200" u="sng">
                <a:solidFill>
                  <a:srgbClr val="C00000"/>
                </a:solidFill>
              </a:rPr>
              <a:t>Initial visit (Gate 0) </a:t>
            </a:r>
            <a:r>
              <a:rPr lang="en-CA" sz="1200" u="sng">
                <a:solidFill>
                  <a:schemeClr val="tx1"/>
                </a:solidFill>
              </a:rPr>
              <a:t>inputs</a:t>
            </a:r>
          </a:p>
          <a:p>
            <a:r>
              <a:rPr lang="en-CA" sz="1200">
                <a:solidFill>
                  <a:schemeClr val="tx1"/>
                </a:solidFill>
              </a:rPr>
              <a:t>- Approved Concept Case</a:t>
            </a:r>
          </a:p>
          <a:p>
            <a:r>
              <a:rPr lang="en-CA" sz="1200">
                <a:solidFill>
                  <a:schemeClr val="tx1"/>
                </a:solidFill>
              </a:rPr>
              <a:t>- Conceptual Business Model (CBM)</a:t>
            </a:r>
          </a:p>
        </p:txBody>
      </p:sp>
      <p:sp>
        <p:nvSpPr>
          <p:cNvPr id="13" name="Rectangle 12">
            <a:extLst>
              <a:ext uri="{FF2B5EF4-FFF2-40B4-BE49-F238E27FC236}">
                <a16:creationId xmlns:a16="http://schemas.microsoft.com/office/drawing/2014/main" id="{AF329406-AD62-EBA0-69BD-4B2B278A7248}"/>
              </a:ext>
            </a:extLst>
          </p:cNvPr>
          <p:cNvSpPr/>
          <p:nvPr/>
        </p:nvSpPr>
        <p:spPr>
          <a:xfrm>
            <a:off x="965583" y="3800318"/>
            <a:ext cx="2443639" cy="850534"/>
          </a:xfrm>
          <a:prstGeom prst="rect">
            <a:avLst/>
          </a:prstGeom>
          <a:solidFill>
            <a:srgbClr val="6699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CA" sz="1400">
              <a:solidFill>
                <a:srgbClr val="C00000"/>
              </a:solidFill>
            </a:endParaRPr>
          </a:p>
          <a:p>
            <a:r>
              <a:rPr lang="en-CA" sz="1200" u="sng">
                <a:solidFill>
                  <a:srgbClr val="C00000"/>
                </a:solidFill>
              </a:rPr>
              <a:t>Architecture visit (GATE 2) </a:t>
            </a:r>
            <a:r>
              <a:rPr lang="en-CA" sz="1200" u="sng">
                <a:solidFill>
                  <a:schemeClr val="tx1"/>
                </a:solidFill>
              </a:rPr>
              <a:t>inputs</a:t>
            </a:r>
          </a:p>
          <a:p>
            <a:r>
              <a:rPr lang="en-CA" sz="1200">
                <a:solidFill>
                  <a:schemeClr val="tx1"/>
                </a:solidFill>
              </a:rPr>
              <a:t>-Option Analysis/Tech Assessment </a:t>
            </a:r>
          </a:p>
          <a:p>
            <a:r>
              <a:rPr lang="en-CA" sz="1200">
                <a:solidFill>
                  <a:schemeClr val="tx1"/>
                </a:solidFill>
              </a:rPr>
              <a:t>-Solution Architect resourced</a:t>
            </a:r>
          </a:p>
          <a:p>
            <a:r>
              <a:rPr lang="en-CA" sz="1200">
                <a:solidFill>
                  <a:schemeClr val="tx1"/>
                </a:solidFill>
              </a:rPr>
              <a:t>-Solution Architecture Document</a:t>
            </a:r>
            <a:endParaRPr lang="en-CA" sz="1200">
              <a:solidFill>
                <a:schemeClr val="tx1"/>
              </a:solidFill>
              <a:cs typeface="Calibri"/>
            </a:endParaRPr>
          </a:p>
          <a:p>
            <a:pPr algn="ctr"/>
            <a:endParaRPr lang="en-CA" sz="1400">
              <a:solidFill>
                <a:schemeClr val="tx1"/>
              </a:solidFill>
            </a:endParaRPr>
          </a:p>
        </p:txBody>
      </p:sp>
      <p:sp>
        <p:nvSpPr>
          <p:cNvPr id="23" name="Rectangle 22">
            <a:extLst>
              <a:ext uri="{FF2B5EF4-FFF2-40B4-BE49-F238E27FC236}">
                <a16:creationId xmlns:a16="http://schemas.microsoft.com/office/drawing/2014/main" id="{4B4FEBEA-5B19-B5A2-53D3-92B42D98152A}"/>
              </a:ext>
            </a:extLst>
          </p:cNvPr>
          <p:cNvSpPr/>
          <p:nvPr/>
        </p:nvSpPr>
        <p:spPr>
          <a:xfrm>
            <a:off x="4912388" y="4883152"/>
            <a:ext cx="1985449" cy="1212583"/>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A" sz="1600" b="1"/>
              <a:t>HC/PHAC  </a:t>
            </a:r>
          </a:p>
          <a:p>
            <a:pPr algn="ctr"/>
            <a:r>
              <a:rPr lang="en-CA" sz="1600" b="1"/>
              <a:t>Architecture Review Board</a:t>
            </a:r>
          </a:p>
        </p:txBody>
      </p:sp>
      <p:sp>
        <p:nvSpPr>
          <p:cNvPr id="29" name="Rectangle 28">
            <a:extLst>
              <a:ext uri="{FF2B5EF4-FFF2-40B4-BE49-F238E27FC236}">
                <a16:creationId xmlns:a16="http://schemas.microsoft.com/office/drawing/2014/main" id="{81AF83F6-1995-BCE9-E41F-71408983A42B}"/>
              </a:ext>
            </a:extLst>
          </p:cNvPr>
          <p:cNvSpPr/>
          <p:nvPr/>
        </p:nvSpPr>
        <p:spPr>
          <a:xfrm>
            <a:off x="4422506" y="3438495"/>
            <a:ext cx="2477821" cy="103504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600" b="1">
                <a:solidFill>
                  <a:schemeClr val="bg1"/>
                </a:solidFill>
              </a:rPr>
              <a:t>Digital Architecture </a:t>
            </a:r>
          </a:p>
          <a:p>
            <a:pPr algn="ctr"/>
            <a:r>
              <a:rPr lang="en-CA" sz="1600" b="1">
                <a:solidFill>
                  <a:schemeClr val="bg1"/>
                </a:solidFill>
              </a:rPr>
              <a:t>Strategy of Health</a:t>
            </a:r>
          </a:p>
        </p:txBody>
      </p:sp>
      <p:sp>
        <p:nvSpPr>
          <p:cNvPr id="89" name="Rectangle 88">
            <a:extLst>
              <a:ext uri="{FF2B5EF4-FFF2-40B4-BE49-F238E27FC236}">
                <a16:creationId xmlns:a16="http://schemas.microsoft.com/office/drawing/2014/main" id="{0536E740-4981-5455-95B3-DA72F50330FE}"/>
              </a:ext>
              <a:ext uri="{C183D7F6-B498-43B3-948B-1728B52AA6E4}">
                <adec:decorative xmlns:adec="http://schemas.microsoft.com/office/drawing/2017/decorative" val="1"/>
              </a:ext>
            </a:extLst>
          </p:cNvPr>
          <p:cNvSpPr/>
          <p:nvPr/>
        </p:nvSpPr>
        <p:spPr>
          <a:xfrm>
            <a:off x="4912388" y="4888712"/>
            <a:ext cx="2003272" cy="1199630"/>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sp>
        <p:nvSpPr>
          <p:cNvPr id="18" name="TextBox 17">
            <a:extLst>
              <a:ext uri="{FF2B5EF4-FFF2-40B4-BE49-F238E27FC236}">
                <a16:creationId xmlns:a16="http://schemas.microsoft.com/office/drawing/2014/main" id="{5BDE95BA-A501-E568-DDBC-CE43F6A644F7}"/>
              </a:ext>
            </a:extLst>
          </p:cNvPr>
          <p:cNvSpPr txBox="1"/>
          <p:nvPr/>
        </p:nvSpPr>
        <p:spPr>
          <a:xfrm>
            <a:off x="7225064" y="2459311"/>
            <a:ext cx="3375321" cy="1015663"/>
          </a:xfrm>
          <a:prstGeom prst="rect">
            <a:avLst/>
          </a:prstGeom>
          <a:noFill/>
          <a:ln>
            <a:solidFill>
              <a:schemeClr val="tx1"/>
            </a:solidFill>
          </a:ln>
        </p:spPr>
        <p:txBody>
          <a:bodyPr wrap="square">
            <a:spAutoFit/>
          </a:bodyPr>
          <a:lstStyle/>
          <a:p>
            <a:r>
              <a:rPr lang="en-CA" sz="1200" u="none" strike="noStrike">
                <a:effectLst/>
              </a:rPr>
              <a:t>Greater than $5M, non-standard tech, innovative tech, or OCIO requested. NOTE: Projects connected to a TB submission must visit this table at least 2 weeks prior to TB Sub being presented to cabinet.</a:t>
            </a:r>
            <a:endParaRPr lang="en-CA" sz="1200"/>
          </a:p>
        </p:txBody>
      </p:sp>
      <p:sp>
        <p:nvSpPr>
          <p:cNvPr id="25" name="TextBox 24">
            <a:extLst>
              <a:ext uri="{FF2B5EF4-FFF2-40B4-BE49-F238E27FC236}">
                <a16:creationId xmlns:a16="http://schemas.microsoft.com/office/drawing/2014/main" id="{95BA1AB0-8092-8CA7-0173-8FA4E1D855C7}"/>
              </a:ext>
            </a:extLst>
          </p:cNvPr>
          <p:cNvSpPr txBox="1"/>
          <p:nvPr/>
        </p:nvSpPr>
        <p:spPr>
          <a:xfrm>
            <a:off x="7225064" y="4430057"/>
            <a:ext cx="3631537" cy="1015663"/>
          </a:xfrm>
          <a:prstGeom prst="rect">
            <a:avLst/>
          </a:prstGeom>
          <a:noFill/>
          <a:ln>
            <a:solidFill>
              <a:schemeClr val="tx1"/>
            </a:solidFill>
          </a:ln>
        </p:spPr>
        <p:txBody>
          <a:bodyPr wrap="square">
            <a:spAutoFit/>
          </a:bodyPr>
          <a:lstStyle/>
          <a:p>
            <a:r>
              <a:rPr lang="en-CA" sz="1200"/>
              <a:t>DG level and CIO endorsement of their architecture on the way to GC EARB table. Not all items that go to ARB will need to go to DASH, especially if they are fully aligned to existing approved architectures and patterns. </a:t>
            </a:r>
          </a:p>
        </p:txBody>
      </p:sp>
      <p:sp>
        <p:nvSpPr>
          <p:cNvPr id="35" name="Right Brace 34" descr="Bracket from &quot;Ready for architecture governance&quot; to timeline for HC/PHAC Architecture Review Board diagram&#10;">
            <a:extLst>
              <a:ext uri="{FF2B5EF4-FFF2-40B4-BE49-F238E27FC236}">
                <a16:creationId xmlns:a16="http://schemas.microsoft.com/office/drawing/2014/main" id="{5AAA1453-D4E3-378B-7832-7FCD84BB2EC2}"/>
              </a:ext>
            </a:extLst>
          </p:cNvPr>
          <p:cNvSpPr/>
          <p:nvPr/>
        </p:nvSpPr>
        <p:spPr>
          <a:xfrm>
            <a:off x="3971764" y="2422217"/>
            <a:ext cx="377799" cy="3686176"/>
          </a:xfrm>
          <a:prstGeom prst="rightBrace">
            <a:avLst>
              <a:gd name="adj1" fmla="val 8333"/>
              <a:gd name="adj2" fmla="val 78931"/>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65" name="TextBox 64">
            <a:extLst>
              <a:ext uri="{FF2B5EF4-FFF2-40B4-BE49-F238E27FC236}">
                <a16:creationId xmlns:a16="http://schemas.microsoft.com/office/drawing/2014/main" id="{D681DA51-53A7-5A2F-3258-E868877904BC}"/>
              </a:ext>
            </a:extLst>
          </p:cNvPr>
          <p:cNvSpPr txBox="1"/>
          <p:nvPr/>
        </p:nvSpPr>
        <p:spPr>
          <a:xfrm>
            <a:off x="419118" y="2398619"/>
            <a:ext cx="546467" cy="3626306"/>
          </a:xfrm>
          <a:prstGeom prst="rect">
            <a:avLst/>
          </a:prstGeom>
          <a:noFill/>
        </p:spPr>
        <p:txBody>
          <a:bodyPr vert="vert270" wrap="square" rtlCol="0">
            <a:spAutoFit/>
          </a:bodyPr>
          <a:lstStyle/>
          <a:p>
            <a:r>
              <a:rPr lang="en-CA" b="1"/>
              <a:t>Ready for architecture governance?</a:t>
            </a:r>
          </a:p>
        </p:txBody>
      </p:sp>
      <p:sp>
        <p:nvSpPr>
          <p:cNvPr id="67" name="Rectangle 66">
            <a:extLst>
              <a:ext uri="{FF2B5EF4-FFF2-40B4-BE49-F238E27FC236}">
                <a16:creationId xmlns:a16="http://schemas.microsoft.com/office/drawing/2014/main" id="{9ACC9CA2-5555-95BB-4EB6-D7E225FA9C0E}"/>
              </a:ext>
              <a:ext uri="{C183D7F6-B498-43B3-948B-1728B52AA6E4}">
                <adec:decorative xmlns:adec="http://schemas.microsoft.com/office/drawing/2017/decorative" val="1"/>
              </a:ext>
            </a:extLst>
          </p:cNvPr>
          <p:cNvSpPr/>
          <p:nvPr/>
        </p:nvSpPr>
        <p:spPr>
          <a:xfrm>
            <a:off x="4420553" y="3431105"/>
            <a:ext cx="2492611" cy="1065231"/>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cxnSp>
        <p:nvCxnSpPr>
          <p:cNvPr id="70" name="Connector: Elbow 69" descr="HC/PHAC Architecture Review Board arrow to the information of &quot;when to go to DASH&quot;&#10;">
            <a:extLst>
              <a:ext uri="{FF2B5EF4-FFF2-40B4-BE49-F238E27FC236}">
                <a16:creationId xmlns:a16="http://schemas.microsoft.com/office/drawing/2014/main" id="{7BB61BC4-89BD-38AC-7457-AEA06061701E}"/>
              </a:ext>
            </a:extLst>
          </p:cNvPr>
          <p:cNvCxnSpPr>
            <a:cxnSpLocks/>
            <a:endCxn id="25" idx="2"/>
          </p:cNvCxnSpPr>
          <p:nvPr/>
        </p:nvCxnSpPr>
        <p:spPr>
          <a:xfrm flipV="1">
            <a:off x="6963431" y="5445720"/>
            <a:ext cx="2077402" cy="27275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1FB33FE3-55A4-B1CA-240E-98DE330FF093}"/>
              </a:ext>
            </a:extLst>
          </p:cNvPr>
          <p:cNvSpPr txBox="1"/>
          <p:nvPr/>
        </p:nvSpPr>
        <p:spPr>
          <a:xfrm>
            <a:off x="7940573" y="5717148"/>
            <a:ext cx="2452674" cy="307777"/>
          </a:xfrm>
          <a:prstGeom prst="rect">
            <a:avLst/>
          </a:prstGeom>
          <a:noFill/>
        </p:spPr>
        <p:txBody>
          <a:bodyPr wrap="square">
            <a:spAutoFit/>
          </a:bodyPr>
          <a:lstStyle/>
          <a:p>
            <a:r>
              <a:rPr lang="en-CA" sz="1400" b="1" i="1">
                <a:solidFill>
                  <a:srgbClr val="C00000"/>
                </a:solidFill>
              </a:rPr>
              <a:t>Do I need to go to DASH?</a:t>
            </a:r>
          </a:p>
        </p:txBody>
      </p:sp>
      <p:cxnSp>
        <p:nvCxnSpPr>
          <p:cNvPr id="73" name="Connector: Elbow 72" descr="Arrow from &quot;When to go to DASH&quot; to the timeframe to Digital Architecture Strategy of Health IF REQUIRED.&#10;">
            <a:extLst>
              <a:ext uri="{FF2B5EF4-FFF2-40B4-BE49-F238E27FC236}">
                <a16:creationId xmlns:a16="http://schemas.microsoft.com/office/drawing/2014/main" id="{D0E80B5E-7A1A-86D4-1B72-BB47DACC3592}"/>
              </a:ext>
            </a:extLst>
          </p:cNvPr>
          <p:cNvCxnSpPr>
            <a:cxnSpLocks/>
            <a:stCxn id="25" idx="0"/>
          </p:cNvCxnSpPr>
          <p:nvPr/>
        </p:nvCxnSpPr>
        <p:spPr>
          <a:xfrm rot="16200000" flipV="1">
            <a:off x="8108048" y="3497271"/>
            <a:ext cx="358008" cy="150756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95E758FC-9B3C-B700-768B-380FFE6244B0}"/>
              </a:ext>
            </a:extLst>
          </p:cNvPr>
          <p:cNvSpPr txBox="1"/>
          <p:nvPr/>
        </p:nvSpPr>
        <p:spPr>
          <a:xfrm>
            <a:off x="7940573" y="3619623"/>
            <a:ext cx="2643357" cy="307777"/>
          </a:xfrm>
          <a:prstGeom prst="rect">
            <a:avLst/>
          </a:prstGeom>
          <a:noFill/>
        </p:spPr>
        <p:txBody>
          <a:bodyPr wrap="square">
            <a:spAutoFit/>
          </a:bodyPr>
          <a:lstStyle/>
          <a:p>
            <a:r>
              <a:rPr lang="en-CA" sz="1400" b="1" i="1">
                <a:solidFill>
                  <a:srgbClr val="C00000"/>
                </a:solidFill>
              </a:rPr>
              <a:t>Do I need to go to GC EARB?</a:t>
            </a:r>
          </a:p>
        </p:txBody>
      </p:sp>
      <p:cxnSp>
        <p:nvCxnSpPr>
          <p:cNvPr id="78" name="Connector: Elbow 77" descr="Arrow from Digital Architecture Strategy of Health to &quot;Do I need to go to GC EARB&quot; information.">
            <a:extLst>
              <a:ext uri="{FF2B5EF4-FFF2-40B4-BE49-F238E27FC236}">
                <a16:creationId xmlns:a16="http://schemas.microsoft.com/office/drawing/2014/main" id="{82E9797E-4CFD-009B-2BC2-BC6F615110A8}"/>
              </a:ext>
            </a:extLst>
          </p:cNvPr>
          <p:cNvCxnSpPr>
            <a:cxnSpLocks/>
            <a:endCxn id="18" idx="2"/>
          </p:cNvCxnSpPr>
          <p:nvPr/>
        </p:nvCxnSpPr>
        <p:spPr>
          <a:xfrm flipV="1">
            <a:off x="6968420" y="3474974"/>
            <a:ext cx="1944305" cy="18351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descr="Arrow from information of &quot;Do I need to go to GC EARB&quot; to HC/PHAC ARB GC EARB Solution Alignment / Solution Architecture Directive box, IF REQUIRED">
            <a:extLst>
              <a:ext uri="{FF2B5EF4-FFF2-40B4-BE49-F238E27FC236}">
                <a16:creationId xmlns:a16="http://schemas.microsoft.com/office/drawing/2014/main" id="{C344F370-A817-0D7F-3721-3F9675D4C51E}"/>
              </a:ext>
            </a:extLst>
          </p:cNvPr>
          <p:cNvCxnSpPr>
            <a:cxnSpLocks/>
          </p:cNvCxnSpPr>
          <p:nvPr/>
        </p:nvCxnSpPr>
        <p:spPr>
          <a:xfrm rot="10800000">
            <a:off x="5103910" y="2420889"/>
            <a:ext cx="2092970" cy="61358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4C3EA140-B0B6-88BB-3BE3-D0EFAC92F85C}"/>
              </a:ext>
            </a:extLst>
          </p:cNvPr>
          <p:cNvSpPr txBox="1"/>
          <p:nvPr/>
        </p:nvSpPr>
        <p:spPr>
          <a:xfrm>
            <a:off x="5792101" y="2780928"/>
            <a:ext cx="901667" cy="246221"/>
          </a:xfrm>
          <a:prstGeom prst="rect">
            <a:avLst/>
          </a:prstGeom>
          <a:noFill/>
        </p:spPr>
        <p:txBody>
          <a:bodyPr wrap="square" rtlCol="0">
            <a:spAutoFit/>
          </a:bodyPr>
          <a:lstStyle/>
          <a:p>
            <a:r>
              <a:rPr lang="en-CA" sz="1000"/>
              <a:t>If required</a:t>
            </a:r>
          </a:p>
        </p:txBody>
      </p:sp>
      <p:sp>
        <p:nvSpPr>
          <p:cNvPr id="103" name="TextBox 102">
            <a:extLst>
              <a:ext uri="{FF2B5EF4-FFF2-40B4-BE49-F238E27FC236}">
                <a16:creationId xmlns:a16="http://schemas.microsoft.com/office/drawing/2014/main" id="{2A97203F-F8BB-DB18-B813-2C255C8FB4A1}"/>
              </a:ext>
            </a:extLst>
          </p:cNvPr>
          <p:cNvSpPr txBox="1"/>
          <p:nvPr/>
        </p:nvSpPr>
        <p:spPr>
          <a:xfrm>
            <a:off x="9040832" y="4072049"/>
            <a:ext cx="901667" cy="246221"/>
          </a:xfrm>
          <a:prstGeom prst="rect">
            <a:avLst/>
          </a:prstGeom>
          <a:noFill/>
        </p:spPr>
        <p:txBody>
          <a:bodyPr wrap="square" rtlCol="0">
            <a:spAutoFit/>
          </a:bodyPr>
          <a:lstStyle/>
          <a:p>
            <a:r>
              <a:rPr lang="en-CA" sz="1000"/>
              <a:t>If required</a:t>
            </a:r>
          </a:p>
        </p:txBody>
      </p:sp>
      <p:sp>
        <p:nvSpPr>
          <p:cNvPr id="36" name="Arrow: Down 35">
            <a:extLst>
              <a:ext uri="{FF2B5EF4-FFF2-40B4-BE49-F238E27FC236}">
                <a16:creationId xmlns:a16="http://schemas.microsoft.com/office/drawing/2014/main" id="{1752406C-4711-9255-FA81-DF7BB254F49D}"/>
              </a:ext>
              <a:ext uri="{C183D7F6-B498-43B3-948B-1728B52AA6E4}">
                <adec:decorative xmlns:adec="http://schemas.microsoft.com/office/drawing/2017/decorative" val="1"/>
              </a:ext>
            </a:extLst>
          </p:cNvPr>
          <p:cNvSpPr/>
          <p:nvPr/>
        </p:nvSpPr>
        <p:spPr>
          <a:xfrm>
            <a:off x="3480212" y="2483925"/>
            <a:ext cx="338055" cy="3326954"/>
          </a:xfrm>
          <a:prstGeom prst="downArrow">
            <a:avLst/>
          </a:prstGeom>
          <a:solidFill>
            <a:srgbClr val="669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3" name="Slide Number Placeholder 132">
            <a:extLst>
              <a:ext uri="{FF2B5EF4-FFF2-40B4-BE49-F238E27FC236}">
                <a16:creationId xmlns:a16="http://schemas.microsoft.com/office/drawing/2014/main" id="{CE3696FF-0738-E3F6-1CBF-68BA527B4245}"/>
              </a:ext>
            </a:extLst>
          </p:cNvPr>
          <p:cNvSpPr>
            <a:spLocks noGrp="1"/>
          </p:cNvSpPr>
          <p:nvPr>
            <p:ph type="sldNum" sz="quarter" idx="4"/>
          </p:nvPr>
        </p:nvSpPr>
        <p:spPr/>
        <p:txBody>
          <a:bodyPr/>
          <a:lstStyle/>
          <a:p>
            <a:r>
              <a:rPr lang="en-CA"/>
              <a:t>   </a:t>
            </a:r>
            <a:fld id="{C2CFCAEE-9001-4833-86ED-EE890F7E4795}" type="slidenum">
              <a:rPr lang="en-CA" smtClean="0"/>
              <a:pPr/>
              <a:t>2</a:t>
            </a:fld>
            <a:endParaRPr lang="en-CA"/>
          </a:p>
        </p:txBody>
      </p:sp>
      <p:grpSp>
        <p:nvGrpSpPr>
          <p:cNvPr id="14" name="Group 13" descr="Calendar picture with 2-3 weeks timeframe identified below.">
            <a:extLst>
              <a:ext uri="{FF2B5EF4-FFF2-40B4-BE49-F238E27FC236}">
                <a16:creationId xmlns:a16="http://schemas.microsoft.com/office/drawing/2014/main" id="{BC4831C3-C822-67DB-B53D-72F7C398B325}"/>
              </a:ext>
            </a:extLst>
          </p:cNvPr>
          <p:cNvGrpSpPr/>
          <p:nvPr/>
        </p:nvGrpSpPr>
        <p:grpSpPr>
          <a:xfrm>
            <a:off x="6911618" y="3753095"/>
            <a:ext cx="816698" cy="674182"/>
            <a:chOff x="11118234" y="4760009"/>
            <a:chExt cx="816698" cy="674182"/>
          </a:xfrm>
        </p:grpSpPr>
        <p:pic>
          <p:nvPicPr>
            <p:cNvPr id="5" name="Graphic 4" descr="Monthly calendar with solid fill">
              <a:extLst>
                <a:ext uri="{FF2B5EF4-FFF2-40B4-BE49-F238E27FC236}">
                  <a16:creationId xmlns:a16="http://schemas.microsoft.com/office/drawing/2014/main" id="{18DDA198-5DB3-60E0-ADF7-FAA7C6EA1F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6417" y="4760009"/>
              <a:ext cx="513469" cy="513469"/>
            </a:xfrm>
            <a:prstGeom prst="rect">
              <a:avLst/>
            </a:prstGeom>
          </p:spPr>
        </p:pic>
        <p:sp>
          <p:nvSpPr>
            <p:cNvPr id="12" name="TextBox 11">
              <a:extLst>
                <a:ext uri="{FF2B5EF4-FFF2-40B4-BE49-F238E27FC236}">
                  <a16:creationId xmlns:a16="http://schemas.microsoft.com/office/drawing/2014/main" id="{E7E43066-BF6B-3648-A135-ABE69F1DFE37}"/>
                </a:ext>
              </a:extLst>
            </p:cNvPr>
            <p:cNvSpPr txBox="1"/>
            <p:nvPr/>
          </p:nvSpPr>
          <p:spPr>
            <a:xfrm>
              <a:off x="11118234" y="5157192"/>
              <a:ext cx="816698" cy="276999"/>
            </a:xfrm>
            <a:prstGeom prst="rect">
              <a:avLst/>
            </a:prstGeom>
            <a:noFill/>
          </p:spPr>
          <p:txBody>
            <a:bodyPr wrap="none" rtlCol="0">
              <a:spAutoFit/>
            </a:bodyPr>
            <a:lstStyle/>
            <a:p>
              <a:pPr algn="ctr"/>
              <a:r>
                <a:rPr lang="en-CA" sz="1200"/>
                <a:t>2-3 weeks</a:t>
              </a:r>
            </a:p>
          </p:txBody>
        </p:sp>
      </p:grpSp>
      <p:grpSp>
        <p:nvGrpSpPr>
          <p:cNvPr id="15" name="Group 14" descr="Calendar picture with 4-5 weeks timeframe identified below.">
            <a:extLst>
              <a:ext uri="{FF2B5EF4-FFF2-40B4-BE49-F238E27FC236}">
                <a16:creationId xmlns:a16="http://schemas.microsoft.com/office/drawing/2014/main" id="{41F041AD-CA8F-6483-692E-1D2EB0236DB8}"/>
              </a:ext>
            </a:extLst>
          </p:cNvPr>
          <p:cNvGrpSpPr/>
          <p:nvPr/>
        </p:nvGrpSpPr>
        <p:grpSpPr>
          <a:xfrm>
            <a:off x="4349563" y="2440647"/>
            <a:ext cx="816698" cy="674182"/>
            <a:chOff x="11118234" y="4760009"/>
            <a:chExt cx="816698" cy="674182"/>
          </a:xfrm>
        </p:grpSpPr>
        <p:pic>
          <p:nvPicPr>
            <p:cNvPr id="16" name="Graphic 15" descr="Monthly calendar with solid fill">
              <a:extLst>
                <a:ext uri="{FF2B5EF4-FFF2-40B4-BE49-F238E27FC236}">
                  <a16:creationId xmlns:a16="http://schemas.microsoft.com/office/drawing/2014/main" id="{ABA52F43-6BD7-455D-358A-BABC565553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6417" y="4760009"/>
              <a:ext cx="513469" cy="513469"/>
            </a:xfrm>
            <a:prstGeom prst="rect">
              <a:avLst/>
            </a:prstGeom>
          </p:spPr>
        </p:pic>
        <p:sp>
          <p:nvSpPr>
            <p:cNvPr id="17" name="TextBox 16">
              <a:extLst>
                <a:ext uri="{FF2B5EF4-FFF2-40B4-BE49-F238E27FC236}">
                  <a16:creationId xmlns:a16="http://schemas.microsoft.com/office/drawing/2014/main" id="{6165B7A7-A225-B20E-ACA1-9614441AE4FD}"/>
                </a:ext>
              </a:extLst>
            </p:cNvPr>
            <p:cNvSpPr txBox="1"/>
            <p:nvPr/>
          </p:nvSpPr>
          <p:spPr>
            <a:xfrm>
              <a:off x="11118234" y="5157192"/>
              <a:ext cx="816698" cy="276999"/>
            </a:xfrm>
            <a:prstGeom prst="rect">
              <a:avLst/>
            </a:prstGeom>
            <a:noFill/>
          </p:spPr>
          <p:txBody>
            <a:bodyPr wrap="none" rtlCol="0">
              <a:spAutoFit/>
            </a:bodyPr>
            <a:lstStyle/>
            <a:p>
              <a:pPr algn="ctr"/>
              <a:r>
                <a:rPr lang="en-CA" sz="1200"/>
                <a:t>4-5 weeks</a:t>
              </a:r>
            </a:p>
          </p:txBody>
        </p:sp>
      </p:grpSp>
      <p:grpSp>
        <p:nvGrpSpPr>
          <p:cNvPr id="19" name="Group 18" descr="Calendar picture with 4 weeks timeframe identified below.">
            <a:extLst>
              <a:ext uri="{FF2B5EF4-FFF2-40B4-BE49-F238E27FC236}">
                <a16:creationId xmlns:a16="http://schemas.microsoft.com/office/drawing/2014/main" id="{9766CA0A-D839-B3EC-4987-359A205AD7B2}"/>
              </a:ext>
            </a:extLst>
          </p:cNvPr>
          <p:cNvGrpSpPr/>
          <p:nvPr/>
        </p:nvGrpSpPr>
        <p:grpSpPr>
          <a:xfrm>
            <a:off x="4266901" y="5196854"/>
            <a:ext cx="691664" cy="674182"/>
            <a:chOff x="11180751" y="4760009"/>
            <a:chExt cx="691664" cy="674182"/>
          </a:xfrm>
        </p:grpSpPr>
        <p:pic>
          <p:nvPicPr>
            <p:cNvPr id="20" name="Graphic 19" descr="Monthly calendar with solid fill">
              <a:extLst>
                <a:ext uri="{FF2B5EF4-FFF2-40B4-BE49-F238E27FC236}">
                  <a16:creationId xmlns:a16="http://schemas.microsoft.com/office/drawing/2014/main" id="{58D2D120-1B0D-069C-2F99-D0CED4075E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6417" y="4760009"/>
              <a:ext cx="513469" cy="513469"/>
            </a:xfrm>
            <a:prstGeom prst="rect">
              <a:avLst/>
            </a:prstGeom>
          </p:spPr>
        </p:pic>
        <p:sp>
          <p:nvSpPr>
            <p:cNvPr id="21" name="TextBox 20">
              <a:extLst>
                <a:ext uri="{FF2B5EF4-FFF2-40B4-BE49-F238E27FC236}">
                  <a16:creationId xmlns:a16="http://schemas.microsoft.com/office/drawing/2014/main" id="{C7CD6EDF-E6D6-6328-56EC-59A590EBD955}"/>
                </a:ext>
              </a:extLst>
            </p:cNvPr>
            <p:cNvSpPr txBox="1"/>
            <p:nvPr/>
          </p:nvSpPr>
          <p:spPr>
            <a:xfrm>
              <a:off x="11180751" y="5157192"/>
              <a:ext cx="691664" cy="276999"/>
            </a:xfrm>
            <a:prstGeom prst="rect">
              <a:avLst/>
            </a:prstGeom>
            <a:noFill/>
          </p:spPr>
          <p:txBody>
            <a:bodyPr wrap="none" rtlCol="0">
              <a:spAutoFit/>
            </a:bodyPr>
            <a:lstStyle/>
            <a:p>
              <a:pPr algn="ctr"/>
              <a:r>
                <a:rPr lang="en-CA" sz="1200"/>
                <a:t>4 weeks</a:t>
              </a:r>
            </a:p>
          </p:txBody>
        </p:sp>
      </p:grpSp>
      <p:sp>
        <p:nvSpPr>
          <p:cNvPr id="2" name="TextBox 1">
            <a:extLst>
              <a:ext uri="{FF2B5EF4-FFF2-40B4-BE49-F238E27FC236}">
                <a16:creationId xmlns:a16="http://schemas.microsoft.com/office/drawing/2014/main" id="{2FF24FF7-3456-C481-D345-C3B773E6EBF2}"/>
              </a:ext>
            </a:extLst>
          </p:cNvPr>
          <p:cNvSpPr txBox="1"/>
          <p:nvPr/>
        </p:nvSpPr>
        <p:spPr>
          <a:xfrm>
            <a:off x="10740516" y="274639"/>
            <a:ext cx="11509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reference</a:t>
            </a:r>
          </a:p>
        </p:txBody>
      </p:sp>
      <p:sp>
        <p:nvSpPr>
          <p:cNvPr id="3" name="Rectangle 2">
            <a:extLst>
              <a:ext uri="{FF2B5EF4-FFF2-40B4-BE49-F238E27FC236}">
                <a16:creationId xmlns:a16="http://schemas.microsoft.com/office/drawing/2014/main" id="{D6765517-C33F-F213-3EC4-C098089DC73D}"/>
              </a:ext>
              <a:ext uri="{C183D7F6-B498-43B3-948B-1728B52AA6E4}">
                <adec:decorative xmlns:adec="http://schemas.microsoft.com/office/drawing/2017/decorative" val="1"/>
              </a:ext>
            </a:extLst>
          </p:cNvPr>
          <p:cNvSpPr/>
          <p:nvPr/>
        </p:nvSpPr>
        <p:spPr>
          <a:xfrm>
            <a:off x="2939804" y="1165351"/>
            <a:ext cx="1372763" cy="1204076"/>
          </a:xfrm>
          <a:prstGeom prst="rect">
            <a:avLst/>
          </a:prstGeom>
          <a:no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8602099-612A-408D-70FC-474FBE1C33E0}"/>
              </a:ext>
            </a:extLst>
          </p:cNvPr>
          <p:cNvSpPr txBox="1"/>
          <p:nvPr/>
        </p:nvSpPr>
        <p:spPr>
          <a:xfrm>
            <a:off x="3039853" y="1196762"/>
            <a:ext cx="1214546" cy="353943"/>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accent5">
                    <a:lumMod val="50000"/>
                  </a:schemeClr>
                </a:solidFill>
                <a:cs typeface="Calibri"/>
              </a:rPr>
              <a:t>EARLY ENGAGEMENT</a:t>
            </a:r>
          </a:p>
          <a:p>
            <a:r>
              <a:rPr lang="en-US" sz="700">
                <a:cs typeface="Calibri"/>
              </a:rPr>
              <a:t> </a:t>
            </a:r>
            <a:r>
              <a:rPr lang="en-US" sz="700" b="1">
                <a:cs typeface="Calibri"/>
              </a:rPr>
              <a:t>  Budget Proposal &amp; M.C</a:t>
            </a:r>
            <a:r>
              <a:rPr lang="en-US" sz="800" b="1">
                <a:cs typeface="Calibri"/>
              </a:rPr>
              <a:t>.</a:t>
            </a:r>
            <a:endParaRPr lang="en-US" b="1"/>
          </a:p>
        </p:txBody>
      </p:sp>
      <p:sp>
        <p:nvSpPr>
          <p:cNvPr id="6" name="Rectangle: Rounded Corners 5">
            <a:extLst>
              <a:ext uri="{FF2B5EF4-FFF2-40B4-BE49-F238E27FC236}">
                <a16:creationId xmlns:a16="http://schemas.microsoft.com/office/drawing/2014/main" id="{3C2C7BAB-942A-04E5-5EFE-41A2955AB78D}"/>
              </a:ext>
              <a:ext uri="{C183D7F6-B498-43B3-948B-1728B52AA6E4}">
                <adec:decorative xmlns:adec="http://schemas.microsoft.com/office/drawing/2017/decorative" val="1"/>
              </a:ext>
            </a:extLst>
          </p:cNvPr>
          <p:cNvSpPr/>
          <p:nvPr/>
        </p:nvSpPr>
        <p:spPr>
          <a:xfrm>
            <a:off x="2997973" y="1544606"/>
            <a:ext cx="1297143" cy="599127"/>
          </a:xfrm>
          <a:prstGeom prst="roundRect">
            <a:avLst/>
          </a:prstGeom>
          <a:solidFill>
            <a:srgbClr val="CFDD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6A0B1A6-2563-47D7-F182-474DD9C54D6E}"/>
              </a:ext>
            </a:extLst>
          </p:cNvPr>
          <p:cNvSpPr txBox="1"/>
          <p:nvPr/>
        </p:nvSpPr>
        <p:spPr>
          <a:xfrm>
            <a:off x="3001464" y="1545770"/>
            <a:ext cx="1287834"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solidFill>
                  <a:schemeClr val="accent1">
                    <a:lumMod val="75000"/>
                  </a:schemeClr>
                </a:solidFill>
                <a:latin typeface="Arial"/>
                <a:cs typeface="Calibri"/>
              </a:rPr>
              <a:t>Concept Case</a:t>
            </a:r>
          </a:p>
          <a:p>
            <a:pPr algn="ctr"/>
            <a:r>
              <a:rPr lang="en-US" sz="800">
                <a:solidFill>
                  <a:schemeClr val="accent1">
                    <a:lumMod val="75000"/>
                  </a:schemeClr>
                </a:solidFill>
                <a:cs typeface="Calibri"/>
              </a:rPr>
              <a:t>Identifies and defines strategic needs by the business</a:t>
            </a:r>
          </a:p>
        </p:txBody>
      </p:sp>
      <p:sp>
        <p:nvSpPr>
          <p:cNvPr id="8" name="Rectangle 7">
            <a:extLst>
              <a:ext uri="{FF2B5EF4-FFF2-40B4-BE49-F238E27FC236}">
                <a16:creationId xmlns:a16="http://schemas.microsoft.com/office/drawing/2014/main" id="{BBEEE30B-5A31-8589-D6DF-2E02B7A39E6A}"/>
              </a:ext>
            </a:extLst>
          </p:cNvPr>
          <p:cNvSpPr/>
          <p:nvPr/>
        </p:nvSpPr>
        <p:spPr>
          <a:xfrm>
            <a:off x="2985175" y="2222844"/>
            <a:ext cx="1320412" cy="133786"/>
          </a:xfrm>
          <a:prstGeom prst="rect">
            <a:avLst/>
          </a:prstGeom>
          <a:solidFill>
            <a:srgbClr val="ACCCE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solidFill>
                  <a:schemeClr val="accent1">
                    <a:lumMod val="75000"/>
                  </a:schemeClr>
                </a:solidFill>
                <a:cs typeface="Calibri"/>
              </a:rPr>
              <a:t>Mandatory Procedure</a:t>
            </a:r>
          </a:p>
        </p:txBody>
      </p:sp>
      <p:sp>
        <p:nvSpPr>
          <p:cNvPr id="22" name="Rectangle 21">
            <a:extLst>
              <a:ext uri="{FF2B5EF4-FFF2-40B4-BE49-F238E27FC236}">
                <a16:creationId xmlns:a16="http://schemas.microsoft.com/office/drawing/2014/main" id="{69FA79C1-1EC5-1DCC-5DAF-49484B8B5F20}"/>
              </a:ext>
              <a:ext uri="{C183D7F6-B498-43B3-948B-1728B52AA6E4}">
                <adec:decorative xmlns:adec="http://schemas.microsoft.com/office/drawing/2017/decorative" val="1"/>
              </a:ext>
            </a:extLst>
          </p:cNvPr>
          <p:cNvSpPr/>
          <p:nvPr/>
        </p:nvSpPr>
        <p:spPr>
          <a:xfrm>
            <a:off x="4446353" y="1153717"/>
            <a:ext cx="1372763" cy="1204076"/>
          </a:xfrm>
          <a:prstGeom prst="rect">
            <a:avLst/>
          </a:prstGeom>
          <a:no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9C5C815-209E-0B1B-629E-D7AE876B53E0}"/>
              </a:ext>
            </a:extLst>
          </p:cNvPr>
          <p:cNvSpPr txBox="1"/>
          <p:nvPr/>
        </p:nvSpPr>
        <p:spPr>
          <a:xfrm>
            <a:off x="4534769" y="1190944"/>
            <a:ext cx="1319247" cy="33855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accent5">
                    <a:lumMod val="50000"/>
                  </a:schemeClr>
                </a:solidFill>
                <a:cs typeface="Calibri"/>
              </a:rPr>
              <a:t>SOLUTION ALIGNMENT</a:t>
            </a:r>
            <a:endParaRPr lang="en-US">
              <a:solidFill>
                <a:schemeClr val="accent5">
                  <a:lumMod val="50000"/>
                </a:schemeClr>
              </a:solidFill>
              <a:cs typeface="Calibri"/>
            </a:endParaRPr>
          </a:p>
          <a:p>
            <a:r>
              <a:rPr lang="en-US" sz="700">
                <a:cs typeface="Calibri"/>
              </a:rPr>
              <a:t>    </a:t>
            </a:r>
            <a:r>
              <a:rPr lang="en-US" sz="700" b="1">
                <a:cs typeface="Calibri"/>
              </a:rPr>
              <a:t>  Solution Architecture</a:t>
            </a:r>
            <a:endParaRPr lang="en-US" sz="800" b="1">
              <a:cs typeface="Calibri"/>
            </a:endParaRPr>
          </a:p>
        </p:txBody>
      </p:sp>
      <p:sp>
        <p:nvSpPr>
          <p:cNvPr id="26" name="Rectangle: Rounded Corners 25">
            <a:extLst>
              <a:ext uri="{FF2B5EF4-FFF2-40B4-BE49-F238E27FC236}">
                <a16:creationId xmlns:a16="http://schemas.microsoft.com/office/drawing/2014/main" id="{CDE2FF38-A45C-C5A7-7067-D07C922C60C0}"/>
              </a:ext>
              <a:ext uri="{C183D7F6-B498-43B3-948B-1728B52AA6E4}">
                <adec:decorative xmlns:adec="http://schemas.microsoft.com/office/drawing/2017/decorative" val="1"/>
              </a:ext>
            </a:extLst>
          </p:cNvPr>
          <p:cNvSpPr/>
          <p:nvPr/>
        </p:nvSpPr>
        <p:spPr>
          <a:xfrm>
            <a:off x="4504522" y="1532972"/>
            <a:ext cx="1297143" cy="599127"/>
          </a:xfrm>
          <a:prstGeom prst="roundRect">
            <a:avLst/>
          </a:prstGeom>
          <a:solidFill>
            <a:srgbClr val="CFDD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12684B9-EB46-2CAD-A667-B136C9FE7890}"/>
              </a:ext>
            </a:extLst>
          </p:cNvPr>
          <p:cNvSpPr txBox="1"/>
          <p:nvPr/>
        </p:nvSpPr>
        <p:spPr>
          <a:xfrm>
            <a:off x="4513830" y="1621388"/>
            <a:ext cx="12878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solidFill>
                  <a:schemeClr val="accent1">
                    <a:lumMod val="75000"/>
                  </a:schemeClr>
                </a:solidFill>
                <a:latin typeface="Arial"/>
                <a:cs typeface="Calibri"/>
              </a:rPr>
              <a:t>HC/PHAC ARB GC EARB</a:t>
            </a:r>
            <a:endParaRPr lang="en-US" sz="1200">
              <a:solidFill>
                <a:schemeClr val="accent1">
                  <a:lumMod val="75000"/>
                </a:schemeClr>
              </a:solidFill>
              <a:cs typeface="Calibri"/>
            </a:endParaRPr>
          </a:p>
        </p:txBody>
      </p:sp>
      <p:sp>
        <p:nvSpPr>
          <p:cNvPr id="28" name="Rectangle 27">
            <a:extLst>
              <a:ext uri="{FF2B5EF4-FFF2-40B4-BE49-F238E27FC236}">
                <a16:creationId xmlns:a16="http://schemas.microsoft.com/office/drawing/2014/main" id="{421D4C62-FD23-AEE9-6925-EF1A207228EB}"/>
              </a:ext>
            </a:extLst>
          </p:cNvPr>
          <p:cNvSpPr/>
          <p:nvPr/>
        </p:nvSpPr>
        <p:spPr>
          <a:xfrm>
            <a:off x="4491724" y="2211210"/>
            <a:ext cx="1320412" cy="133786"/>
          </a:xfrm>
          <a:prstGeom prst="rect">
            <a:avLst/>
          </a:prstGeom>
          <a:solidFill>
            <a:srgbClr val="ACCCE8"/>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a:solidFill>
                  <a:schemeClr val="accent1">
                    <a:lumMod val="75000"/>
                  </a:schemeClr>
                </a:solidFill>
                <a:cs typeface="Calibri"/>
              </a:rPr>
              <a:t>Directive</a:t>
            </a:r>
          </a:p>
        </p:txBody>
      </p:sp>
      <p:sp>
        <p:nvSpPr>
          <p:cNvPr id="30" name="Rectangle 29">
            <a:extLst>
              <a:ext uri="{FF2B5EF4-FFF2-40B4-BE49-F238E27FC236}">
                <a16:creationId xmlns:a16="http://schemas.microsoft.com/office/drawing/2014/main" id="{F667EE12-0C7C-4AAD-A5C3-DB3D17EBBFA3}"/>
              </a:ext>
              <a:ext uri="{C183D7F6-B498-43B3-948B-1728B52AA6E4}">
                <adec:decorative xmlns:adec="http://schemas.microsoft.com/office/drawing/2017/decorative" val="1"/>
              </a:ext>
            </a:extLst>
          </p:cNvPr>
          <p:cNvSpPr/>
          <p:nvPr/>
        </p:nvSpPr>
        <p:spPr>
          <a:xfrm>
            <a:off x="5923818" y="1142083"/>
            <a:ext cx="1372763" cy="1204076"/>
          </a:xfrm>
          <a:prstGeom prst="rect">
            <a:avLst/>
          </a:prstGeom>
          <a:no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80842D2-C80D-3B51-D708-6F8275F7B828}"/>
              </a:ext>
            </a:extLst>
          </p:cNvPr>
          <p:cNvSpPr txBox="1"/>
          <p:nvPr/>
        </p:nvSpPr>
        <p:spPr>
          <a:xfrm>
            <a:off x="6023867" y="1173494"/>
            <a:ext cx="1214546" cy="33855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accent5">
                    <a:lumMod val="50000"/>
                  </a:schemeClr>
                </a:solidFill>
                <a:cs typeface="Calibri"/>
              </a:rPr>
              <a:t>PROJECT AUTHORITY</a:t>
            </a:r>
          </a:p>
          <a:p>
            <a:pPr algn="ctr"/>
            <a:r>
              <a:rPr lang="en-US" sz="700">
                <a:cs typeface="Calibri"/>
              </a:rPr>
              <a:t>   </a:t>
            </a:r>
            <a:r>
              <a:rPr lang="en-US" sz="700" b="1">
                <a:cs typeface="Calibri"/>
              </a:rPr>
              <a:t>TB Sub (TB)</a:t>
            </a:r>
          </a:p>
        </p:txBody>
      </p:sp>
      <p:sp>
        <p:nvSpPr>
          <p:cNvPr id="32" name="Rectangle: Rounded Corners 31">
            <a:extLst>
              <a:ext uri="{FF2B5EF4-FFF2-40B4-BE49-F238E27FC236}">
                <a16:creationId xmlns:a16="http://schemas.microsoft.com/office/drawing/2014/main" id="{F27D630F-39A1-08C7-B92C-6C9535ED92EB}"/>
              </a:ext>
              <a:ext uri="{C183D7F6-B498-43B3-948B-1728B52AA6E4}">
                <adec:decorative xmlns:adec="http://schemas.microsoft.com/office/drawing/2017/decorative" val="1"/>
              </a:ext>
            </a:extLst>
          </p:cNvPr>
          <p:cNvSpPr/>
          <p:nvPr/>
        </p:nvSpPr>
        <p:spPr>
          <a:xfrm>
            <a:off x="5981987" y="1521338"/>
            <a:ext cx="1297143" cy="599127"/>
          </a:xfrm>
          <a:prstGeom prst="roundRect">
            <a:avLst/>
          </a:prstGeom>
          <a:solidFill>
            <a:srgbClr val="CFDD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ABCF5E2-6595-F59D-7486-AB43D0CD6BF5}"/>
              </a:ext>
            </a:extLst>
          </p:cNvPr>
          <p:cNvSpPr txBox="1"/>
          <p:nvPr/>
        </p:nvSpPr>
        <p:spPr>
          <a:xfrm>
            <a:off x="5985478" y="1563220"/>
            <a:ext cx="1287834"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300">
                <a:solidFill>
                  <a:schemeClr val="accent1">
                    <a:lumMod val="75000"/>
                  </a:schemeClr>
                </a:solidFill>
                <a:latin typeface="Arial"/>
                <a:cs typeface="Calibri"/>
              </a:rPr>
              <a:t>TB Submission</a:t>
            </a:r>
            <a:endParaRPr lang="en-US" sz="800">
              <a:solidFill>
                <a:schemeClr val="accent1">
                  <a:lumMod val="75000"/>
                </a:schemeClr>
              </a:solidFill>
              <a:latin typeface="Calibri"/>
              <a:cs typeface="Calibri"/>
            </a:endParaRPr>
          </a:p>
        </p:txBody>
      </p:sp>
      <p:sp>
        <p:nvSpPr>
          <p:cNvPr id="34" name="Rectangle 33">
            <a:extLst>
              <a:ext uri="{FF2B5EF4-FFF2-40B4-BE49-F238E27FC236}">
                <a16:creationId xmlns:a16="http://schemas.microsoft.com/office/drawing/2014/main" id="{8D2C4BAE-E73A-3DD8-67C0-C87EC3C37AA0}"/>
              </a:ext>
            </a:extLst>
          </p:cNvPr>
          <p:cNvSpPr/>
          <p:nvPr/>
        </p:nvSpPr>
        <p:spPr>
          <a:xfrm>
            <a:off x="5969189" y="2199576"/>
            <a:ext cx="1320412" cy="133786"/>
          </a:xfrm>
          <a:prstGeom prst="rect">
            <a:avLst/>
          </a:prstGeom>
          <a:solidFill>
            <a:srgbClr val="ACCCE8"/>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a:solidFill>
                  <a:schemeClr val="accent1">
                    <a:lumMod val="75000"/>
                  </a:schemeClr>
                </a:solidFill>
                <a:cs typeface="Calibri"/>
              </a:rPr>
              <a:t>OPMCA Requirements</a:t>
            </a:r>
          </a:p>
        </p:txBody>
      </p:sp>
      <p:sp>
        <p:nvSpPr>
          <p:cNvPr id="37" name="Rectangle 36">
            <a:extLst>
              <a:ext uri="{FF2B5EF4-FFF2-40B4-BE49-F238E27FC236}">
                <a16:creationId xmlns:a16="http://schemas.microsoft.com/office/drawing/2014/main" id="{FF252E8F-8E03-307A-A461-1F4F63ABD50A}"/>
              </a:ext>
              <a:ext uri="{C183D7F6-B498-43B3-948B-1728B52AA6E4}">
                <adec:decorative xmlns:adec="http://schemas.microsoft.com/office/drawing/2017/decorative" val="1"/>
              </a:ext>
            </a:extLst>
          </p:cNvPr>
          <p:cNvSpPr/>
          <p:nvPr/>
        </p:nvSpPr>
        <p:spPr>
          <a:xfrm>
            <a:off x="7378016" y="1130449"/>
            <a:ext cx="1372763" cy="1204076"/>
          </a:xfrm>
          <a:prstGeom prst="rect">
            <a:avLst/>
          </a:prstGeom>
          <a:no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CC5127AA-C320-0D9B-87C8-64FEFFA7F668}"/>
              </a:ext>
            </a:extLst>
          </p:cNvPr>
          <p:cNvSpPr txBox="1"/>
          <p:nvPr/>
        </p:nvSpPr>
        <p:spPr>
          <a:xfrm>
            <a:off x="7478065" y="1161860"/>
            <a:ext cx="1214546" cy="33855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b="1">
                <a:solidFill>
                  <a:schemeClr val="accent5">
                    <a:lumMod val="50000"/>
                  </a:schemeClr>
                </a:solidFill>
                <a:cs typeface="Calibri"/>
              </a:rPr>
              <a:t>ASSURANCE</a:t>
            </a:r>
            <a:endParaRPr lang="en-US"/>
          </a:p>
          <a:p>
            <a:pPr algn="ctr"/>
            <a:r>
              <a:rPr lang="en-US" sz="700">
                <a:cs typeface="Calibri"/>
              </a:rPr>
              <a:t>  </a:t>
            </a:r>
            <a:r>
              <a:rPr lang="en-US" sz="700" b="1">
                <a:cs typeface="Calibri"/>
              </a:rPr>
              <a:t> Project Execution</a:t>
            </a:r>
          </a:p>
        </p:txBody>
      </p:sp>
      <p:sp>
        <p:nvSpPr>
          <p:cNvPr id="39" name="Rectangle: Rounded Corners 38">
            <a:extLst>
              <a:ext uri="{FF2B5EF4-FFF2-40B4-BE49-F238E27FC236}">
                <a16:creationId xmlns:a16="http://schemas.microsoft.com/office/drawing/2014/main" id="{6B7B6DFC-58A2-B720-9CEE-B5CF55DF7F4C}"/>
              </a:ext>
              <a:ext uri="{C183D7F6-B498-43B3-948B-1728B52AA6E4}">
                <adec:decorative xmlns:adec="http://schemas.microsoft.com/office/drawing/2017/decorative" val="1"/>
              </a:ext>
            </a:extLst>
          </p:cNvPr>
          <p:cNvSpPr/>
          <p:nvPr/>
        </p:nvSpPr>
        <p:spPr>
          <a:xfrm>
            <a:off x="7436185" y="1509704"/>
            <a:ext cx="1297143" cy="599127"/>
          </a:xfrm>
          <a:prstGeom prst="roundRect">
            <a:avLst/>
          </a:prstGeom>
          <a:solidFill>
            <a:srgbClr val="CFDD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50C5DCE-8BCA-254F-5D08-30AF7E2A5C25}"/>
              </a:ext>
            </a:extLst>
          </p:cNvPr>
          <p:cNvSpPr txBox="1"/>
          <p:nvPr/>
        </p:nvSpPr>
        <p:spPr>
          <a:xfrm>
            <a:off x="7422226" y="1563219"/>
            <a:ext cx="1287834"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300">
                <a:solidFill>
                  <a:schemeClr val="accent1">
                    <a:lumMod val="75000"/>
                  </a:schemeClr>
                </a:solidFill>
                <a:latin typeface="Arial"/>
                <a:cs typeface="Calibri"/>
              </a:rPr>
              <a:t>Project Oversight</a:t>
            </a:r>
          </a:p>
        </p:txBody>
      </p:sp>
      <p:sp>
        <p:nvSpPr>
          <p:cNvPr id="41" name="Rectangle 40">
            <a:extLst>
              <a:ext uri="{FF2B5EF4-FFF2-40B4-BE49-F238E27FC236}">
                <a16:creationId xmlns:a16="http://schemas.microsoft.com/office/drawing/2014/main" id="{3270D733-12CD-77A1-0A40-8097D18C61E1}"/>
              </a:ext>
            </a:extLst>
          </p:cNvPr>
          <p:cNvSpPr/>
          <p:nvPr/>
        </p:nvSpPr>
        <p:spPr>
          <a:xfrm>
            <a:off x="7423387" y="2187942"/>
            <a:ext cx="1320412" cy="133786"/>
          </a:xfrm>
          <a:prstGeom prst="rect">
            <a:avLst/>
          </a:prstGeom>
          <a:solidFill>
            <a:srgbClr val="ACCCE8"/>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a:solidFill>
                  <a:schemeClr val="accent1">
                    <a:lumMod val="75000"/>
                  </a:schemeClr>
                </a:solidFill>
                <a:cs typeface="Calibri"/>
              </a:rPr>
              <a:t>Ongoing Project Monitoring</a:t>
            </a:r>
          </a:p>
        </p:txBody>
      </p:sp>
      <p:sp>
        <p:nvSpPr>
          <p:cNvPr id="42" name="Rectangle 41">
            <a:extLst>
              <a:ext uri="{FF2B5EF4-FFF2-40B4-BE49-F238E27FC236}">
                <a16:creationId xmlns:a16="http://schemas.microsoft.com/office/drawing/2014/main" id="{8D2E08B8-376C-53D1-B4A6-4248E1F18033}"/>
              </a:ext>
              <a:ext uri="{C183D7F6-B498-43B3-948B-1728B52AA6E4}">
                <adec:decorative xmlns:adec="http://schemas.microsoft.com/office/drawing/2017/decorative" val="1"/>
              </a:ext>
            </a:extLst>
          </p:cNvPr>
          <p:cNvSpPr/>
          <p:nvPr/>
        </p:nvSpPr>
        <p:spPr>
          <a:xfrm>
            <a:off x="4443738" y="1124794"/>
            <a:ext cx="1381022" cy="122722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sp>
        <p:nvSpPr>
          <p:cNvPr id="43" name="Explosion: 14 Points 42">
            <a:extLst>
              <a:ext uri="{FF2B5EF4-FFF2-40B4-BE49-F238E27FC236}">
                <a16:creationId xmlns:a16="http://schemas.microsoft.com/office/drawing/2014/main" id="{A9089F7B-C8CA-B18E-4352-A680B45C0F16}"/>
              </a:ext>
            </a:extLst>
          </p:cNvPr>
          <p:cNvSpPr/>
          <p:nvPr/>
        </p:nvSpPr>
        <p:spPr>
          <a:xfrm>
            <a:off x="9155660" y="687226"/>
            <a:ext cx="2836402" cy="1837756"/>
          </a:xfrm>
          <a:prstGeom prst="irregularSeal2">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000"/>
          </a:p>
        </p:txBody>
      </p:sp>
      <p:sp>
        <p:nvSpPr>
          <p:cNvPr id="44" name="TextBox 43">
            <a:extLst>
              <a:ext uri="{FF2B5EF4-FFF2-40B4-BE49-F238E27FC236}">
                <a16:creationId xmlns:a16="http://schemas.microsoft.com/office/drawing/2014/main" id="{629D5BEE-F49E-D6D2-4FB6-49616091C5CB}"/>
              </a:ext>
            </a:extLst>
          </p:cNvPr>
          <p:cNvSpPr txBox="1"/>
          <p:nvPr/>
        </p:nvSpPr>
        <p:spPr>
          <a:xfrm rot="20156661">
            <a:off x="9639410" y="1224195"/>
            <a:ext cx="1952527" cy="984885"/>
          </a:xfrm>
          <a:prstGeom prst="rect">
            <a:avLst/>
          </a:prstGeom>
          <a:noFill/>
        </p:spPr>
        <p:txBody>
          <a:bodyPr wrap="square" rtlCol="0">
            <a:spAutoFit/>
          </a:bodyPr>
          <a:lstStyle/>
          <a:p>
            <a:r>
              <a:rPr lang="en-CA" sz="1000" b="1">
                <a:solidFill>
                  <a:schemeClr val="bg1"/>
                </a:solidFill>
              </a:rPr>
              <a:t>The Solution Architecture Document is a living document. Any architecture modifications must be continually reflected. </a:t>
            </a:r>
          </a:p>
          <a:p>
            <a:endParaRPr lang="en-CA"/>
          </a:p>
        </p:txBody>
      </p:sp>
      <p:sp>
        <p:nvSpPr>
          <p:cNvPr id="45" name="TextBox 44">
            <a:extLst>
              <a:ext uri="{FF2B5EF4-FFF2-40B4-BE49-F238E27FC236}">
                <a16:creationId xmlns:a16="http://schemas.microsoft.com/office/drawing/2014/main" id="{201DEEE9-D352-5E8E-5DAF-AF931D51448E}"/>
              </a:ext>
            </a:extLst>
          </p:cNvPr>
          <p:cNvSpPr txBox="1"/>
          <p:nvPr/>
        </p:nvSpPr>
        <p:spPr>
          <a:xfrm>
            <a:off x="311150" y="1475317"/>
            <a:ext cx="27326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0415FF"/>
                </a:solidFill>
                <a:highlight>
                  <a:srgbClr val="FFFF00"/>
                </a:highlight>
                <a:cs typeface="Segoe UI"/>
                <a:hlinkClick r:id="rId5"/>
              </a:rPr>
              <a:t>Guidance Document.pdf</a:t>
            </a:r>
            <a:endParaRPr lang="en-US">
              <a:highlight>
                <a:srgbClr val="FFFF00"/>
              </a:highlight>
              <a:ea typeface="Calibri"/>
              <a:cs typeface="Calibri"/>
              <a:hlinkClick r:id="" action="ppaction://noaction">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3013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4">
            <a:extLst>
              <a:ext uri="{FF2B5EF4-FFF2-40B4-BE49-F238E27FC236}">
                <a16:creationId xmlns:a16="http://schemas.microsoft.com/office/drawing/2014/main" id="{6E80D8E0-8B1E-4B75-AAF0-0995F0CE6F60}"/>
              </a:ext>
            </a:extLst>
          </p:cNvPr>
          <p:cNvSpPr>
            <a:spLocks noGrp="1"/>
          </p:cNvSpPr>
          <p:nvPr>
            <p:ph type="title"/>
          </p:nvPr>
        </p:nvSpPr>
        <p:spPr/>
        <p:txBody>
          <a:bodyPr vert="horz" wrap="none" lIns="0" tIns="0" rIns="0" bIns="0" rtlCol="0" anchor="ctr" anchorCtr="0">
            <a:normAutofit/>
          </a:bodyPr>
          <a:lstStyle>
            <a:lvl1pPr marL="457200" indent="-457200" algn="l" defTabSz="914400" rtl="0" eaLnBrk="1" latinLnBrk="0" hangingPunct="1">
              <a:spcBef>
                <a:spcPct val="0"/>
              </a:spcBef>
              <a:buFont typeface="Arial" panose="020B0604020202020204" pitchFamily="34" charset="0"/>
              <a:buNone/>
              <a:defRPr lang="en-CA" sz="2800" kern="1200" baseline="0">
                <a:solidFill>
                  <a:schemeClr val="accent1"/>
                </a:solidFill>
                <a:latin typeface="Calibri" panose="020F0502020204030204" pitchFamily="34" charset="0"/>
                <a:ea typeface="+mn-ea"/>
                <a:cs typeface="+mn-cs"/>
              </a:defRPr>
            </a:lvl1pPr>
          </a:lstStyle>
          <a:p>
            <a:pPr marL="0" indent="0"/>
            <a:r>
              <a:rPr lang="en-CA" sz="3200" b="1">
                <a:solidFill>
                  <a:schemeClr val="tx1"/>
                </a:solidFill>
                <a:latin typeface="Arial" panose="020B0604020202020204" pitchFamily="34" charset="0"/>
                <a:cs typeface="Arial" panose="020B0604020202020204" pitchFamily="34" charset="0"/>
              </a:rPr>
              <a:t>GC Enterprise Architecture Framework  </a:t>
            </a:r>
            <a:r>
              <a:rPr lang="en-US" sz="900">
                <a:hlinkClick r:id="rId3"/>
              </a:rPr>
              <a:t>Government of Canada Enterprise Architecture Framework - Canada.ca</a:t>
            </a:r>
            <a:endParaRPr lang="en-CA" sz="900" b="1"/>
          </a:p>
        </p:txBody>
      </p:sp>
      <p:sp>
        <p:nvSpPr>
          <p:cNvPr id="2" name="Slide Number Placeholder 1">
            <a:extLst>
              <a:ext uri="{FF2B5EF4-FFF2-40B4-BE49-F238E27FC236}">
                <a16:creationId xmlns:a16="http://schemas.microsoft.com/office/drawing/2014/main" id="{29FC7E07-180C-45FF-97B6-FC9178DBAC22}"/>
              </a:ext>
            </a:extLst>
          </p:cNvPr>
          <p:cNvSpPr>
            <a:spLocks noGrp="1"/>
          </p:cNvSpPr>
          <p:nvPr>
            <p:ph type="sldNum" sz="quarter" idx="4"/>
          </p:nvPr>
        </p:nvSpPr>
        <p:spPr/>
        <p:txBody>
          <a:bodyPr/>
          <a:lstStyle/>
          <a:p>
            <a:fld id="{32D4B517-E49B-41B6-9DBC-23634E0F1CDC}" type="slidenum">
              <a:rPr lang="en-CA" smtClean="0"/>
              <a:t>3</a:t>
            </a:fld>
            <a:endParaRPr lang="en-CA"/>
          </a:p>
        </p:txBody>
      </p:sp>
      <p:sp>
        <p:nvSpPr>
          <p:cNvPr id="56" name="Rounded Rectangle 123">
            <a:extLst>
              <a:ext uri="{FF2B5EF4-FFF2-40B4-BE49-F238E27FC236}">
                <a16:creationId xmlns:a16="http://schemas.microsoft.com/office/drawing/2014/main" id="{16F1B4F8-9E00-4C4A-AB6A-AC110DF80970}"/>
              </a:ext>
            </a:extLst>
          </p:cNvPr>
          <p:cNvSpPr/>
          <p:nvPr/>
        </p:nvSpPr>
        <p:spPr>
          <a:xfrm>
            <a:off x="835722" y="3867926"/>
            <a:ext cx="2045899" cy="480151"/>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prstClr val="white"/>
                </a:solidFill>
                <a:latin typeface="Graphik" panose="020B0503030202060203" pitchFamily="34" charset="0"/>
                <a:cs typeface="Arial" panose="020B0604020202020204" pitchFamily="34" charset="0"/>
              </a:rPr>
              <a:t>Application Architecture</a:t>
            </a:r>
            <a:endParaRPr lang="en-CA" sz="1200" b="1">
              <a:solidFill>
                <a:prstClr val="white"/>
              </a:solidFill>
              <a:latin typeface="Graphik" panose="020B0503030202060203" pitchFamily="34" charset="0"/>
              <a:cs typeface="Arial" panose="020B0604020202020204" pitchFamily="34" charset="0"/>
            </a:endParaRPr>
          </a:p>
        </p:txBody>
      </p:sp>
      <p:sp>
        <p:nvSpPr>
          <p:cNvPr id="57" name="Rounded Rectangle 124">
            <a:extLst>
              <a:ext uri="{FF2B5EF4-FFF2-40B4-BE49-F238E27FC236}">
                <a16:creationId xmlns:a16="http://schemas.microsoft.com/office/drawing/2014/main" id="{21A6B829-0CBD-407C-93F2-5A5ADB108346}"/>
              </a:ext>
            </a:extLst>
          </p:cNvPr>
          <p:cNvSpPr/>
          <p:nvPr/>
        </p:nvSpPr>
        <p:spPr>
          <a:xfrm>
            <a:off x="837515" y="4658263"/>
            <a:ext cx="2045899" cy="480151"/>
          </a:xfrm>
          <a:prstGeom prst="round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prstClr val="white"/>
                </a:solidFill>
                <a:latin typeface="Graphik" panose="020B0503030202060203" pitchFamily="34" charset="0"/>
                <a:cs typeface="Arial" panose="020B0604020202020204" pitchFamily="34" charset="0"/>
              </a:rPr>
              <a:t>Technology Architecture</a:t>
            </a:r>
            <a:endParaRPr lang="en-CA" sz="1200" b="1">
              <a:solidFill>
                <a:prstClr val="white"/>
              </a:solidFill>
              <a:latin typeface="Graphik" panose="020B0503030202060203" pitchFamily="34" charset="0"/>
              <a:cs typeface="Arial" panose="020B0604020202020204" pitchFamily="34" charset="0"/>
            </a:endParaRPr>
          </a:p>
        </p:txBody>
      </p:sp>
      <p:sp>
        <p:nvSpPr>
          <p:cNvPr id="58" name="Rounded Rectangle 125">
            <a:extLst>
              <a:ext uri="{FF2B5EF4-FFF2-40B4-BE49-F238E27FC236}">
                <a16:creationId xmlns:a16="http://schemas.microsoft.com/office/drawing/2014/main" id="{9DF15A10-91F8-473D-9C42-F009828AB122}"/>
              </a:ext>
            </a:extLst>
          </p:cNvPr>
          <p:cNvSpPr/>
          <p:nvPr/>
        </p:nvSpPr>
        <p:spPr>
          <a:xfrm>
            <a:off x="773373" y="5495600"/>
            <a:ext cx="2049409" cy="480151"/>
          </a:xfrm>
          <a:prstGeom prst="round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prstClr val="white"/>
                </a:solidFill>
                <a:latin typeface="Graphik" panose="020B0503030202060203" pitchFamily="34" charset="0"/>
                <a:cs typeface="Arial" panose="020B0604020202020204" pitchFamily="34" charset="0"/>
              </a:rPr>
              <a:t>Security Architecture </a:t>
            </a:r>
            <a:endParaRPr lang="en-CA" sz="1200" b="1">
              <a:solidFill>
                <a:prstClr val="white"/>
              </a:solidFill>
              <a:latin typeface="Graphik" panose="020B0503030202060203" pitchFamily="34" charset="0"/>
              <a:cs typeface="Arial" panose="020B0604020202020204" pitchFamily="34" charset="0"/>
            </a:endParaRPr>
          </a:p>
        </p:txBody>
      </p:sp>
      <p:sp>
        <p:nvSpPr>
          <p:cNvPr id="63" name="Oval 62">
            <a:extLst>
              <a:ext uri="{FF2B5EF4-FFF2-40B4-BE49-F238E27FC236}">
                <a16:creationId xmlns:a16="http://schemas.microsoft.com/office/drawing/2014/main" id="{9DAD8573-CF2C-49E3-B845-7B21339D4986}"/>
              </a:ext>
              <a:ext uri="{C183D7F6-B498-43B3-948B-1728B52AA6E4}">
                <adec:decorative xmlns:adec="http://schemas.microsoft.com/office/drawing/2017/decorative" val="1"/>
              </a:ext>
            </a:extLst>
          </p:cNvPr>
          <p:cNvSpPr/>
          <p:nvPr/>
        </p:nvSpPr>
        <p:spPr>
          <a:xfrm>
            <a:off x="338685" y="3767708"/>
            <a:ext cx="597689" cy="597689"/>
          </a:xfrm>
          <a:prstGeom prst="ellipse">
            <a:avLst/>
          </a:prstGeom>
          <a:solidFill>
            <a:schemeClr val="accent5">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b="1">
              <a:solidFill>
                <a:prstClr val="white"/>
              </a:solidFill>
            </a:endParaRPr>
          </a:p>
        </p:txBody>
      </p:sp>
      <p:sp>
        <p:nvSpPr>
          <p:cNvPr id="65" name="Oval 64">
            <a:extLst>
              <a:ext uri="{FF2B5EF4-FFF2-40B4-BE49-F238E27FC236}">
                <a16:creationId xmlns:a16="http://schemas.microsoft.com/office/drawing/2014/main" id="{13B6EB83-B383-4A93-9400-C0F8B67D4A05}"/>
              </a:ext>
              <a:ext uri="{C183D7F6-B498-43B3-948B-1728B52AA6E4}">
                <adec:decorative xmlns:adec="http://schemas.microsoft.com/office/drawing/2017/decorative" val="1"/>
              </a:ext>
            </a:extLst>
          </p:cNvPr>
          <p:cNvSpPr/>
          <p:nvPr/>
        </p:nvSpPr>
        <p:spPr>
          <a:xfrm>
            <a:off x="338685" y="4605908"/>
            <a:ext cx="597689" cy="597689"/>
          </a:xfrm>
          <a:prstGeom prst="ellipse">
            <a:avLst/>
          </a:prstGeom>
          <a:solidFill>
            <a:srgbClr val="6600CC"/>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b="1">
              <a:solidFill>
                <a:prstClr val="white"/>
              </a:solidFill>
            </a:endParaRPr>
          </a:p>
        </p:txBody>
      </p:sp>
      <p:sp>
        <p:nvSpPr>
          <p:cNvPr id="67" name="Oval 66">
            <a:extLst>
              <a:ext uri="{FF2B5EF4-FFF2-40B4-BE49-F238E27FC236}">
                <a16:creationId xmlns:a16="http://schemas.microsoft.com/office/drawing/2014/main" id="{692937D6-511E-4185-85D5-B8E27A9EA300}"/>
              </a:ext>
              <a:ext uri="{C183D7F6-B498-43B3-948B-1728B52AA6E4}">
                <adec:decorative xmlns:adec="http://schemas.microsoft.com/office/drawing/2017/decorative" val="1"/>
              </a:ext>
            </a:extLst>
          </p:cNvPr>
          <p:cNvSpPr/>
          <p:nvPr/>
        </p:nvSpPr>
        <p:spPr>
          <a:xfrm>
            <a:off x="337886" y="5444108"/>
            <a:ext cx="597689" cy="597689"/>
          </a:xfrm>
          <a:prstGeom prst="ellipse">
            <a:avLst/>
          </a:prstGeom>
          <a:solidFill>
            <a:srgbClr val="8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b="1">
              <a:solidFill>
                <a:prstClr val="white"/>
              </a:solidFill>
            </a:endParaRPr>
          </a:p>
        </p:txBody>
      </p:sp>
      <p:sp>
        <p:nvSpPr>
          <p:cNvPr id="3" name="TextBox 2">
            <a:extLst>
              <a:ext uri="{FF2B5EF4-FFF2-40B4-BE49-F238E27FC236}">
                <a16:creationId xmlns:a16="http://schemas.microsoft.com/office/drawing/2014/main" id="{80321461-1401-4C6A-B2BE-C143FD96C1A3}"/>
              </a:ext>
            </a:extLst>
          </p:cNvPr>
          <p:cNvSpPr txBox="1"/>
          <p:nvPr/>
        </p:nvSpPr>
        <p:spPr>
          <a:xfrm>
            <a:off x="441001" y="3760265"/>
            <a:ext cx="393056" cy="584775"/>
          </a:xfrm>
          <a:prstGeom prst="rect">
            <a:avLst/>
          </a:prstGeom>
          <a:noFill/>
        </p:spPr>
        <p:txBody>
          <a:bodyPr wrap="square" rtlCol="0">
            <a:spAutoFit/>
          </a:bodyPr>
          <a:lstStyle/>
          <a:p>
            <a:r>
              <a:rPr lang="en-US" sz="3200">
                <a:solidFill>
                  <a:schemeClr val="bg1"/>
                </a:solidFill>
                <a:latin typeface="Graphik" panose="020B0503030202060203" pitchFamily="34" charset="0"/>
                <a:cs typeface="Arial" panose="020B0604020202020204" pitchFamily="34" charset="0"/>
              </a:rPr>
              <a:t>3</a:t>
            </a:r>
            <a:endParaRPr lang="en-CA" sz="3200">
              <a:solidFill>
                <a:schemeClr val="bg1"/>
              </a:solidFill>
              <a:latin typeface="Graphik" panose="020B0503030202060203" pitchFamily="34" charset="0"/>
              <a:cs typeface="Arial" panose="020B0604020202020204" pitchFamily="34" charset="0"/>
            </a:endParaRPr>
          </a:p>
        </p:txBody>
      </p:sp>
      <p:sp>
        <p:nvSpPr>
          <p:cNvPr id="70" name="TextBox 69">
            <a:extLst>
              <a:ext uri="{FF2B5EF4-FFF2-40B4-BE49-F238E27FC236}">
                <a16:creationId xmlns:a16="http://schemas.microsoft.com/office/drawing/2014/main" id="{E8C5F02C-F8E2-481D-9A7D-B5B0F027CD4C}"/>
              </a:ext>
            </a:extLst>
          </p:cNvPr>
          <p:cNvSpPr txBox="1"/>
          <p:nvPr/>
        </p:nvSpPr>
        <p:spPr>
          <a:xfrm>
            <a:off x="441001" y="4605908"/>
            <a:ext cx="393056" cy="584775"/>
          </a:xfrm>
          <a:prstGeom prst="rect">
            <a:avLst/>
          </a:prstGeom>
          <a:solidFill>
            <a:srgbClr val="6600CC"/>
          </a:solidFill>
        </p:spPr>
        <p:txBody>
          <a:bodyPr wrap="square" rtlCol="0">
            <a:spAutoFit/>
          </a:bodyPr>
          <a:lstStyle/>
          <a:p>
            <a:r>
              <a:rPr lang="en-US" sz="3200">
                <a:solidFill>
                  <a:schemeClr val="bg1"/>
                </a:solidFill>
                <a:latin typeface="Graphik" panose="020B0503030202060203" pitchFamily="34" charset="0"/>
                <a:cs typeface="Arial" panose="020B0604020202020204" pitchFamily="34" charset="0"/>
              </a:rPr>
              <a:t>4</a:t>
            </a:r>
            <a:endParaRPr lang="en-CA" sz="3200">
              <a:solidFill>
                <a:schemeClr val="bg1"/>
              </a:solidFill>
              <a:latin typeface="Graphik" panose="020B0503030202060203" pitchFamily="34" charset="0"/>
              <a:cs typeface="Arial" panose="020B0604020202020204" pitchFamily="34" charset="0"/>
            </a:endParaRPr>
          </a:p>
        </p:txBody>
      </p:sp>
      <p:sp>
        <p:nvSpPr>
          <p:cNvPr id="71" name="TextBox 70">
            <a:extLst>
              <a:ext uri="{FF2B5EF4-FFF2-40B4-BE49-F238E27FC236}">
                <a16:creationId xmlns:a16="http://schemas.microsoft.com/office/drawing/2014/main" id="{C39B04A3-1C29-4728-8A8D-13F0035B8FA5}"/>
              </a:ext>
            </a:extLst>
          </p:cNvPr>
          <p:cNvSpPr txBox="1"/>
          <p:nvPr/>
        </p:nvSpPr>
        <p:spPr>
          <a:xfrm>
            <a:off x="441001" y="5423751"/>
            <a:ext cx="393056" cy="584775"/>
          </a:xfrm>
          <a:prstGeom prst="rect">
            <a:avLst/>
          </a:prstGeom>
          <a:noFill/>
        </p:spPr>
        <p:txBody>
          <a:bodyPr wrap="square" rtlCol="0">
            <a:spAutoFit/>
          </a:bodyPr>
          <a:lstStyle/>
          <a:p>
            <a:r>
              <a:rPr lang="en-US" sz="3200">
                <a:solidFill>
                  <a:schemeClr val="bg1"/>
                </a:solidFill>
                <a:latin typeface="Graphik" panose="020B0503030202060203" pitchFamily="34" charset="0"/>
                <a:cs typeface="Arial" panose="020B0604020202020204" pitchFamily="34" charset="0"/>
              </a:rPr>
              <a:t>5</a:t>
            </a:r>
            <a:endParaRPr lang="en-CA" sz="3200">
              <a:solidFill>
                <a:schemeClr val="bg1"/>
              </a:solidFill>
              <a:latin typeface="Graphik" panose="020B0503030202060203" pitchFamily="34" charset="0"/>
              <a:cs typeface="Arial" panose="020B0604020202020204" pitchFamily="34" charset="0"/>
            </a:endParaRPr>
          </a:p>
        </p:txBody>
      </p:sp>
      <p:sp>
        <p:nvSpPr>
          <p:cNvPr id="16" name="Rounded Rectangle 123">
            <a:extLst>
              <a:ext uri="{FF2B5EF4-FFF2-40B4-BE49-F238E27FC236}">
                <a16:creationId xmlns:a16="http://schemas.microsoft.com/office/drawing/2014/main" id="{6280CAE9-AEAD-4FEF-A89E-1F00A55249A8}"/>
              </a:ext>
            </a:extLst>
          </p:cNvPr>
          <p:cNvSpPr/>
          <p:nvPr/>
        </p:nvSpPr>
        <p:spPr>
          <a:xfrm>
            <a:off x="774808" y="2243347"/>
            <a:ext cx="2045899" cy="480151"/>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prstClr val="white"/>
                </a:solidFill>
                <a:latin typeface="Graphik" panose="020B0503030202060203" pitchFamily="34" charset="0"/>
                <a:cs typeface="Arial" panose="020B0604020202020204" pitchFamily="34" charset="0"/>
              </a:rPr>
              <a:t>Business Architecture</a:t>
            </a:r>
            <a:endParaRPr lang="en-CA" sz="1200" b="1">
              <a:solidFill>
                <a:prstClr val="white"/>
              </a:solidFill>
              <a:latin typeface="Graphik" panose="020B0503030202060203" pitchFamily="34" charset="0"/>
              <a:cs typeface="Arial" panose="020B0604020202020204" pitchFamily="34" charset="0"/>
            </a:endParaRPr>
          </a:p>
        </p:txBody>
      </p:sp>
      <p:sp>
        <p:nvSpPr>
          <p:cNvPr id="17" name="Rounded Rectangle 124">
            <a:extLst>
              <a:ext uri="{FF2B5EF4-FFF2-40B4-BE49-F238E27FC236}">
                <a16:creationId xmlns:a16="http://schemas.microsoft.com/office/drawing/2014/main" id="{5B023043-BB7C-48CB-9C22-7A70014DC3A9}"/>
              </a:ext>
            </a:extLst>
          </p:cNvPr>
          <p:cNvSpPr/>
          <p:nvPr/>
        </p:nvSpPr>
        <p:spPr>
          <a:xfrm>
            <a:off x="835722" y="3059960"/>
            <a:ext cx="2045899" cy="480151"/>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prstClr val="white"/>
                </a:solidFill>
                <a:latin typeface="Graphik" panose="020B0503030202060203" pitchFamily="34" charset="0"/>
                <a:cs typeface="Arial" panose="020B0604020202020204" pitchFamily="34" charset="0"/>
              </a:rPr>
              <a:t>Information Architecture</a:t>
            </a:r>
            <a:endParaRPr lang="en-CA" sz="1200" b="1">
              <a:solidFill>
                <a:prstClr val="white"/>
              </a:solidFill>
              <a:latin typeface="Graphik" panose="020B0503030202060203" pitchFamily="34" charset="0"/>
              <a:cs typeface="Arial" panose="020B0604020202020204" pitchFamily="34" charset="0"/>
            </a:endParaRPr>
          </a:p>
        </p:txBody>
      </p:sp>
      <p:sp>
        <p:nvSpPr>
          <p:cNvPr id="18" name="Oval 17">
            <a:extLst>
              <a:ext uri="{FF2B5EF4-FFF2-40B4-BE49-F238E27FC236}">
                <a16:creationId xmlns:a16="http://schemas.microsoft.com/office/drawing/2014/main" id="{BCF525D6-C8E3-4476-B091-441AA6F73F6F}"/>
              </a:ext>
              <a:ext uri="{C183D7F6-B498-43B3-948B-1728B52AA6E4}">
                <adec:decorative xmlns:adec="http://schemas.microsoft.com/office/drawing/2017/decorative" val="1"/>
              </a:ext>
            </a:extLst>
          </p:cNvPr>
          <p:cNvSpPr/>
          <p:nvPr/>
        </p:nvSpPr>
        <p:spPr>
          <a:xfrm>
            <a:off x="336892" y="2162836"/>
            <a:ext cx="597689" cy="597689"/>
          </a:xfrm>
          <a:prstGeom prst="ellipse">
            <a:avLst/>
          </a:prstGeom>
          <a:solidFill>
            <a:srgbClr val="0070C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b="1">
              <a:solidFill>
                <a:prstClr val="white"/>
              </a:solidFill>
            </a:endParaRPr>
          </a:p>
        </p:txBody>
      </p:sp>
      <p:sp>
        <p:nvSpPr>
          <p:cNvPr id="19" name="Oval 18">
            <a:extLst>
              <a:ext uri="{FF2B5EF4-FFF2-40B4-BE49-F238E27FC236}">
                <a16:creationId xmlns:a16="http://schemas.microsoft.com/office/drawing/2014/main" id="{1EB5569E-1504-4C4D-8F2E-54F78F0CB32A}"/>
              </a:ext>
              <a:ext uri="{C183D7F6-B498-43B3-948B-1728B52AA6E4}">
                <adec:decorative xmlns:adec="http://schemas.microsoft.com/office/drawing/2017/decorative" val="1"/>
              </a:ext>
            </a:extLst>
          </p:cNvPr>
          <p:cNvSpPr/>
          <p:nvPr/>
        </p:nvSpPr>
        <p:spPr>
          <a:xfrm>
            <a:off x="336892" y="3001036"/>
            <a:ext cx="597689" cy="597689"/>
          </a:xfrm>
          <a:prstGeom prst="ellipse">
            <a:avLst/>
          </a:prstGeom>
          <a:solidFill>
            <a:schemeClr val="accent4">
              <a:lumMod val="5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b="1">
              <a:solidFill>
                <a:prstClr val="white"/>
              </a:solidFill>
            </a:endParaRPr>
          </a:p>
        </p:txBody>
      </p:sp>
      <p:sp>
        <p:nvSpPr>
          <p:cNvPr id="20" name="TextBox 19">
            <a:extLst>
              <a:ext uri="{FF2B5EF4-FFF2-40B4-BE49-F238E27FC236}">
                <a16:creationId xmlns:a16="http://schemas.microsoft.com/office/drawing/2014/main" id="{A781E5EA-915D-43BE-9B08-D45FD038DD41}"/>
              </a:ext>
            </a:extLst>
          </p:cNvPr>
          <p:cNvSpPr txBox="1"/>
          <p:nvPr/>
        </p:nvSpPr>
        <p:spPr>
          <a:xfrm>
            <a:off x="439208" y="2155393"/>
            <a:ext cx="393056" cy="584775"/>
          </a:xfrm>
          <a:prstGeom prst="rect">
            <a:avLst/>
          </a:prstGeom>
          <a:noFill/>
        </p:spPr>
        <p:txBody>
          <a:bodyPr wrap="square" rtlCol="0">
            <a:spAutoFit/>
          </a:bodyPr>
          <a:lstStyle/>
          <a:p>
            <a:r>
              <a:rPr lang="en-US" sz="3200">
                <a:solidFill>
                  <a:schemeClr val="bg1"/>
                </a:solidFill>
                <a:latin typeface="Graphik" panose="020B0503030202060203" pitchFamily="34" charset="0"/>
                <a:cs typeface="Arial" panose="020B0604020202020204" pitchFamily="34" charset="0"/>
              </a:rPr>
              <a:t>1</a:t>
            </a:r>
            <a:endParaRPr lang="en-CA" sz="3200">
              <a:solidFill>
                <a:schemeClr val="bg1"/>
              </a:solidFill>
              <a:latin typeface="Graphik" panose="020B050303020206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B183D670-3106-446B-9E89-384BBFADC35A}"/>
              </a:ext>
            </a:extLst>
          </p:cNvPr>
          <p:cNvSpPr txBox="1"/>
          <p:nvPr/>
        </p:nvSpPr>
        <p:spPr>
          <a:xfrm>
            <a:off x="439208" y="3001036"/>
            <a:ext cx="393056" cy="584775"/>
          </a:xfrm>
          <a:prstGeom prst="rect">
            <a:avLst/>
          </a:prstGeom>
          <a:noFill/>
        </p:spPr>
        <p:txBody>
          <a:bodyPr wrap="square" rtlCol="0">
            <a:spAutoFit/>
          </a:bodyPr>
          <a:lstStyle/>
          <a:p>
            <a:r>
              <a:rPr lang="en-US" sz="3200">
                <a:solidFill>
                  <a:schemeClr val="bg1"/>
                </a:solidFill>
                <a:latin typeface="Graphik" panose="020B0503030202060203" pitchFamily="34" charset="0"/>
                <a:cs typeface="Arial" panose="020B0604020202020204" pitchFamily="34" charset="0"/>
              </a:rPr>
              <a:t>2</a:t>
            </a:r>
            <a:endParaRPr lang="en-CA" sz="3200">
              <a:solidFill>
                <a:schemeClr val="bg1"/>
              </a:solidFill>
              <a:latin typeface="Graphik" panose="020B0503030202060203" pitchFamily="34" charset="0"/>
              <a:cs typeface="Arial" panose="020B0604020202020204" pitchFamily="34" charset="0"/>
            </a:endParaRPr>
          </a:p>
        </p:txBody>
      </p:sp>
      <p:sp>
        <p:nvSpPr>
          <p:cNvPr id="24" name="Rectangle 23">
            <a:extLst>
              <a:ext uri="{FF2B5EF4-FFF2-40B4-BE49-F238E27FC236}">
                <a16:creationId xmlns:a16="http://schemas.microsoft.com/office/drawing/2014/main" id="{5946D9FD-0379-4596-A3DE-739B076E7FE1}"/>
              </a:ext>
              <a:ext uri="{C183D7F6-B498-43B3-948B-1728B52AA6E4}">
                <adec:decorative xmlns:adec="http://schemas.microsoft.com/office/drawing/2017/decorative" val="1"/>
              </a:ext>
            </a:extLst>
          </p:cNvPr>
          <p:cNvSpPr/>
          <p:nvPr/>
        </p:nvSpPr>
        <p:spPr>
          <a:xfrm>
            <a:off x="461897" y="1070308"/>
            <a:ext cx="11349104" cy="854742"/>
          </a:xfrm>
          <a:prstGeom prst="rect">
            <a:avLst/>
          </a:prstGeom>
          <a:gradFill flip="none" rotWithShape="1">
            <a:gsLst>
              <a:gs pos="75000">
                <a:schemeClr val="bg1">
                  <a:lumMod val="85000"/>
                </a:schemeClr>
              </a:gs>
              <a:gs pos="0">
                <a:schemeClr val="bg1"/>
              </a:gs>
            </a:gsLst>
            <a:path path="circle">
              <a:fillToRect l="50000" t="50000" r="50000" b="50000"/>
            </a:path>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TextBox 25">
            <a:extLst>
              <a:ext uri="{FF2B5EF4-FFF2-40B4-BE49-F238E27FC236}">
                <a16:creationId xmlns:a16="http://schemas.microsoft.com/office/drawing/2014/main" id="{11EB1FDE-CA25-4890-9694-9502DCDDBCFB}"/>
              </a:ext>
            </a:extLst>
          </p:cNvPr>
          <p:cNvSpPr txBox="1"/>
          <p:nvPr/>
        </p:nvSpPr>
        <p:spPr>
          <a:xfrm>
            <a:off x="481490" y="1066800"/>
            <a:ext cx="11349104" cy="830997"/>
          </a:xfrm>
          <a:prstGeom prst="rect">
            <a:avLst/>
          </a:prstGeom>
          <a:noFill/>
        </p:spPr>
        <p:txBody>
          <a:bodyPr wrap="square">
            <a:spAutoFit/>
          </a:bodyPr>
          <a:lstStyle/>
          <a:p>
            <a:r>
              <a:rPr lang="en-US" sz="1600"/>
              <a:t>The Enterprise Architecture Framework is the </a:t>
            </a:r>
            <a:r>
              <a:rPr lang="en-US" sz="1600" b="1">
                <a:solidFill>
                  <a:prstClr val="black"/>
                </a:solidFill>
                <a:latin typeface="Aharoni" panose="02010803020104030203" pitchFamily="2" charset="-79"/>
                <a:cs typeface="Aharoni" panose="02010803020104030203" pitchFamily="2" charset="-79"/>
              </a:rPr>
              <a:t>criteria</a:t>
            </a:r>
            <a:r>
              <a:rPr lang="en-US" sz="1600"/>
              <a:t> used by the Government of Canada enterprise architecture review board and departmental architecture review boards when reviewing digital initiatives to ensure their alignment with enterprise architectures across business, information, application, technology and security domains to support strategic outcomes. </a:t>
            </a:r>
            <a:endParaRPr lang="en-CA" sz="1600"/>
          </a:p>
        </p:txBody>
      </p:sp>
      <p:sp>
        <p:nvSpPr>
          <p:cNvPr id="31" name="TextBox 30">
            <a:extLst>
              <a:ext uri="{FF2B5EF4-FFF2-40B4-BE49-F238E27FC236}">
                <a16:creationId xmlns:a16="http://schemas.microsoft.com/office/drawing/2014/main" id="{38F6CB90-65B7-4D9A-878A-FA184BE98FB6}"/>
              </a:ext>
            </a:extLst>
          </p:cNvPr>
          <p:cNvSpPr txBox="1"/>
          <p:nvPr/>
        </p:nvSpPr>
        <p:spPr>
          <a:xfrm>
            <a:off x="2848627" y="2185385"/>
            <a:ext cx="7243817" cy="646331"/>
          </a:xfrm>
          <a:prstGeom prst="rect">
            <a:avLst/>
          </a:prstGeom>
          <a:noFill/>
        </p:spPr>
        <p:txBody>
          <a:bodyPr wrap="square">
            <a:spAutoFit/>
          </a:bodyPr>
          <a:lstStyle/>
          <a:p>
            <a:pPr marL="171450" indent="-171450">
              <a:buFont typeface="Arial" panose="020B0604020202020204" pitchFamily="34" charset="0"/>
              <a:buChar char="•"/>
            </a:pPr>
            <a:r>
              <a:rPr lang="en-US" sz="1200"/>
              <a:t>Design services digitally from end‑to‑end to meet Government of Canada users and other stakeholders’ needs </a:t>
            </a:r>
          </a:p>
          <a:p>
            <a:pPr marL="171450" indent="-171450">
              <a:buFont typeface="Arial" panose="020B0604020202020204" pitchFamily="34" charset="0"/>
              <a:buChar char="•"/>
            </a:pPr>
            <a:r>
              <a:rPr lang="en-US" sz="1200"/>
              <a:t>Architect to be outcome‑driven and strategically aligned to the department and to the Government of Canada </a:t>
            </a:r>
          </a:p>
          <a:p>
            <a:pPr marL="171450" indent="-171450">
              <a:buFont typeface="Arial" panose="020B0604020202020204" pitchFamily="34" charset="0"/>
              <a:buChar char="•"/>
            </a:pPr>
            <a:r>
              <a:rPr lang="en-US" sz="1200"/>
              <a:t>Promote horizontal enablement of the enterprise</a:t>
            </a:r>
          </a:p>
        </p:txBody>
      </p:sp>
      <p:sp>
        <p:nvSpPr>
          <p:cNvPr id="33" name="TextBox 32">
            <a:extLst>
              <a:ext uri="{FF2B5EF4-FFF2-40B4-BE49-F238E27FC236}">
                <a16:creationId xmlns:a16="http://schemas.microsoft.com/office/drawing/2014/main" id="{84493C93-1A9F-4DE7-8D53-7B12D6240D46}"/>
              </a:ext>
            </a:extLst>
          </p:cNvPr>
          <p:cNvSpPr txBox="1"/>
          <p:nvPr/>
        </p:nvSpPr>
        <p:spPr>
          <a:xfrm>
            <a:off x="2822501" y="2913946"/>
            <a:ext cx="6117816" cy="830997"/>
          </a:xfrm>
          <a:prstGeom prst="rect">
            <a:avLst/>
          </a:prstGeom>
          <a:noFill/>
        </p:spPr>
        <p:txBody>
          <a:bodyPr wrap="square">
            <a:spAutoFit/>
          </a:bodyPr>
          <a:lstStyle/>
          <a:p>
            <a:pPr marL="171450" indent="-171450">
              <a:buFont typeface="Arial" panose="020B0604020202020204" pitchFamily="34" charset="0"/>
              <a:buChar char="•"/>
            </a:pPr>
            <a:r>
              <a:rPr lang="en-US" sz="1200"/>
              <a:t>Collect data to address the needs of users and other stakeholders</a:t>
            </a:r>
          </a:p>
          <a:p>
            <a:pPr marL="171450" indent="-171450">
              <a:buFont typeface="Arial" panose="020B0604020202020204" pitchFamily="34" charset="0"/>
              <a:buChar char="•"/>
            </a:pPr>
            <a:r>
              <a:rPr lang="en-US" sz="1200"/>
              <a:t>Manage and reuse data strategically and responsibly</a:t>
            </a:r>
          </a:p>
          <a:p>
            <a:pPr marL="171450" indent="-171450">
              <a:buFont typeface="Arial" panose="020B0604020202020204" pitchFamily="34" charset="0"/>
              <a:buChar char="•"/>
            </a:pPr>
            <a:r>
              <a:rPr lang="en-US" sz="1200"/>
              <a:t>Use and share data openly in an ethical and secure manner </a:t>
            </a:r>
          </a:p>
          <a:p>
            <a:pPr marL="171450" indent="-171450">
              <a:buFont typeface="Arial" panose="020B0604020202020204" pitchFamily="34" charset="0"/>
              <a:buChar char="•"/>
            </a:pPr>
            <a:r>
              <a:rPr lang="en-US" sz="1200"/>
              <a:t>Design with privacy in mind for the collection, use and management of personal Information</a:t>
            </a:r>
            <a:endParaRPr lang="en-CA" sz="1200"/>
          </a:p>
        </p:txBody>
      </p:sp>
      <p:sp>
        <p:nvSpPr>
          <p:cNvPr id="35" name="TextBox 34">
            <a:extLst>
              <a:ext uri="{FF2B5EF4-FFF2-40B4-BE49-F238E27FC236}">
                <a16:creationId xmlns:a16="http://schemas.microsoft.com/office/drawing/2014/main" id="{AA880D08-1711-4C8B-9902-EFC1AC448564}"/>
              </a:ext>
            </a:extLst>
          </p:cNvPr>
          <p:cNvSpPr txBox="1"/>
          <p:nvPr/>
        </p:nvSpPr>
        <p:spPr>
          <a:xfrm>
            <a:off x="2831210" y="3814615"/>
            <a:ext cx="3725859" cy="646331"/>
          </a:xfrm>
          <a:prstGeom prst="rect">
            <a:avLst/>
          </a:prstGeom>
          <a:noFill/>
        </p:spPr>
        <p:txBody>
          <a:bodyPr wrap="square">
            <a:spAutoFit/>
          </a:bodyPr>
          <a:lstStyle/>
          <a:p>
            <a:pPr marL="171450" indent="-171450">
              <a:buFont typeface="Arial" panose="020B0604020202020204" pitchFamily="34" charset="0"/>
              <a:buChar char="•"/>
            </a:pPr>
            <a:r>
              <a:rPr lang="en-US" sz="1200"/>
              <a:t>Use open-source solutions hosted in public cloud</a:t>
            </a:r>
          </a:p>
          <a:p>
            <a:pPr marL="171450" indent="-171450">
              <a:buFont typeface="Arial" panose="020B0604020202020204" pitchFamily="34" charset="0"/>
              <a:buChar char="•"/>
            </a:pPr>
            <a:r>
              <a:rPr lang="en-US" sz="1200"/>
              <a:t>Use software as a service (SaaS) hosted in public cloud</a:t>
            </a:r>
          </a:p>
          <a:p>
            <a:pPr marL="171450" indent="-171450">
              <a:buFont typeface="Arial" panose="020B0604020202020204" pitchFamily="34" charset="0"/>
              <a:buChar char="•"/>
            </a:pPr>
            <a:r>
              <a:rPr lang="en-CA" sz="1200"/>
              <a:t>Design for Interoperability</a:t>
            </a:r>
          </a:p>
        </p:txBody>
      </p:sp>
      <p:sp>
        <p:nvSpPr>
          <p:cNvPr id="37" name="TextBox 36">
            <a:extLst>
              <a:ext uri="{FF2B5EF4-FFF2-40B4-BE49-F238E27FC236}">
                <a16:creationId xmlns:a16="http://schemas.microsoft.com/office/drawing/2014/main" id="{61CFFA06-4E67-42A2-B89F-388212D2314E}"/>
              </a:ext>
            </a:extLst>
          </p:cNvPr>
          <p:cNvSpPr txBox="1"/>
          <p:nvPr/>
        </p:nvSpPr>
        <p:spPr>
          <a:xfrm>
            <a:off x="2831210" y="4605908"/>
            <a:ext cx="3725860" cy="646331"/>
          </a:xfrm>
          <a:prstGeom prst="rect">
            <a:avLst/>
          </a:prstGeom>
          <a:noFill/>
        </p:spPr>
        <p:txBody>
          <a:bodyPr wrap="square">
            <a:spAutoFit/>
          </a:bodyPr>
          <a:lstStyle/>
          <a:p>
            <a:pPr marL="171450" indent="-171450">
              <a:buFont typeface="Arial" panose="020B0604020202020204" pitchFamily="34" charset="0"/>
              <a:buChar char="•"/>
            </a:pPr>
            <a:r>
              <a:rPr lang="en-US" sz="1200"/>
              <a:t>Use cloud first </a:t>
            </a:r>
          </a:p>
          <a:p>
            <a:pPr marL="171450" indent="-171450">
              <a:buFont typeface="Arial" panose="020B0604020202020204" pitchFamily="34" charset="0"/>
              <a:buChar char="•"/>
            </a:pPr>
            <a:r>
              <a:rPr lang="en-US" sz="1200"/>
              <a:t>Design for performance, availability and scalability</a:t>
            </a:r>
          </a:p>
          <a:p>
            <a:pPr marL="171450" indent="-171450">
              <a:buFont typeface="Arial" panose="020B0604020202020204" pitchFamily="34" charset="0"/>
              <a:buChar char="•"/>
            </a:pPr>
            <a:r>
              <a:rPr lang="en-CA" sz="1200"/>
              <a:t>Follow </a:t>
            </a:r>
            <a:r>
              <a:rPr lang="en-CA" sz="1200" err="1"/>
              <a:t>DevSecOps</a:t>
            </a:r>
            <a:r>
              <a:rPr lang="en-CA" sz="1200"/>
              <a:t> principles</a:t>
            </a:r>
          </a:p>
        </p:txBody>
      </p:sp>
      <p:sp>
        <p:nvSpPr>
          <p:cNvPr id="39" name="TextBox 38">
            <a:extLst>
              <a:ext uri="{FF2B5EF4-FFF2-40B4-BE49-F238E27FC236}">
                <a16:creationId xmlns:a16="http://schemas.microsoft.com/office/drawing/2014/main" id="{72769C77-B014-4BBA-AA84-56F684A99439}"/>
              </a:ext>
            </a:extLst>
          </p:cNvPr>
          <p:cNvSpPr txBox="1"/>
          <p:nvPr/>
        </p:nvSpPr>
        <p:spPr>
          <a:xfrm>
            <a:off x="2820707" y="5443845"/>
            <a:ext cx="3830251" cy="646331"/>
          </a:xfrm>
          <a:prstGeom prst="rect">
            <a:avLst/>
          </a:prstGeom>
          <a:noFill/>
        </p:spPr>
        <p:txBody>
          <a:bodyPr wrap="square">
            <a:spAutoFit/>
          </a:bodyPr>
          <a:lstStyle/>
          <a:p>
            <a:pPr marL="171450" indent="-171450">
              <a:buFont typeface="Arial" panose="020B0604020202020204" pitchFamily="34" charset="0"/>
              <a:buChar char="•"/>
            </a:pPr>
            <a:r>
              <a:rPr lang="en-US" sz="1200"/>
              <a:t>Build security into the system life cycle across all layers</a:t>
            </a:r>
          </a:p>
          <a:p>
            <a:pPr marL="171450" indent="-171450">
              <a:buFont typeface="Arial" panose="020B0604020202020204" pitchFamily="34" charset="0"/>
              <a:buChar char="•"/>
            </a:pPr>
            <a:r>
              <a:rPr lang="en-US" sz="1200"/>
              <a:t>Ensure secure access to systems and services</a:t>
            </a:r>
          </a:p>
          <a:p>
            <a:pPr marL="171450" indent="-171450">
              <a:buFont typeface="Arial" panose="020B0604020202020204" pitchFamily="34" charset="0"/>
              <a:buChar char="•"/>
            </a:pPr>
            <a:r>
              <a:rPr lang="en-CA" sz="1200"/>
              <a:t>Maintain secure operations</a:t>
            </a:r>
          </a:p>
        </p:txBody>
      </p:sp>
      <p:sp>
        <p:nvSpPr>
          <p:cNvPr id="5" name="TextBox 4">
            <a:extLst>
              <a:ext uri="{FF2B5EF4-FFF2-40B4-BE49-F238E27FC236}">
                <a16:creationId xmlns:a16="http://schemas.microsoft.com/office/drawing/2014/main" id="{DDCA4DA6-60CB-ADC4-6422-C4BF378CAE6A}"/>
              </a:ext>
            </a:extLst>
          </p:cNvPr>
          <p:cNvSpPr txBox="1"/>
          <p:nvPr/>
        </p:nvSpPr>
        <p:spPr>
          <a:xfrm>
            <a:off x="6694918" y="3834299"/>
            <a:ext cx="5331744" cy="2308324"/>
          </a:xfrm>
          <a:prstGeom prst="rect">
            <a:avLst/>
          </a:prstGeom>
          <a:noFill/>
        </p:spPr>
        <p:txBody>
          <a:bodyPr wrap="square" rtlCol="0">
            <a:spAutoFit/>
          </a:bodyPr>
          <a:lstStyle/>
          <a:p>
            <a:r>
              <a:rPr lang="en-CA" b="1" i="1" u="sng"/>
              <a:t>Important</a:t>
            </a:r>
            <a:r>
              <a:rPr lang="en-CA" b="1" i="1"/>
              <a:t> : This framework is guidance for departments. Above this, departments need to ensure that they maximize value and minimize risk by reusing architecture whenever possible. This allows us to ensure that we have the skills and capacity to procure, secure, and support a manageable set of modern architectures to meet program’s needs. Meeting these criteria is only part of the story.</a:t>
            </a:r>
          </a:p>
        </p:txBody>
      </p:sp>
      <p:sp>
        <p:nvSpPr>
          <p:cNvPr id="6" name="TextBox 5">
            <a:extLst>
              <a:ext uri="{FF2B5EF4-FFF2-40B4-BE49-F238E27FC236}">
                <a16:creationId xmlns:a16="http://schemas.microsoft.com/office/drawing/2014/main" id="{316179E4-FEFB-96D6-C574-87F9D359B16C}"/>
              </a:ext>
            </a:extLst>
          </p:cNvPr>
          <p:cNvSpPr txBox="1"/>
          <p:nvPr/>
        </p:nvSpPr>
        <p:spPr>
          <a:xfrm>
            <a:off x="10740516" y="274639"/>
            <a:ext cx="11509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reference</a:t>
            </a:r>
          </a:p>
        </p:txBody>
      </p:sp>
    </p:spTree>
    <p:extLst>
      <p:ext uri="{BB962C8B-B14F-4D97-AF65-F5344CB8AC3E}">
        <p14:creationId xmlns:p14="http://schemas.microsoft.com/office/powerpoint/2010/main" val="3691591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D6E4-5933-E33E-6D73-618D34876565}"/>
              </a:ext>
            </a:extLst>
          </p:cNvPr>
          <p:cNvSpPr>
            <a:spLocks noGrp="1"/>
          </p:cNvSpPr>
          <p:nvPr>
            <p:ph type="title"/>
          </p:nvPr>
        </p:nvSpPr>
        <p:spPr/>
        <p:txBody>
          <a:bodyPr/>
          <a:lstStyle/>
          <a:p>
            <a:r>
              <a:rPr lang="en-CA"/>
              <a:t>Why Gate 0? Early Influence!</a:t>
            </a:r>
          </a:p>
        </p:txBody>
      </p:sp>
      <p:sp>
        <p:nvSpPr>
          <p:cNvPr id="7" name="Rectangle 6">
            <a:extLst>
              <a:ext uri="{FF2B5EF4-FFF2-40B4-BE49-F238E27FC236}">
                <a16:creationId xmlns:a16="http://schemas.microsoft.com/office/drawing/2014/main" id="{16565812-7B3E-B4B6-2E5C-479CA19C1349}"/>
              </a:ext>
              <a:ext uri="{C183D7F6-B498-43B3-948B-1728B52AA6E4}">
                <adec:decorative xmlns:adec="http://schemas.microsoft.com/office/drawing/2017/decorative" val="1"/>
              </a:ext>
            </a:extLst>
          </p:cNvPr>
          <p:cNvSpPr/>
          <p:nvPr/>
        </p:nvSpPr>
        <p:spPr>
          <a:xfrm>
            <a:off x="6215381" y="1442722"/>
            <a:ext cx="5716173" cy="4575629"/>
          </a:xfrm>
          <a:prstGeom prst="rect">
            <a:avLst/>
          </a:prstGeom>
          <a:noFill/>
          <a:ln w="190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8" name="Rectangle 7">
            <a:extLst>
              <a:ext uri="{FF2B5EF4-FFF2-40B4-BE49-F238E27FC236}">
                <a16:creationId xmlns:a16="http://schemas.microsoft.com/office/drawing/2014/main" id="{37219247-F60C-915E-1BDD-632D0F138D3E}"/>
              </a:ext>
            </a:extLst>
          </p:cNvPr>
          <p:cNvSpPr/>
          <p:nvPr/>
        </p:nvSpPr>
        <p:spPr>
          <a:xfrm>
            <a:off x="6204012" y="1448780"/>
            <a:ext cx="5727542" cy="330090"/>
          </a:xfrm>
          <a:prstGeom prst="rect">
            <a:avLst/>
          </a:prstGeom>
          <a:gradFill>
            <a:gsLst>
              <a:gs pos="100000">
                <a:srgbClr val="5B8686"/>
              </a:gs>
              <a:gs pos="2000">
                <a:srgbClr val="2F547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a:solidFill>
                  <a:schemeClr val="bg2"/>
                </a:solidFill>
                <a:latin typeface="Aharoni" panose="02010803020104030203" pitchFamily="2" charset="-79"/>
                <a:ea typeface="Segoe UI Black" panose="020B0A02040204020203" pitchFamily="34" charset="0"/>
                <a:cs typeface="Aharoni" panose="02010803020104030203" pitchFamily="2" charset="-79"/>
              </a:rPr>
              <a:t>Policy on Service and Digital </a:t>
            </a:r>
          </a:p>
        </p:txBody>
      </p:sp>
      <p:sp>
        <p:nvSpPr>
          <p:cNvPr id="9" name="Rectangle 8">
            <a:extLst>
              <a:ext uri="{FF2B5EF4-FFF2-40B4-BE49-F238E27FC236}">
                <a16:creationId xmlns:a16="http://schemas.microsoft.com/office/drawing/2014/main" id="{45A4CB61-8118-9A00-923D-CA907220A804}"/>
              </a:ext>
            </a:extLst>
          </p:cNvPr>
          <p:cNvSpPr/>
          <p:nvPr/>
        </p:nvSpPr>
        <p:spPr>
          <a:xfrm>
            <a:off x="6226167" y="3119668"/>
            <a:ext cx="5704802" cy="330090"/>
          </a:xfrm>
          <a:prstGeom prst="rect">
            <a:avLst/>
          </a:prstGeom>
          <a:gradFill>
            <a:gsLst>
              <a:gs pos="100000">
                <a:srgbClr val="5B8686"/>
              </a:gs>
              <a:gs pos="2000">
                <a:srgbClr val="2F547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a:solidFill>
                  <a:schemeClr val="bg2"/>
                </a:solidFill>
                <a:latin typeface="Aharoni" panose="02010803020104030203" pitchFamily="2" charset="-79"/>
                <a:ea typeface="Segoe UI Black" panose="020B0A02040204020203" pitchFamily="34" charset="0"/>
                <a:cs typeface="Aharoni" panose="02010803020104030203" pitchFamily="2" charset="-79"/>
              </a:rPr>
              <a:t>Directive on Service and Digital </a:t>
            </a:r>
          </a:p>
        </p:txBody>
      </p:sp>
      <p:sp>
        <p:nvSpPr>
          <p:cNvPr id="11" name="TextBox 10">
            <a:extLst>
              <a:ext uri="{FF2B5EF4-FFF2-40B4-BE49-F238E27FC236}">
                <a16:creationId xmlns:a16="http://schemas.microsoft.com/office/drawing/2014/main" id="{9980EF18-3DA5-E5C1-D870-08DA193A14EC}"/>
              </a:ext>
            </a:extLst>
          </p:cNvPr>
          <p:cNvSpPr txBox="1"/>
          <p:nvPr/>
        </p:nvSpPr>
        <p:spPr>
          <a:xfrm>
            <a:off x="6214797" y="1819500"/>
            <a:ext cx="5727541" cy="1200329"/>
          </a:xfrm>
          <a:prstGeom prst="rect">
            <a:avLst/>
          </a:prstGeom>
          <a:noFill/>
        </p:spPr>
        <p:txBody>
          <a:bodyPr wrap="square">
            <a:spAutoFit/>
          </a:bodyPr>
          <a:lstStyle/>
          <a:p>
            <a:pPr marL="285750" indent="-285750">
              <a:buFont typeface="Arial" panose="020B0604020202020204" pitchFamily="34" charset="0"/>
              <a:buChar char="•"/>
            </a:pPr>
            <a:r>
              <a:rPr lang="en-CA" sz="1200"/>
              <a:t>Ensures </a:t>
            </a:r>
            <a:r>
              <a:rPr lang="en-CA" sz="1200" b="1"/>
              <a:t>proactive</a:t>
            </a:r>
            <a:r>
              <a:rPr lang="en-CA" sz="1200"/>
              <a:t> consideration at the design stage of key requirements.</a:t>
            </a:r>
          </a:p>
          <a:p>
            <a:pPr marL="285750" indent="-285750">
              <a:buFont typeface="Arial" panose="020B0604020202020204" pitchFamily="34" charset="0"/>
              <a:buChar char="•"/>
            </a:pPr>
            <a:r>
              <a:rPr lang="en-CA" sz="1200"/>
              <a:t>Establishes an enterprise-wide, integrated approach to governance, planning and management.</a:t>
            </a:r>
          </a:p>
          <a:p>
            <a:pPr marL="285750" indent="-285750">
              <a:buFont typeface="Arial" panose="020B0604020202020204" pitchFamily="34" charset="0"/>
              <a:buChar char="•"/>
            </a:pPr>
            <a:r>
              <a:rPr lang="en-CA" sz="1200"/>
              <a:t>The Chief Information Officer (CIO) of Canada is responsible for chairing an enterprise architecture review board that is mandated to review departmental proposals for alignment. </a:t>
            </a:r>
          </a:p>
        </p:txBody>
      </p:sp>
      <p:sp>
        <p:nvSpPr>
          <p:cNvPr id="13" name="TextBox 12">
            <a:extLst>
              <a:ext uri="{FF2B5EF4-FFF2-40B4-BE49-F238E27FC236}">
                <a16:creationId xmlns:a16="http://schemas.microsoft.com/office/drawing/2014/main" id="{50CF61C3-4F2B-4904-E696-C9285268BFB5}"/>
              </a:ext>
            </a:extLst>
          </p:cNvPr>
          <p:cNvSpPr txBox="1"/>
          <p:nvPr/>
        </p:nvSpPr>
        <p:spPr>
          <a:xfrm>
            <a:off x="6226167" y="3549597"/>
            <a:ext cx="5704802" cy="1200329"/>
          </a:xfrm>
          <a:prstGeom prst="rect">
            <a:avLst/>
          </a:prstGeom>
          <a:noFill/>
        </p:spPr>
        <p:txBody>
          <a:bodyPr wrap="square">
            <a:spAutoFit/>
          </a:bodyPr>
          <a:lstStyle/>
          <a:p>
            <a:r>
              <a:rPr lang="en-CA" sz="1200"/>
              <a:t>The </a:t>
            </a:r>
            <a:r>
              <a:rPr lang="en-CA" sz="1200" b="1"/>
              <a:t>departmental</a:t>
            </a:r>
            <a:r>
              <a:rPr lang="en-CA" sz="1200"/>
              <a:t> Chief Information Officer (CIO) is responsible for: </a:t>
            </a:r>
          </a:p>
          <a:p>
            <a:pPr marL="171450" indent="-171450">
              <a:buFont typeface="Arial" panose="020B0604020202020204" pitchFamily="34" charset="0"/>
              <a:buChar char="•"/>
            </a:pPr>
            <a:r>
              <a:rPr lang="en-CA" sz="1200"/>
              <a:t>Chairing a departmental architecture review board that is mandated to review and approve the architecture of all departmental digital initiatives and ensure their alignment with enterprise architectures.</a:t>
            </a:r>
          </a:p>
          <a:p>
            <a:pPr marL="171450" indent="-171450">
              <a:buFont typeface="Arial" panose="020B0604020202020204" pitchFamily="34" charset="0"/>
              <a:buChar char="•"/>
            </a:pPr>
            <a:r>
              <a:rPr lang="en-CA" sz="1200"/>
              <a:t>Submitting to the GC EARB </a:t>
            </a:r>
            <a:r>
              <a:rPr lang="en-CA" sz="1200" b="1"/>
              <a:t>criteria-based </a:t>
            </a:r>
            <a:r>
              <a:rPr lang="en-CA" sz="1200"/>
              <a:t>proposals concerned with the design, development, installation and implementation of digital initiatives.</a:t>
            </a:r>
          </a:p>
        </p:txBody>
      </p:sp>
      <p:sp>
        <p:nvSpPr>
          <p:cNvPr id="16" name="Rectangle 15">
            <a:extLst>
              <a:ext uri="{FF2B5EF4-FFF2-40B4-BE49-F238E27FC236}">
                <a16:creationId xmlns:a16="http://schemas.microsoft.com/office/drawing/2014/main" id="{67530D7E-48F6-0A02-E5B0-B999ED4DA889}"/>
              </a:ext>
            </a:extLst>
          </p:cNvPr>
          <p:cNvSpPr/>
          <p:nvPr/>
        </p:nvSpPr>
        <p:spPr>
          <a:xfrm>
            <a:off x="6237536" y="4749926"/>
            <a:ext cx="5704802" cy="330090"/>
          </a:xfrm>
          <a:prstGeom prst="rect">
            <a:avLst/>
          </a:prstGeom>
          <a:gradFill>
            <a:gsLst>
              <a:gs pos="100000">
                <a:srgbClr val="5B8686"/>
              </a:gs>
              <a:gs pos="2000">
                <a:srgbClr val="2F547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a:solidFill>
                  <a:schemeClr val="bg2"/>
                </a:solidFill>
                <a:latin typeface="Aharoni" panose="02010803020104030203" pitchFamily="2" charset="-79"/>
                <a:ea typeface="Segoe UI Black" panose="020B0A02040204020203" pitchFamily="34" charset="0"/>
                <a:cs typeface="Aharoni" panose="02010803020104030203" pitchFamily="2" charset="-79"/>
              </a:rPr>
              <a:t>Policy on the Planning and Management of Investments</a:t>
            </a:r>
          </a:p>
        </p:txBody>
      </p:sp>
      <p:sp>
        <p:nvSpPr>
          <p:cNvPr id="18" name="TextBox 17">
            <a:extLst>
              <a:ext uri="{FF2B5EF4-FFF2-40B4-BE49-F238E27FC236}">
                <a16:creationId xmlns:a16="http://schemas.microsoft.com/office/drawing/2014/main" id="{840AF325-4CF5-8781-F096-97AE1FCFC0ED}"/>
              </a:ext>
            </a:extLst>
          </p:cNvPr>
          <p:cNvSpPr txBox="1"/>
          <p:nvPr/>
        </p:nvSpPr>
        <p:spPr>
          <a:xfrm>
            <a:off x="6237536" y="5054769"/>
            <a:ext cx="5838035" cy="1015663"/>
          </a:xfrm>
          <a:prstGeom prst="rect">
            <a:avLst/>
          </a:prstGeom>
          <a:noFill/>
        </p:spPr>
        <p:txBody>
          <a:bodyPr wrap="square">
            <a:spAutoFit/>
          </a:bodyPr>
          <a:lstStyle/>
          <a:p>
            <a:r>
              <a:rPr lang="en-CA" sz="1200"/>
              <a:t>The business owner is responsible for:</a:t>
            </a:r>
          </a:p>
          <a:p>
            <a:pPr marL="171450" indent="-171450">
              <a:buFont typeface="Arial" panose="020B0604020202020204" pitchFamily="34" charset="0"/>
              <a:buChar char="•"/>
            </a:pPr>
            <a:r>
              <a:rPr lang="en-CA" sz="1200"/>
              <a:t>Ensuring that the concept case is reviewed by the appropriate departmental investment oversight body.</a:t>
            </a:r>
          </a:p>
          <a:p>
            <a:pPr marL="171450" indent="-171450">
              <a:buFont typeface="Arial" panose="020B0604020202020204" pitchFamily="34" charset="0"/>
              <a:buChar char="•"/>
            </a:pPr>
            <a:r>
              <a:rPr lang="en-CA" sz="1200"/>
              <a:t>Approving and submitting the concept case to the Treasury Board of Canada Secretariat for review.</a:t>
            </a:r>
          </a:p>
        </p:txBody>
      </p:sp>
      <p:sp>
        <p:nvSpPr>
          <p:cNvPr id="3" name="TextBox 2">
            <a:extLst>
              <a:ext uri="{FF2B5EF4-FFF2-40B4-BE49-F238E27FC236}">
                <a16:creationId xmlns:a16="http://schemas.microsoft.com/office/drawing/2014/main" id="{C9213698-871A-DA35-24E2-2B72A07796E2}"/>
              </a:ext>
            </a:extLst>
          </p:cNvPr>
          <p:cNvSpPr txBox="1"/>
          <p:nvPr/>
        </p:nvSpPr>
        <p:spPr>
          <a:xfrm>
            <a:off x="984958" y="1486107"/>
            <a:ext cx="3129780" cy="369332"/>
          </a:xfrm>
          <a:prstGeom prst="rect">
            <a:avLst/>
          </a:prstGeom>
          <a:noFill/>
        </p:spPr>
        <p:txBody>
          <a:bodyPr wrap="square" rtlCol="0">
            <a:spAutoFit/>
          </a:bodyPr>
          <a:lstStyle/>
          <a:p>
            <a:r>
              <a:rPr lang="en-US" b="1">
                <a:solidFill>
                  <a:prstClr val="black"/>
                </a:solidFill>
                <a:latin typeface="Calibri"/>
                <a:cs typeface="Arial" pitchFamily="34" charset="0"/>
              </a:rPr>
              <a:t>Refine the Business Problem </a:t>
            </a:r>
          </a:p>
        </p:txBody>
      </p:sp>
      <p:grpSp>
        <p:nvGrpSpPr>
          <p:cNvPr id="4" name="Group 3">
            <a:extLst>
              <a:ext uri="{FF2B5EF4-FFF2-40B4-BE49-F238E27FC236}">
                <a16:creationId xmlns:a16="http://schemas.microsoft.com/office/drawing/2014/main" id="{7B8B2314-7153-575B-3B4D-FDE93A7AF252}"/>
              </a:ext>
              <a:ext uri="{C183D7F6-B498-43B3-948B-1728B52AA6E4}">
                <adec:decorative xmlns:adec="http://schemas.microsoft.com/office/drawing/2017/decorative" val="1"/>
              </a:ext>
            </a:extLst>
          </p:cNvPr>
          <p:cNvGrpSpPr/>
          <p:nvPr/>
        </p:nvGrpSpPr>
        <p:grpSpPr>
          <a:xfrm>
            <a:off x="492163" y="1414734"/>
            <a:ext cx="5245640" cy="942764"/>
            <a:chOff x="695833" y="1772817"/>
            <a:chExt cx="5908655" cy="942764"/>
          </a:xfrm>
        </p:grpSpPr>
        <p:sp>
          <p:nvSpPr>
            <p:cNvPr id="5" name="Rounded Rectangle 59">
              <a:extLst>
                <a:ext uri="{FF2B5EF4-FFF2-40B4-BE49-F238E27FC236}">
                  <a16:creationId xmlns:a16="http://schemas.microsoft.com/office/drawing/2014/main" id="{D858E4FA-2A9C-DE9D-F9FF-DF839161B011}"/>
                </a:ext>
              </a:extLst>
            </p:cNvPr>
            <p:cNvSpPr/>
            <p:nvPr/>
          </p:nvSpPr>
          <p:spPr>
            <a:xfrm>
              <a:off x="833909" y="1772817"/>
              <a:ext cx="5770579" cy="942764"/>
            </a:xfrm>
            <a:prstGeom prst="roundRect">
              <a:avLst>
                <a:gd name="adj" fmla="val 40104"/>
              </a:avLst>
            </a:prstGeom>
            <a:noFill/>
            <a:ln>
              <a:gradFill flip="none" rotWithShape="1">
                <a:gsLst>
                  <a:gs pos="0">
                    <a:schemeClr val="accent3"/>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prstClr val="black"/>
                </a:solidFill>
                <a:latin typeface="Calibri"/>
                <a:cs typeface="Arial" pitchFamily="34" charset="0"/>
              </a:endParaRPr>
            </a:p>
          </p:txBody>
        </p:sp>
        <p:sp>
          <p:nvSpPr>
            <p:cNvPr id="6" name="Oval 5">
              <a:extLst>
                <a:ext uri="{FF2B5EF4-FFF2-40B4-BE49-F238E27FC236}">
                  <a16:creationId xmlns:a16="http://schemas.microsoft.com/office/drawing/2014/main" id="{11440F8B-4F55-A6C1-6A08-435A79D5E119}"/>
                </a:ext>
              </a:extLst>
            </p:cNvPr>
            <p:cNvSpPr/>
            <p:nvPr/>
          </p:nvSpPr>
          <p:spPr>
            <a:xfrm>
              <a:off x="695833" y="2047395"/>
              <a:ext cx="377228" cy="373493"/>
            </a:xfrm>
            <a:prstGeom prst="ellipse">
              <a:avLst/>
            </a:prstGeom>
            <a:gradFill flip="none" rotWithShape="1">
              <a:gsLst>
                <a:gs pos="75000">
                  <a:schemeClr val="accent3"/>
                </a:gs>
                <a:gs pos="0">
                  <a:schemeClr val="bg1"/>
                </a:gs>
              </a:gsLst>
              <a:path path="circle">
                <a:fillToRect l="50000" t="50000" r="50000" b="50000"/>
              </a:path>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grpSp>
      <p:sp>
        <p:nvSpPr>
          <p:cNvPr id="10" name="TextBox 9">
            <a:extLst>
              <a:ext uri="{FF2B5EF4-FFF2-40B4-BE49-F238E27FC236}">
                <a16:creationId xmlns:a16="http://schemas.microsoft.com/office/drawing/2014/main" id="{6DA6CCAD-DB73-3C0E-1464-10BD1DCE1DF2}"/>
              </a:ext>
            </a:extLst>
          </p:cNvPr>
          <p:cNvSpPr txBox="1"/>
          <p:nvPr/>
        </p:nvSpPr>
        <p:spPr>
          <a:xfrm>
            <a:off x="919927" y="2715348"/>
            <a:ext cx="4668635" cy="369332"/>
          </a:xfrm>
          <a:prstGeom prst="rect">
            <a:avLst/>
          </a:prstGeom>
          <a:noFill/>
        </p:spPr>
        <p:txBody>
          <a:bodyPr wrap="square" rtlCol="0">
            <a:spAutoFit/>
          </a:bodyPr>
          <a:lstStyle/>
          <a:p>
            <a:r>
              <a:rPr lang="en-US" b="1">
                <a:solidFill>
                  <a:prstClr val="black"/>
                </a:solidFill>
                <a:latin typeface="Calibri"/>
                <a:cs typeface="Arial" pitchFamily="34" charset="0"/>
              </a:rPr>
              <a:t>Early Architectural Insights</a:t>
            </a:r>
            <a:endParaRPr lang="en-US" b="1">
              <a:solidFill>
                <a:prstClr val="black"/>
              </a:solidFill>
              <a:latin typeface="Calibri"/>
            </a:endParaRPr>
          </a:p>
        </p:txBody>
      </p:sp>
      <p:sp>
        <p:nvSpPr>
          <p:cNvPr id="12" name="TextBox 11">
            <a:extLst>
              <a:ext uri="{FF2B5EF4-FFF2-40B4-BE49-F238E27FC236}">
                <a16:creationId xmlns:a16="http://schemas.microsoft.com/office/drawing/2014/main" id="{CA951F8A-6FB8-193D-B7C5-E2041E200432}"/>
              </a:ext>
            </a:extLst>
          </p:cNvPr>
          <p:cNvSpPr txBox="1"/>
          <p:nvPr/>
        </p:nvSpPr>
        <p:spPr>
          <a:xfrm>
            <a:off x="973083" y="1813319"/>
            <a:ext cx="4658044" cy="523220"/>
          </a:xfrm>
          <a:prstGeom prst="rect">
            <a:avLst/>
          </a:prstGeom>
          <a:noFill/>
        </p:spPr>
        <p:txBody>
          <a:bodyPr wrap="square" rtlCol="0">
            <a:spAutoFit/>
          </a:bodyPr>
          <a:lstStyle/>
          <a:p>
            <a:r>
              <a:rPr lang="en-CA" sz="1400">
                <a:solidFill>
                  <a:srgbClr val="004D71"/>
                </a:solidFill>
                <a:latin typeface="Calibri"/>
              </a:rPr>
              <a:t> </a:t>
            </a:r>
            <a:r>
              <a:rPr lang="en-CA" sz="1400" i="1">
                <a:solidFill>
                  <a:prstClr val="black"/>
                </a:solidFill>
                <a:latin typeface="Calibri"/>
                <a:cs typeface="Arial" pitchFamily="34" charset="0"/>
              </a:rPr>
              <a:t>Early conversations are important to ensure alignment on direction before solutions are determined </a:t>
            </a:r>
            <a:endParaRPr lang="en-US" sz="1400" i="1">
              <a:solidFill>
                <a:prstClr val="black"/>
              </a:solidFill>
              <a:latin typeface="Calibri"/>
              <a:cs typeface="Arial" pitchFamily="34" charset="0"/>
            </a:endParaRPr>
          </a:p>
        </p:txBody>
      </p:sp>
      <p:sp>
        <p:nvSpPr>
          <p:cNvPr id="14" name="TextBox 13">
            <a:extLst>
              <a:ext uri="{FF2B5EF4-FFF2-40B4-BE49-F238E27FC236}">
                <a16:creationId xmlns:a16="http://schemas.microsoft.com/office/drawing/2014/main" id="{D2EC19AB-7D0D-0F97-D22F-027F168D2854}"/>
              </a:ext>
            </a:extLst>
          </p:cNvPr>
          <p:cNvSpPr txBox="1"/>
          <p:nvPr/>
        </p:nvSpPr>
        <p:spPr>
          <a:xfrm>
            <a:off x="930518" y="3051267"/>
            <a:ext cx="4658044" cy="523220"/>
          </a:xfrm>
          <a:prstGeom prst="rect">
            <a:avLst/>
          </a:prstGeom>
          <a:noFill/>
        </p:spPr>
        <p:txBody>
          <a:bodyPr wrap="square" rtlCol="0">
            <a:spAutoFit/>
          </a:bodyPr>
          <a:lstStyle/>
          <a:p>
            <a:r>
              <a:rPr lang="en-CA" sz="1400" i="1">
                <a:solidFill>
                  <a:prstClr val="black"/>
                </a:solidFill>
                <a:latin typeface="Calibri"/>
                <a:cs typeface="Arial" pitchFamily="34" charset="0"/>
              </a:rPr>
              <a:t>The digital and architecture standards have been built into our governance and oversight processes</a:t>
            </a:r>
            <a:endParaRPr lang="en-US" sz="1400" i="1">
              <a:solidFill>
                <a:prstClr val="black"/>
              </a:solidFill>
              <a:latin typeface="Calibri"/>
              <a:cs typeface="Arial" pitchFamily="34" charset="0"/>
            </a:endParaRPr>
          </a:p>
        </p:txBody>
      </p:sp>
      <p:grpSp>
        <p:nvGrpSpPr>
          <p:cNvPr id="15" name="Group 14">
            <a:extLst>
              <a:ext uri="{FF2B5EF4-FFF2-40B4-BE49-F238E27FC236}">
                <a16:creationId xmlns:a16="http://schemas.microsoft.com/office/drawing/2014/main" id="{6FA57EA2-B3BB-177C-FC54-7D72939A2A7A}"/>
              </a:ext>
              <a:ext uri="{C183D7F6-B498-43B3-948B-1728B52AA6E4}">
                <adec:decorative xmlns:adec="http://schemas.microsoft.com/office/drawing/2017/decorative" val="1"/>
              </a:ext>
            </a:extLst>
          </p:cNvPr>
          <p:cNvGrpSpPr/>
          <p:nvPr/>
        </p:nvGrpSpPr>
        <p:grpSpPr>
          <a:xfrm>
            <a:off x="422803" y="2638870"/>
            <a:ext cx="5326370" cy="968870"/>
            <a:chOff x="645295" y="2878326"/>
            <a:chExt cx="5959193" cy="968870"/>
          </a:xfrm>
        </p:grpSpPr>
        <p:sp>
          <p:nvSpPr>
            <p:cNvPr id="17" name="Rounded Rectangle 68">
              <a:extLst>
                <a:ext uri="{FF2B5EF4-FFF2-40B4-BE49-F238E27FC236}">
                  <a16:creationId xmlns:a16="http://schemas.microsoft.com/office/drawing/2014/main" id="{BD9F15DB-AE71-B082-2C1D-93571F081877}"/>
                </a:ext>
              </a:extLst>
            </p:cNvPr>
            <p:cNvSpPr/>
            <p:nvPr/>
          </p:nvSpPr>
          <p:spPr>
            <a:xfrm>
              <a:off x="833909" y="2878326"/>
              <a:ext cx="5770579" cy="968870"/>
            </a:xfrm>
            <a:prstGeom prst="roundRect">
              <a:avLst>
                <a:gd name="adj" fmla="val 40104"/>
              </a:avLst>
            </a:prstGeom>
            <a:noFill/>
            <a:ln>
              <a:gradFill flip="none" rotWithShape="1">
                <a:gsLst>
                  <a:gs pos="0">
                    <a:schemeClr val="accent3"/>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prstClr val="black"/>
                </a:solidFill>
                <a:latin typeface="Calibri"/>
                <a:cs typeface="Arial" pitchFamily="34" charset="0"/>
              </a:endParaRPr>
            </a:p>
          </p:txBody>
        </p:sp>
        <p:sp>
          <p:nvSpPr>
            <p:cNvPr id="19" name="Oval 18">
              <a:extLst>
                <a:ext uri="{FF2B5EF4-FFF2-40B4-BE49-F238E27FC236}">
                  <a16:creationId xmlns:a16="http://schemas.microsoft.com/office/drawing/2014/main" id="{40B8FBD7-1CDA-DC8E-1CF0-AEF7FC5B6826}"/>
                </a:ext>
              </a:extLst>
            </p:cNvPr>
            <p:cNvSpPr/>
            <p:nvPr/>
          </p:nvSpPr>
          <p:spPr>
            <a:xfrm>
              <a:off x="645295" y="3161586"/>
              <a:ext cx="377228" cy="373493"/>
            </a:xfrm>
            <a:prstGeom prst="ellipse">
              <a:avLst/>
            </a:prstGeom>
            <a:gradFill flip="none" rotWithShape="1">
              <a:gsLst>
                <a:gs pos="75000">
                  <a:schemeClr val="accent3"/>
                </a:gs>
                <a:gs pos="0">
                  <a:schemeClr val="bg1"/>
                </a:gs>
              </a:gsLst>
              <a:path path="circle">
                <a:fillToRect l="50000" t="50000" r="50000" b="50000"/>
              </a:path>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grpSp>
      <p:sp>
        <p:nvSpPr>
          <p:cNvPr id="20" name="TextBox 19">
            <a:extLst>
              <a:ext uri="{FF2B5EF4-FFF2-40B4-BE49-F238E27FC236}">
                <a16:creationId xmlns:a16="http://schemas.microsoft.com/office/drawing/2014/main" id="{DE8E618B-20D8-544E-52D1-17B9D0C603FB}"/>
              </a:ext>
            </a:extLst>
          </p:cNvPr>
          <p:cNvSpPr txBox="1"/>
          <p:nvPr/>
        </p:nvSpPr>
        <p:spPr>
          <a:xfrm>
            <a:off x="999878" y="4275403"/>
            <a:ext cx="4658044" cy="523220"/>
          </a:xfrm>
          <a:prstGeom prst="rect">
            <a:avLst/>
          </a:prstGeom>
          <a:noFill/>
        </p:spPr>
        <p:txBody>
          <a:bodyPr wrap="square" rtlCol="0">
            <a:spAutoFit/>
          </a:bodyPr>
          <a:lstStyle/>
          <a:p>
            <a:r>
              <a:rPr lang="en-CA" sz="1400" i="1">
                <a:solidFill>
                  <a:prstClr val="black"/>
                </a:solidFill>
                <a:latin typeface="Calibri"/>
                <a:cs typeface="Arial" pitchFamily="34" charset="0"/>
              </a:rPr>
              <a:t>Leverage knowledge, experience and existing information to uncover synergies that drive Enterprise level solutions</a:t>
            </a:r>
            <a:endParaRPr lang="fr-CA" sz="1400" i="1">
              <a:solidFill>
                <a:prstClr val="black"/>
              </a:solidFill>
              <a:latin typeface="Calibri"/>
              <a:cs typeface="Arial" pitchFamily="34" charset="0"/>
            </a:endParaRPr>
          </a:p>
        </p:txBody>
      </p:sp>
      <p:grpSp>
        <p:nvGrpSpPr>
          <p:cNvPr id="21" name="Group 20">
            <a:extLst>
              <a:ext uri="{FF2B5EF4-FFF2-40B4-BE49-F238E27FC236}">
                <a16:creationId xmlns:a16="http://schemas.microsoft.com/office/drawing/2014/main" id="{3FB9E136-E998-88C2-8337-B5E4EE694CFF}"/>
              </a:ext>
              <a:ext uri="{C183D7F6-B498-43B3-948B-1728B52AA6E4}">
                <adec:decorative xmlns:adec="http://schemas.microsoft.com/office/drawing/2017/decorative" val="1"/>
              </a:ext>
            </a:extLst>
          </p:cNvPr>
          <p:cNvGrpSpPr/>
          <p:nvPr/>
        </p:nvGrpSpPr>
        <p:grpSpPr>
          <a:xfrm>
            <a:off x="492163" y="3863006"/>
            <a:ext cx="5257010" cy="968870"/>
            <a:chOff x="645295" y="2878326"/>
            <a:chExt cx="5959193" cy="968870"/>
          </a:xfrm>
        </p:grpSpPr>
        <p:sp>
          <p:nvSpPr>
            <p:cNvPr id="22" name="Rounded Rectangle 21">
              <a:extLst>
                <a:ext uri="{FF2B5EF4-FFF2-40B4-BE49-F238E27FC236}">
                  <a16:creationId xmlns:a16="http://schemas.microsoft.com/office/drawing/2014/main" id="{2349F99A-DCC4-9EBA-35B6-E604FC307A21}"/>
                </a:ext>
              </a:extLst>
            </p:cNvPr>
            <p:cNvSpPr/>
            <p:nvPr/>
          </p:nvSpPr>
          <p:spPr>
            <a:xfrm>
              <a:off x="833909" y="2878326"/>
              <a:ext cx="5770579" cy="968870"/>
            </a:xfrm>
            <a:prstGeom prst="roundRect">
              <a:avLst>
                <a:gd name="adj" fmla="val 40104"/>
              </a:avLst>
            </a:prstGeom>
            <a:noFill/>
            <a:ln>
              <a:gradFill flip="none" rotWithShape="1">
                <a:gsLst>
                  <a:gs pos="0">
                    <a:schemeClr val="accent3"/>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a:solidFill>
                  <a:prstClr val="black"/>
                </a:solidFill>
                <a:latin typeface="Calibri"/>
                <a:cs typeface="Arial" pitchFamily="34" charset="0"/>
              </a:endParaRPr>
            </a:p>
          </p:txBody>
        </p:sp>
        <p:sp>
          <p:nvSpPr>
            <p:cNvPr id="23" name="Oval 22">
              <a:extLst>
                <a:ext uri="{FF2B5EF4-FFF2-40B4-BE49-F238E27FC236}">
                  <a16:creationId xmlns:a16="http://schemas.microsoft.com/office/drawing/2014/main" id="{09652E7B-65B0-C3DA-54FE-77A25507973D}"/>
                </a:ext>
              </a:extLst>
            </p:cNvPr>
            <p:cNvSpPr/>
            <p:nvPr/>
          </p:nvSpPr>
          <p:spPr>
            <a:xfrm>
              <a:off x="645295" y="3161586"/>
              <a:ext cx="377228" cy="373493"/>
            </a:xfrm>
            <a:prstGeom prst="ellipse">
              <a:avLst/>
            </a:prstGeom>
            <a:gradFill flip="none" rotWithShape="1">
              <a:gsLst>
                <a:gs pos="75000">
                  <a:schemeClr val="accent3"/>
                </a:gs>
                <a:gs pos="0">
                  <a:schemeClr val="bg1"/>
                </a:gs>
              </a:gsLst>
              <a:path path="circle">
                <a:fillToRect l="50000" t="50000" r="50000" b="50000"/>
              </a:path>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grpSp>
      <p:sp>
        <p:nvSpPr>
          <p:cNvPr id="24" name="TextBox 23">
            <a:extLst>
              <a:ext uri="{FF2B5EF4-FFF2-40B4-BE49-F238E27FC236}">
                <a16:creationId xmlns:a16="http://schemas.microsoft.com/office/drawing/2014/main" id="{56818E47-F53C-21A6-F2C6-DDF4478DBB1E}"/>
              </a:ext>
            </a:extLst>
          </p:cNvPr>
          <p:cNvSpPr txBox="1"/>
          <p:nvPr/>
        </p:nvSpPr>
        <p:spPr>
          <a:xfrm>
            <a:off x="999878" y="3926396"/>
            <a:ext cx="4669413" cy="369332"/>
          </a:xfrm>
          <a:prstGeom prst="rect">
            <a:avLst/>
          </a:prstGeom>
          <a:noFill/>
        </p:spPr>
        <p:txBody>
          <a:bodyPr wrap="square" rtlCol="0">
            <a:spAutoFit/>
          </a:bodyPr>
          <a:lstStyle/>
          <a:p>
            <a:r>
              <a:rPr lang="en-US" b="1">
                <a:solidFill>
                  <a:prstClr val="black"/>
                </a:solidFill>
                <a:latin typeface="Calibri"/>
                <a:cs typeface="Arial" pitchFamily="34" charset="0"/>
              </a:rPr>
              <a:t>Broader Collaboration </a:t>
            </a:r>
            <a:endParaRPr lang="en-US" b="1">
              <a:solidFill>
                <a:prstClr val="black"/>
              </a:solidFill>
              <a:latin typeface="Calibri"/>
            </a:endParaRPr>
          </a:p>
        </p:txBody>
      </p:sp>
      <p:sp>
        <p:nvSpPr>
          <p:cNvPr id="25" name="TextBox 24">
            <a:extLst>
              <a:ext uri="{FF2B5EF4-FFF2-40B4-BE49-F238E27FC236}">
                <a16:creationId xmlns:a16="http://schemas.microsoft.com/office/drawing/2014/main" id="{4442B8B0-F407-6D63-6B70-C5D7938B2DE3}"/>
              </a:ext>
            </a:extLst>
          </p:cNvPr>
          <p:cNvSpPr txBox="1"/>
          <p:nvPr/>
        </p:nvSpPr>
        <p:spPr>
          <a:xfrm>
            <a:off x="575356" y="5080016"/>
            <a:ext cx="5496007" cy="1169551"/>
          </a:xfrm>
          <a:prstGeom prst="rect">
            <a:avLst/>
          </a:prstGeom>
          <a:noFill/>
        </p:spPr>
        <p:txBody>
          <a:bodyPr wrap="square" rtlCol="0">
            <a:spAutoFit/>
          </a:bodyPr>
          <a:lstStyle/>
          <a:p>
            <a:r>
              <a:rPr lang="en-CA" sz="1400" i="1"/>
              <a:t>4.1.1.4 </a:t>
            </a:r>
            <a:r>
              <a:rPr lang="en-CA" sz="1400" b="1" i="1"/>
              <a:t>Ensuring that proposals to the GC Enterprise Architecture Review Board are submitted </a:t>
            </a:r>
            <a:r>
              <a:rPr lang="en-CA" sz="1400" i="1"/>
              <a:t>after review of concept cases for digital projects according to the “Mandatory Procedures for Concept Cases for Digital Projects” and </a:t>
            </a:r>
            <a:r>
              <a:rPr lang="en-CA" sz="1400" b="1" i="1"/>
              <a:t>before the development of a Treasury Board submission or departmental business case.</a:t>
            </a:r>
          </a:p>
        </p:txBody>
      </p:sp>
      <p:sp>
        <p:nvSpPr>
          <p:cNvPr id="27" name="TextBox 26">
            <a:extLst>
              <a:ext uri="{FF2B5EF4-FFF2-40B4-BE49-F238E27FC236}">
                <a16:creationId xmlns:a16="http://schemas.microsoft.com/office/drawing/2014/main" id="{28134B40-0C9D-4AA3-94A1-2C2B6F8F51BC}"/>
              </a:ext>
            </a:extLst>
          </p:cNvPr>
          <p:cNvSpPr txBox="1"/>
          <p:nvPr/>
        </p:nvSpPr>
        <p:spPr>
          <a:xfrm>
            <a:off x="96584" y="6207319"/>
            <a:ext cx="6140952"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a:ea typeface="+mn-ea"/>
                <a:cs typeface="+mn-cs"/>
              </a:rPr>
              <a:t>_______________________________________________________________</a:t>
            </a:r>
          </a:p>
          <a:p>
            <a:pPr marL="0" marR="0" lvl="0" indent="0" algn="l" defTabSz="914400" rtl="0" eaLnBrk="1" fontAlgn="auto" latinLnBrk="0" hangingPunct="1">
              <a:lnSpc>
                <a:spcPct val="100000"/>
              </a:lnSpc>
              <a:spcBef>
                <a:spcPts val="0"/>
              </a:spcBef>
              <a:spcAft>
                <a:spcPts val="0"/>
              </a:spcAft>
              <a:buClrTx/>
              <a:buSzTx/>
              <a:buFontTx/>
              <a:buNone/>
              <a:tabLst>
                <a:tab pos="461963" algn="l"/>
              </a:tabLst>
              <a:defRPr/>
            </a:pPr>
            <a:r>
              <a:rPr kumimoji="0" lang="en-US" sz="800" b="0" i="0" u="none" strike="noStrike" kern="1200" cap="none" spc="0" normalizeH="0" baseline="0" noProof="0">
                <a:ln>
                  <a:noFill/>
                </a:ln>
                <a:solidFill>
                  <a:prstClr val="black"/>
                </a:solidFill>
                <a:effectLst/>
                <a:uLnTx/>
                <a:uFillTx/>
                <a:latin typeface="Calibri"/>
                <a:ea typeface="+mn-ea"/>
                <a:cs typeface="+mn-cs"/>
                <a:hlinkClick r:id="rId3"/>
              </a:rPr>
              <a:t>Policy on Service and Digital- Canada.ca (tbs-sct.gc.ca)</a:t>
            </a:r>
            <a:endParaRPr kumimoji="0" lang="en-US" sz="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461963" algn="l"/>
              </a:tabLst>
              <a:defRPr/>
            </a:pPr>
            <a:r>
              <a:rPr kumimoji="0" lang="en-US" sz="800" b="0" i="0" u="none" strike="noStrike" kern="1200" cap="none" spc="0" normalizeH="0" baseline="0" noProof="0">
                <a:ln>
                  <a:noFill/>
                </a:ln>
                <a:solidFill>
                  <a:prstClr val="black"/>
                </a:solidFill>
                <a:effectLst/>
                <a:uLnTx/>
                <a:uFillTx/>
                <a:latin typeface="Calibri"/>
                <a:ea typeface="+mn-ea"/>
                <a:cs typeface="+mn-cs"/>
                <a:hlinkClick r:id="rId4"/>
              </a:rPr>
              <a:t>Directive on Service and Digital- Canada.ca (tbs-sct.gc.ca)</a:t>
            </a:r>
            <a:endParaRPr kumimoji="0" lang="en-US" sz="800" b="0" i="0" u="none" strike="noStrike" kern="1200" cap="none" spc="0" normalizeH="0" baseline="0" noProof="0">
              <a:ln>
                <a:noFill/>
              </a:ln>
              <a:solidFill>
                <a:prstClr val="black"/>
              </a:solidFill>
              <a:effectLst/>
              <a:uLnTx/>
              <a:uFillTx/>
              <a:latin typeface="Calibri"/>
              <a:ea typeface="+mn-ea"/>
              <a:cs typeface="+mn-cs"/>
            </a:endParaRPr>
          </a:p>
          <a:p>
            <a:pPr>
              <a:tabLst>
                <a:tab pos="461963" algn="l"/>
              </a:tabLst>
              <a:defRPr/>
            </a:pPr>
            <a:r>
              <a:rPr kumimoji="0" lang="en-CA" sz="800" b="0" i="0" u="none" strike="noStrike" kern="1200" cap="none" spc="0" normalizeH="0" baseline="0" noProof="0">
                <a:ln>
                  <a:noFill/>
                </a:ln>
                <a:solidFill>
                  <a:prstClr val="black"/>
                </a:solidFill>
                <a:effectLst/>
                <a:uLnTx/>
                <a:uFillTx/>
                <a:latin typeface="Calibri"/>
                <a:ea typeface="+mn-ea"/>
                <a:cs typeface="+mn-cs"/>
                <a:hlinkClick r:id="rId5"/>
              </a:rPr>
              <a:t>Policy on the Planning and Management of Investments- Canada.ca (tbs-sct.gc.ca)</a:t>
            </a:r>
            <a:endParaRPr kumimoji="0" lang="en-US" sz="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461963" algn="l"/>
              </a:tabLst>
              <a:defRPr/>
            </a:pPr>
            <a:endParaRPr kumimoji="0" lang="en-CA" sz="800" b="0" i="0" u="none" strike="noStrike" kern="1200" cap="none" spc="0" normalizeH="0" baseline="0" noProof="0">
              <a:ln>
                <a:noFill/>
              </a:ln>
              <a:solidFill>
                <a:prstClr val="black"/>
              </a:solidFill>
              <a:effectLst/>
              <a:uLnTx/>
              <a:uFillTx/>
              <a:latin typeface="Calibri"/>
              <a:ea typeface="+mn-ea"/>
              <a:cs typeface="+mn-cs"/>
            </a:endParaRPr>
          </a:p>
        </p:txBody>
      </p:sp>
      <p:sp>
        <p:nvSpPr>
          <p:cNvPr id="26" name="Slide Number Placeholder 25">
            <a:extLst>
              <a:ext uri="{FF2B5EF4-FFF2-40B4-BE49-F238E27FC236}">
                <a16:creationId xmlns:a16="http://schemas.microsoft.com/office/drawing/2014/main" id="{A78667EC-AEA1-907A-2264-9AB6C386082E}"/>
              </a:ext>
            </a:extLst>
          </p:cNvPr>
          <p:cNvSpPr>
            <a:spLocks noGrp="1"/>
          </p:cNvSpPr>
          <p:nvPr>
            <p:ph type="sldNum" sz="quarter" idx="4"/>
          </p:nvPr>
        </p:nvSpPr>
        <p:spPr/>
        <p:txBody>
          <a:bodyPr/>
          <a:lstStyle/>
          <a:p>
            <a:r>
              <a:rPr lang="en-CA"/>
              <a:t>   </a:t>
            </a:r>
            <a:fld id="{C2CFCAEE-9001-4833-86ED-EE890F7E4795}" type="slidenum">
              <a:rPr lang="en-CA" smtClean="0"/>
              <a:pPr/>
              <a:t>4</a:t>
            </a:fld>
            <a:endParaRPr lang="en-CA"/>
          </a:p>
        </p:txBody>
      </p:sp>
      <p:sp>
        <p:nvSpPr>
          <p:cNvPr id="28" name="TextBox 27">
            <a:extLst>
              <a:ext uri="{FF2B5EF4-FFF2-40B4-BE49-F238E27FC236}">
                <a16:creationId xmlns:a16="http://schemas.microsoft.com/office/drawing/2014/main" id="{E0F9E637-F1DE-50A7-67CA-7B52636A9686}"/>
              </a:ext>
            </a:extLst>
          </p:cNvPr>
          <p:cNvSpPr txBox="1"/>
          <p:nvPr/>
        </p:nvSpPr>
        <p:spPr>
          <a:xfrm>
            <a:off x="10740516" y="274639"/>
            <a:ext cx="11509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reference</a:t>
            </a:r>
          </a:p>
        </p:txBody>
      </p:sp>
    </p:spTree>
    <p:extLst>
      <p:ext uri="{BB962C8B-B14F-4D97-AF65-F5344CB8AC3E}">
        <p14:creationId xmlns:p14="http://schemas.microsoft.com/office/powerpoint/2010/main" val="240879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D7894-E05E-92AA-59C8-A0DB16B66FA5}"/>
              </a:ext>
            </a:extLst>
          </p:cNvPr>
          <p:cNvSpPr>
            <a:spLocks noGrp="1"/>
          </p:cNvSpPr>
          <p:nvPr>
            <p:ph type="title"/>
          </p:nvPr>
        </p:nvSpPr>
        <p:spPr>
          <a:xfrm>
            <a:off x="379827" y="0"/>
            <a:ext cx="11431174" cy="667512"/>
          </a:xfrm>
        </p:spPr>
        <p:txBody>
          <a:bodyPr/>
          <a:lstStyle/>
          <a:p>
            <a:r>
              <a:rPr lang="en-CA"/>
              <a:t>Template Guide</a:t>
            </a:r>
          </a:p>
        </p:txBody>
      </p:sp>
      <p:graphicFrame>
        <p:nvGraphicFramePr>
          <p:cNvPr id="4" name="Table 3">
            <a:extLst>
              <a:ext uri="{FF2B5EF4-FFF2-40B4-BE49-F238E27FC236}">
                <a16:creationId xmlns:a16="http://schemas.microsoft.com/office/drawing/2014/main" id="{7DFC7481-1454-63B9-262F-03D25FFD2B12}"/>
              </a:ext>
            </a:extLst>
          </p:cNvPr>
          <p:cNvGraphicFramePr>
            <a:graphicFrameLocks noGrp="1"/>
          </p:cNvGraphicFramePr>
          <p:nvPr>
            <p:extLst>
              <p:ext uri="{D42A27DB-BD31-4B8C-83A1-F6EECF244321}">
                <p14:modId xmlns:p14="http://schemas.microsoft.com/office/powerpoint/2010/main" val="62582614"/>
              </p:ext>
            </p:extLst>
          </p:nvPr>
        </p:nvGraphicFramePr>
        <p:xfrm>
          <a:off x="190545" y="1088740"/>
          <a:ext cx="11620456" cy="5151120"/>
        </p:xfrm>
        <a:graphic>
          <a:graphicData uri="http://schemas.openxmlformats.org/drawingml/2006/table">
            <a:tbl>
              <a:tblPr firstRow="1" bandRow="1">
                <a:tableStyleId>{5C22544A-7EE6-4342-B048-85BDC9FD1C3A}</a:tableStyleId>
              </a:tblPr>
              <a:tblGrid>
                <a:gridCol w="3312368">
                  <a:extLst>
                    <a:ext uri="{9D8B030D-6E8A-4147-A177-3AD203B41FA5}">
                      <a16:colId xmlns:a16="http://schemas.microsoft.com/office/drawing/2014/main" val="1078860940"/>
                    </a:ext>
                  </a:extLst>
                </a:gridCol>
                <a:gridCol w="921876">
                  <a:extLst>
                    <a:ext uri="{9D8B030D-6E8A-4147-A177-3AD203B41FA5}">
                      <a16:colId xmlns:a16="http://schemas.microsoft.com/office/drawing/2014/main" val="1091636431"/>
                    </a:ext>
                  </a:extLst>
                </a:gridCol>
                <a:gridCol w="1061960">
                  <a:extLst>
                    <a:ext uri="{9D8B030D-6E8A-4147-A177-3AD203B41FA5}">
                      <a16:colId xmlns:a16="http://schemas.microsoft.com/office/drawing/2014/main" val="52770553"/>
                    </a:ext>
                  </a:extLst>
                </a:gridCol>
                <a:gridCol w="1061960">
                  <a:extLst>
                    <a:ext uri="{9D8B030D-6E8A-4147-A177-3AD203B41FA5}">
                      <a16:colId xmlns:a16="http://schemas.microsoft.com/office/drawing/2014/main" val="1847420690"/>
                    </a:ext>
                  </a:extLst>
                </a:gridCol>
                <a:gridCol w="1061960">
                  <a:extLst>
                    <a:ext uri="{9D8B030D-6E8A-4147-A177-3AD203B41FA5}">
                      <a16:colId xmlns:a16="http://schemas.microsoft.com/office/drawing/2014/main" val="1588956166"/>
                    </a:ext>
                  </a:extLst>
                </a:gridCol>
                <a:gridCol w="1061960">
                  <a:extLst>
                    <a:ext uri="{9D8B030D-6E8A-4147-A177-3AD203B41FA5}">
                      <a16:colId xmlns:a16="http://schemas.microsoft.com/office/drawing/2014/main" val="4150256267"/>
                    </a:ext>
                  </a:extLst>
                </a:gridCol>
                <a:gridCol w="1061960">
                  <a:extLst>
                    <a:ext uri="{9D8B030D-6E8A-4147-A177-3AD203B41FA5}">
                      <a16:colId xmlns:a16="http://schemas.microsoft.com/office/drawing/2014/main" val="4221845288"/>
                    </a:ext>
                  </a:extLst>
                </a:gridCol>
                <a:gridCol w="2076412">
                  <a:extLst>
                    <a:ext uri="{9D8B030D-6E8A-4147-A177-3AD203B41FA5}">
                      <a16:colId xmlns:a16="http://schemas.microsoft.com/office/drawing/2014/main" val="1485134734"/>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b="1">
                          <a:solidFill>
                            <a:schemeClr val="bg2"/>
                          </a:solidFill>
                        </a:rPr>
                        <a:t>Slides</a:t>
                      </a:r>
                    </a:p>
                  </a:txBody>
                  <a:tcPr>
                    <a:solidFill>
                      <a:srgbClr val="004D7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Gate 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Gate 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Gate 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Gate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Gate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Gate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b="1">
                          <a:solidFill>
                            <a:schemeClr val="bg2"/>
                          </a:solidFill>
                        </a:rPr>
                        <a:t>Completed by</a:t>
                      </a:r>
                    </a:p>
                  </a:txBody>
                  <a:tcPr>
                    <a:solidFill>
                      <a:srgbClr val="004D71"/>
                    </a:solidFill>
                  </a:tcPr>
                </a:tc>
                <a:extLst>
                  <a:ext uri="{0D108BD9-81ED-4DB2-BD59-A6C34878D82A}">
                    <a16:rowId xmlns:a16="http://schemas.microsoft.com/office/drawing/2014/main" val="1216771202"/>
                  </a:ext>
                </a:extLst>
              </a:tr>
              <a:tr h="288000">
                <a:tc>
                  <a:txBody>
                    <a:bodyPr/>
                    <a:lstStyle/>
                    <a:p>
                      <a:pPr algn="ctr"/>
                      <a:endParaRPr lang="en-CA"/>
                    </a:p>
                  </a:txBody>
                  <a:tcPr/>
                </a:tc>
                <a:tc>
                  <a:txBody>
                    <a:bodyPr/>
                    <a:lstStyle/>
                    <a:p>
                      <a:pPr algn="ctr"/>
                      <a:r>
                        <a:rPr lang="en-CA" sz="1400"/>
                        <a:t>ARB</a:t>
                      </a:r>
                    </a:p>
                  </a:txBody>
                  <a:tcPr/>
                </a:tc>
                <a:tc>
                  <a:txBody>
                    <a:bodyPr/>
                    <a:lstStyle/>
                    <a:p>
                      <a:pPr algn="ctr"/>
                      <a:r>
                        <a:rPr lang="en-CA" sz="1400"/>
                        <a:t>DASH</a:t>
                      </a:r>
                    </a:p>
                  </a:txBody>
                  <a:tcPr/>
                </a:tc>
                <a:tc>
                  <a:txBody>
                    <a:bodyPr/>
                    <a:lstStyle/>
                    <a:p>
                      <a:pPr algn="ctr"/>
                      <a:r>
                        <a:rPr lang="en-CA" sz="1400"/>
                        <a:t>GC EARB</a:t>
                      </a:r>
                    </a:p>
                  </a:txBody>
                  <a:tcPr/>
                </a:tc>
                <a:tc>
                  <a:txBody>
                    <a:bodyPr/>
                    <a:lstStyle/>
                    <a:p>
                      <a:pPr algn="ctr"/>
                      <a:r>
                        <a:rPr lang="en-CA" sz="1400"/>
                        <a:t>ARB</a:t>
                      </a:r>
                    </a:p>
                  </a:txBody>
                  <a:tcPr/>
                </a:tc>
                <a:tc>
                  <a:txBody>
                    <a:bodyPr/>
                    <a:lstStyle/>
                    <a:p>
                      <a:pPr algn="ctr"/>
                      <a:r>
                        <a:rPr lang="en-CA" sz="1400"/>
                        <a:t>DASH</a:t>
                      </a:r>
                    </a:p>
                  </a:txBody>
                  <a:tcPr/>
                </a:tc>
                <a:tc>
                  <a:txBody>
                    <a:bodyPr/>
                    <a:lstStyle/>
                    <a:p>
                      <a:pPr algn="ctr"/>
                      <a:r>
                        <a:rPr lang="en-CA" sz="1400"/>
                        <a:t>GC EARB</a:t>
                      </a:r>
                    </a:p>
                  </a:txBody>
                  <a:tcPr/>
                </a:tc>
                <a:tc>
                  <a:txBody>
                    <a:bodyPr/>
                    <a:lstStyle/>
                    <a:p>
                      <a:pPr algn="ctr"/>
                      <a:endParaRPr lang="en-CA"/>
                    </a:p>
                  </a:txBody>
                  <a:tcPr/>
                </a:tc>
                <a:extLst>
                  <a:ext uri="{0D108BD9-81ED-4DB2-BD59-A6C34878D82A}">
                    <a16:rowId xmlns:a16="http://schemas.microsoft.com/office/drawing/2014/main" val="472827044"/>
                  </a:ext>
                </a:extLst>
              </a:tr>
              <a:tr h="288000">
                <a:tc>
                  <a:txBody>
                    <a:bodyPr/>
                    <a:lstStyle/>
                    <a:p>
                      <a:pPr algn="l"/>
                      <a:r>
                        <a:rPr lang="en-CA" sz="1200"/>
                        <a:t>Purpose of </a:t>
                      </a:r>
                      <a:r>
                        <a:rPr lang="en-CA" sz="1200" i="1"/>
                        <a:t>ARB/DASH/GC EARB </a:t>
                      </a:r>
                      <a:r>
                        <a:rPr lang="en-CA" sz="1200"/>
                        <a:t>Session</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US" sz="1000" b="0" u="none"/>
                        <a:t>Program Lead / Project Manager</a:t>
                      </a:r>
                      <a:endParaRPr lang="en-CA" sz="1000"/>
                    </a:p>
                  </a:txBody>
                  <a:tcPr/>
                </a:tc>
                <a:extLst>
                  <a:ext uri="{0D108BD9-81ED-4DB2-BD59-A6C34878D82A}">
                    <a16:rowId xmlns:a16="http://schemas.microsoft.com/office/drawing/2014/main" val="1571705899"/>
                  </a:ext>
                </a:extLst>
              </a:tr>
              <a:tr h="288000">
                <a:tc>
                  <a:txBody>
                    <a:bodyPr/>
                    <a:lstStyle/>
                    <a:p>
                      <a:pPr algn="l"/>
                      <a:r>
                        <a:rPr lang="en-CA" sz="1200"/>
                        <a:t>Request Background &amp; Overview</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Program Lead / Project Manager</a:t>
                      </a:r>
                      <a:endParaRPr lang="en-CA" sz="1000"/>
                    </a:p>
                  </a:txBody>
                  <a:tcPr/>
                </a:tc>
                <a:extLst>
                  <a:ext uri="{0D108BD9-81ED-4DB2-BD59-A6C34878D82A}">
                    <a16:rowId xmlns:a16="http://schemas.microsoft.com/office/drawing/2014/main" val="1981494441"/>
                  </a:ext>
                </a:extLst>
              </a:tr>
              <a:tr h="288000">
                <a:tc>
                  <a:txBody>
                    <a:bodyPr/>
                    <a:lstStyle/>
                    <a:p>
                      <a:pPr algn="l"/>
                      <a:r>
                        <a:rPr lang="en-CA" sz="1200"/>
                        <a:t>Background &amp; Overview - </a:t>
                      </a:r>
                      <a:r>
                        <a:rPr lang="en-CA" sz="1200" kern="1200">
                          <a:solidFill>
                            <a:schemeClr val="dk1"/>
                          </a:solidFill>
                          <a:latin typeface="+mn-lt"/>
                          <a:ea typeface="+mn-ea"/>
                          <a:cs typeface="+mn-cs"/>
                        </a:rPr>
                        <a:t>Organizational impact</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err="1"/>
                        <a:t>Tbd</a:t>
                      </a:r>
                      <a:endParaRPr lang="en-CA" sz="1400"/>
                    </a:p>
                  </a:txBody>
                  <a:tcPr/>
                </a:tc>
                <a:tc>
                  <a:txBody>
                    <a:bodyPr/>
                    <a:lstStyle/>
                    <a:p>
                      <a:pPr algn="ctr"/>
                      <a:r>
                        <a:rPr lang="en-CA" sz="1400"/>
                        <a:t>Y</a:t>
                      </a:r>
                    </a:p>
                  </a:txBody>
                  <a:tcPr/>
                </a:tc>
                <a:tc>
                  <a:txBody>
                    <a:bodyPr/>
                    <a:lstStyle/>
                    <a:p>
                      <a:pPr algn="ctr"/>
                      <a:r>
                        <a:rPr lang="en-CA" sz="1400" err="1"/>
                        <a:t>Tbd</a:t>
                      </a:r>
                      <a:endParaRPr lang="en-CA" sz="1400"/>
                    </a:p>
                  </a:txBody>
                  <a:tcPr/>
                </a:tc>
                <a:tc>
                  <a:txBody>
                    <a:bodyPr/>
                    <a:lstStyle/>
                    <a:p>
                      <a:pPr algn="ctr"/>
                      <a:r>
                        <a:rPr lang="en-CA" sz="1400" err="1"/>
                        <a:t>Tbd</a:t>
                      </a:r>
                      <a:endParaRPr lang="en-CA"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a:t>Project Team</a:t>
                      </a:r>
                    </a:p>
                  </a:txBody>
                  <a:tcPr/>
                </a:tc>
                <a:extLst>
                  <a:ext uri="{0D108BD9-81ED-4DB2-BD59-A6C34878D82A}">
                    <a16:rowId xmlns:a16="http://schemas.microsoft.com/office/drawing/2014/main" val="4263612790"/>
                  </a:ext>
                </a:extLst>
              </a:tr>
              <a:tr h="288000">
                <a:tc>
                  <a:txBody>
                    <a:bodyPr/>
                    <a:lstStyle/>
                    <a:p>
                      <a:pPr algn="l"/>
                      <a:r>
                        <a:rPr lang="en-CA" sz="1200"/>
                        <a:t>Background &amp; Overview - Analysis Completed</a:t>
                      </a:r>
                    </a:p>
                  </a:txBody>
                  <a:tcPr/>
                </a:tc>
                <a:tc>
                  <a:txBody>
                    <a:bodyPr/>
                    <a:lstStyle/>
                    <a:p>
                      <a:pPr algn="ctr"/>
                      <a:r>
                        <a:rPr lang="en-CA" sz="1400"/>
                        <a:t>Y</a:t>
                      </a:r>
                    </a:p>
                  </a:txBody>
                  <a:tcPr/>
                </a:tc>
                <a:tc>
                  <a:txBody>
                    <a:bodyPr/>
                    <a:lstStyle/>
                    <a:p>
                      <a:pPr algn="ctr"/>
                      <a:endParaRPr lang="en-CA" sz="1400"/>
                    </a:p>
                  </a:txBody>
                  <a:tcPr/>
                </a:tc>
                <a:tc>
                  <a:txBody>
                    <a:bodyPr/>
                    <a:lstStyle/>
                    <a:p>
                      <a:pPr algn="ctr"/>
                      <a:r>
                        <a:rPr lang="en-CA" sz="1400" err="1"/>
                        <a:t>Tbd</a:t>
                      </a:r>
                      <a:endParaRPr lang="en-CA" sz="1400"/>
                    </a:p>
                  </a:txBody>
                  <a:tcPr/>
                </a:tc>
                <a:tc>
                  <a:txBody>
                    <a:bodyPr/>
                    <a:lstStyle/>
                    <a:p>
                      <a:pPr algn="ctr"/>
                      <a:r>
                        <a:rPr lang="en-CA" sz="1400"/>
                        <a:t>Y</a:t>
                      </a:r>
                    </a:p>
                  </a:txBody>
                  <a:tcPr/>
                </a:tc>
                <a:tc>
                  <a:txBody>
                    <a:bodyPr/>
                    <a:lstStyle/>
                    <a:p>
                      <a:pPr algn="ctr"/>
                      <a:r>
                        <a:rPr lang="en-CA" sz="1400" err="1"/>
                        <a:t>Tbd</a:t>
                      </a:r>
                      <a:endParaRPr lang="en-CA" sz="1400"/>
                    </a:p>
                  </a:txBody>
                  <a:tcPr/>
                </a:tc>
                <a:tc>
                  <a:txBody>
                    <a:bodyPr/>
                    <a:lstStyle/>
                    <a:p>
                      <a:pPr algn="ctr"/>
                      <a:r>
                        <a:rPr lang="en-CA" sz="1400" err="1"/>
                        <a:t>Tbd</a:t>
                      </a:r>
                      <a:endParaRPr lang="en-CA" sz="1400"/>
                    </a:p>
                  </a:txBody>
                  <a:tcPr/>
                </a:tc>
                <a:tc>
                  <a:txBody>
                    <a:bodyPr/>
                    <a:lstStyle/>
                    <a:p>
                      <a:pPr algn="ctr"/>
                      <a:r>
                        <a:rPr lang="en-CA" sz="1000"/>
                        <a:t>Project Team with TPO support</a:t>
                      </a:r>
                    </a:p>
                  </a:txBody>
                  <a:tcPr/>
                </a:tc>
                <a:extLst>
                  <a:ext uri="{0D108BD9-81ED-4DB2-BD59-A6C34878D82A}">
                    <a16:rowId xmlns:a16="http://schemas.microsoft.com/office/drawing/2014/main" val="984017704"/>
                  </a:ext>
                </a:extLst>
              </a:tr>
              <a:tr h="288000">
                <a:tc>
                  <a:txBody>
                    <a:bodyPr/>
                    <a:lstStyle/>
                    <a:p>
                      <a:pPr algn="l"/>
                      <a:r>
                        <a:rPr lang="en-CA" sz="1200"/>
                        <a:t>Conceptual Business Model</a:t>
                      </a:r>
                    </a:p>
                  </a:txBody>
                  <a:tcPr/>
                </a:tc>
                <a:tc>
                  <a:txBody>
                    <a:bodyPr/>
                    <a:lstStyle/>
                    <a:p>
                      <a:pPr algn="ctr"/>
                      <a:r>
                        <a:rPr lang="en-CA" sz="1400"/>
                        <a:t>Y</a:t>
                      </a:r>
                    </a:p>
                  </a:txBody>
                  <a:tcPr/>
                </a:tc>
                <a:tc>
                  <a:txBody>
                    <a:bodyPr/>
                    <a:lstStyle/>
                    <a:p>
                      <a:pPr algn="ctr"/>
                      <a:r>
                        <a:rPr lang="en-CA" sz="1400"/>
                        <a:t>Y</a:t>
                      </a:r>
                    </a:p>
                  </a:txBody>
                  <a:tcPr/>
                </a:tc>
                <a:tc>
                  <a:txBody>
                    <a:bodyPr/>
                    <a:lstStyle/>
                    <a:p>
                      <a:pPr algn="ctr"/>
                      <a:endParaRPr lang="en-CA" sz="1400"/>
                    </a:p>
                  </a:txBody>
                  <a:tcPr/>
                </a:tc>
                <a:tc>
                  <a:txBody>
                    <a:bodyPr/>
                    <a:lstStyle/>
                    <a:p>
                      <a:pPr algn="ctr"/>
                      <a:r>
                        <a:rPr lang="en-CA" sz="1400"/>
                        <a:t>Y</a:t>
                      </a:r>
                    </a:p>
                  </a:txBody>
                  <a:tcPr/>
                </a:tc>
                <a:tc>
                  <a:txBody>
                    <a:bodyPr/>
                    <a:lstStyle/>
                    <a:p>
                      <a:pPr algn="ctr"/>
                      <a:r>
                        <a:rPr lang="en-CA" sz="1400"/>
                        <a:t>Y</a:t>
                      </a:r>
                    </a:p>
                  </a:txBody>
                  <a:tcPr/>
                </a:tc>
                <a:tc>
                  <a:txBody>
                    <a:bodyPr/>
                    <a:lstStyle/>
                    <a:p>
                      <a:pPr algn="ctr"/>
                      <a:endParaRPr lang="en-CA" sz="1400"/>
                    </a:p>
                  </a:txBody>
                  <a:tcPr/>
                </a:tc>
                <a:tc>
                  <a:txBody>
                    <a:bodyPr/>
                    <a:lstStyle/>
                    <a:p>
                      <a:pPr algn="ctr"/>
                      <a:r>
                        <a:rPr lang="en-CA" sz="1000"/>
                        <a:t>Enterprise Architect</a:t>
                      </a:r>
                    </a:p>
                  </a:txBody>
                  <a:tcPr/>
                </a:tc>
                <a:extLst>
                  <a:ext uri="{0D108BD9-81ED-4DB2-BD59-A6C34878D82A}">
                    <a16:rowId xmlns:a16="http://schemas.microsoft.com/office/drawing/2014/main" val="2941379390"/>
                  </a:ext>
                </a:extLst>
              </a:tr>
              <a:tr h="288000">
                <a:tc>
                  <a:txBody>
                    <a:bodyPr/>
                    <a:lstStyle/>
                    <a:p>
                      <a:pPr algn="l"/>
                      <a:r>
                        <a:rPr lang="en-CA" sz="1200"/>
                        <a:t>Business Process/Information/Data Flow</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Project Architect / Program Lead</a:t>
                      </a:r>
                      <a:endParaRPr lang="en-CA" sz="1000"/>
                    </a:p>
                  </a:txBody>
                  <a:tcPr/>
                </a:tc>
                <a:extLst>
                  <a:ext uri="{0D108BD9-81ED-4DB2-BD59-A6C34878D82A}">
                    <a16:rowId xmlns:a16="http://schemas.microsoft.com/office/drawing/2014/main" val="2365452224"/>
                  </a:ext>
                </a:extLst>
              </a:tr>
              <a:tr h="288000">
                <a:tc>
                  <a:txBody>
                    <a:bodyPr/>
                    <a:lstStyle/>
                    <a:p>
                      <a:pPr algn="l"/>
                      <a:r>
                        <a:rPr lang="en-CA" sz="1200"/>
                        <a:t>Current State Architecture </a:t>
                      </a:r>
                      <a:r>
                        <a:rPr lang="en-CA" sz="900">
                          <a:latin typeface="Aharoni" panose="02010803020104030203" pitchFamily="2" charset="-79"/>
                          <a:cs typeface="Aharoni" panose="02010803020104030203" pitchFamily="2" charset="-79"/>
                        </a:rPr>
                        <a:t>Problem Summary</a:t>
                      </a:r>
                      <a:endParaRPr lang="en-CA" sz="1200"/>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Project Architect / Program Lead</a:t>
                      </a:r>
                      <a:endParaRPr lang="en-CA" sz="1000"/>
                    </a:p>
                  </a:txBody>
                  <a:tcPr/>
                </a:tc>
                <a:extLst>
                  <a:ext uri="{0D108BD9-81ED-4DB2-BD59-A6C34878D82A}">
                    <a16:rowId xmlns:a16="http://schemas.microsoft.com/office/drawing/2014/main" val="1398370860"/>
                  </a:ext>
                </a:extLst>
              </a:tr>
              <a:tr h="288000">
                <a:tc>
                  <a:txBody>
                    <a:bodyPr/>
                    <a:lstStyle/>
                    <a:p>
                      <a:pPr algn="l"/>
                      <a:r>
                        <a:rPr lang="en-CA" sz="1200"/>
                        <a:t>Current State Architecture Diagram</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Project Architect / Program Lead</a:t>
                      </a:r>
                      <a:endParaRPr lang="en-CA" sz="1000"/>
                    </a:p>
                  </a:txBody>
                  <a:tcPr/>
                </a:tc>
                <a:extLst>
                  <a:ext uri="{0D108BD9-81ED-4DB2-BD59-A6C34878D82A}">
                    <a16:rowId xmlns:a16="http://schemas.microsoft.com/office/drawing/2014/main" val="2850777787"/>
                  </a:ext>
                </a:extLst>
              </a:tr>
              <a:tr h="288000">
                <a:tc>
                  <a:txBody>
                    <a:bodyPr/>
                    <a:lstStyle/>
                    <a:p>
                      <a:pPr algn="l"/>
                      <a:r>
                        <a:rPr lang="en-CA" sz="1200"/>
                        <a:t>Target State Architecture Diagram</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Project Architect / Program Lead</a:t>
                      </a:r>
                      <a:endParaRPr lang="en-CA" sz="1000"/>
                    </a:p>
                  </a:txBody>
                  <a:tcPr/>
                </a:tc>
                <a:extLst>
                  <a:ext uri="{0D108BD9-81ED-4DB2-BD59-A6C34878D82A}">
                    <a16:rowId xmlns:a16="http://schemas.microsoft.com/office/drawing/2014/main" val="1913304614"/>
                  </a:ext>
                </a:extLst>
              </a:tr>
              <a:tr h="288000">
                <a:tc>
                  <a:txBody>
                    <a:bodyPr/>
                    <a:lstStyle/>
                    <a:p>
                      <a:pPr algn="l"/>
                      <a:r>
                        <a:rPr lang="en-CA" sz="1200"/>
                        <a:t>Target State Architecture </a:t>
                      </a:r>
                      <a:r>
                        <a:rPr lang="en-CA" sz="900">
                          <a:latin typeface="Aharoni" panose="02010803020104030203" pitchFamily="2" charset="-79"/>
                          <a:cs typeface="Aharoni" panose="02010803020104030203" pitchFamily="2" charset="-79"/>
                        </a:rPr>
                        <a:t>Solution Summary</a:t>
                      </a:r>
                      <a:endParaRPr lang="en-CA" sz="12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black"/>
                          </a:solidFill>
                          <a:effectLst/>
                          <a:uLnTx/>
                          <a:uFillTx/>
                          <a:latin typeface="Calibri"/>
                          <a:ea typeface="+mn-ea"/>
                          <a:cs typeface="+mn-cs"/>
                        </a:rPr>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black"/>
                          </a:solidFill>
                          <a:effectLst/>
                          <a:uLnTx/>
                          <a:uFillTx/>
                          <a:latin typeface="Calibri"/>
                          <a:ea typeface="+mn-ea"/>
                          <a:cs typeface="+mn-cs"/>
                        </a:rPr>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Project Architect / Program Lead</a:t>
                      </a:r>
                      <a:endParaRPr lang="en-CA" sz="1000"/>
                    </a:p>
                  </a:txBody>
                  <a:tcPr/>
                </a:tc>
                <a:extLst>
                  <a:ext uri="{0D108BD9-81ED-4DB2-BD59-A6C34878D82A}">
                    <a16:rowId xmlns:a16="http://schemas.microsoft.com/office/drawing/2014/main" val="843554789"/>
                  </a:ext>
                </a:extLst>
              </a:tr>
              <a:tr h="288000">
                <a:tc>
                  <a:txBody>
                    <a:bodyPr/>
                    <a:lstStyle/>
                    <a:p>
                      <a:pPr algn="l"/>
                      <a:r>
                        <a:rPr lang="en-CA" sz="1200"/>
                        <a:t>Consultations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a:t>Y</a:t>
                      </a:r>
                    </a:p>
                  </a:txBody>
                  <a:tcPr/>
                </a:tc>
                <a:tc>
                  <a:txBody>
                    <a:bodyPr/>
                    <a:lstStyle/>
                    <a:p>
                      <a:pPr algn="ctr"/>
                      <a:endParaRPr lang="en-CA" sz="1400"/>
                    </a:p>
                  </a:txBody>
                  <a:tcPr/>
                </a:tc>
                <a:tc>
                  <a:txBody>
                    <a:bodyPr/>
                    <a:lstStyle/>
                    <a:p>
                      <a:pPr algn="ctr"/>
                      <a:endParaRPr lang="en-CA" sz="1400"/>
                    </a:p>
                  </a:txBody>
                  <a:tcPr/>
                </a:tc>
                <a:tc>
                  <a:txBody>
                    <a:bodyPr/>
                    <a:lstStyle/>
                    <a:p>
                      <a:pPr algn="ctr"/>
                      <a:r>
                        <a:rPr lang="en-CA" sz="1400"/>
                        <a:t>Y</a:t>
                      </a:r>
                    </a:p>
                  </a:txBody>
                  <a:tcPr/>
                </a:tc>
                <a:tc>
                  <a:txBody>
                    <a:bodyPr/>
                    <a:lstStyle/>
                    <a:p>
                      <a:pPr algn="ctr"/>
                      <a:endParaRPr lang="en-CA" sz="1400"/>
                    </a:p>
                  </a:txBody>
                  <a:tcPr/>
                </a:tc>
                <a:tc>
                  <a:txBody>
                    <a:bodyPr/>
                    <a:lstStyle/>
                    <a:p>
                      <a:pPr algn="ctr"/>
                      <a:endParaRPr lang="en-CA" sz="1400"/>
                    </a:p>
                  </a:txBody>
                  <a:tcPr/>
                </a:tc>
                <a:tc>
                  <a:txBody>
                    <a:bodyPr/>
                    <a:lstStyle/>
                    <a:p>
                      <a:pPr algn="ctr"/>
                      <a:r>
                        <a:rPr lang="en-CA" sz="1000"/>
                        <a:t>Project Team</a:t>
                      </a:r>
                    </a:p>
                  </a:txBody>
                  <a:tcPr/>
                </a:tc>
                <a:extLst>
                  <a:ext uri="{0D108BD9-81ED-4DB2-BD59-A6C34878D82A}">
                    <a16:rowId xmlns:a16="http://schemas.microsoft.com/office/drawing/2014/main" val="3362261577"/>
                  </a:ext>
                </a:extLst>
              </a:tr>
              <a:tr h="288000">
                <a:tc>
                  <a:txBody>
                    <a:bodyPr/>
                    <a:lstStyle/>
                    <a:p>
                      <a:pPr algn="l"/>
                      <a:r>
                        <a:rPr lang="en-US" sz="1200"/>
                        <a:t>Summary of architecture/solution options and evaluation results</a:t>
                      </a:r>
                      <a:endParaRPr lang="en-CA" sz="12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400"/>
                    </a:p>
                  </a:txBody>
                  <a:tcPr/>
                </a:tc>
                <a:tc>
                  <a:txBody>
                    <a:bodyPr/>
                    <a:lstStyle/>
                    <a:p>
                      <a:pPr algn="ctr"/>
                      <a:endParaRPr lang="en-CA" sz="1400"/>
                    </a:p>
                  </a:txBody>
                  <a:tcPr/>
                </a:tc>
                <a:tc>
                  <a:txBody>
                    <a:bodyPr/>
                    <a:lstStyle/>
                    <a:p>
                      <a:pPr algn="ctr"/>
                      <a:endParaRPr lang="en-CA" sz="1400"/>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u="none"/>
                        <a:t>Project Architect / Program Lead</a:t>
                      </a:r>
                      <a:endParaRPr lang="en-CA" sz="1000"/>
                    </a:p>
                  </a:txBody>
                  <a:tcPr/>
                </a:tc>
                <a:extLst>
                  <a:ext uri="{0D108BD9-81ED-4DB2-BD59-A6C34878D82A}">
                    <a16:rowId xmlns:a16="http://schemas.microsoft.com/office/drawing/2014/main" val="2831424878"/>
                  </a:ext>
                </a:extLst>
              </a:tr>
              <a:tr h="288000">
                <a:tc>
                  <a:txBody>
                    <a:bodyPr/>
                    <a:lstStyle/>
                    <a:p>
                      <a:pPr algn="l"/>
                      <a:r>
                        <a:rPr lang="en-CA" sz="1200">
                          <a:latin typeface="+mn-lt"/>
                          <a:cs typeface="Calibri"/>
                        </a:rPr>
                        <a:t>TCO, Funding, Procurement and FinOps Summary</a:t>
                      </a:r>
                      <a:endParaRPr lang="en-CA" sz="1200" i="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a:t>Y </a:t>
                      </a:r>
                    </a:p>
                  </a:txBody>
                  <a:tcPr/>
                </a:tc>
                <a:tc>
                  <a:txBody>
                    <a:bodyPr/>
                    <a:lstStyle/>
                    <a:p>
                      <a:pPr algn="ctr"/>
                      <a:r>
                        <a:rPr lang="en-CA" sz="1400"/>
                        <a:t> </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 </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a:t>Project Team</a:t>
                      </a:r>
                    </a:p>
                  </a:txBody>
                  <a:tcPr/>
                </a:tc>
                <a:extLst>
                  <a:ext uri="{0D108BD9-81ED-4DB2-BD59-A6C34878D82A}">
                    <a16:rowId xmlns:a16="http://schemas.microsoft.com/office/drawing/2014/main" val="3852106309"/>
                  </a:ext>
                </a:extLst>
              </a:tr>
              <a:tr h="288000">
                <a:tc>
                  <a:txBody>
                    <a:bodyPr/>
                    <a:lstStyle/>
                    <a:p>
                      <a:pPr algn="l"/>
                      <a:r>
                        <a:rPr lang="en-CA" sz="1200" b="1" i="0" kern="1200">
                          <a:solidFill>
                            <a:schemeClr val="dk1"/>
                          </a:solidFill>
                          <a:latin typeface="+mn-lt"/>
                          <a:ea typeface="+mn-ea"/>
                          <a:cs typeface="+mn-cs"/>
                        </a:rPr>
                        <a:t>Information Architecture slides in Appendix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algn="ctr"/>
                      <a:r>
                        <a:rPr lang="en-CA" sz="1400"/>
                        <a: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a:t>Project team with IM Advisor</a:t>
                      </a:r>
                    </a:p>
                  </a:txBody>
                  <a:tcPr/>
                </a:tc>
                <a:extLst>
                  <a:ext uri="{0D108BD9-81ED-4DB2-BD59-A6C34878D82A}">
                    <a16:rowId xmlns:a16="http://schemas.microsoft.com/office/drawing/2014/main" val="422895782"/>
                  </a:ext>
                </a:extLst>
              </a:tr>
            </a:tbl>
          </a:graphicData>
        </a:graphic>
      </p:graphicFrame>
      <p:sp>
        <p:nvSpPr>
          <p:cNvPr id="5" name="TextBox 4">
            <a:extLst>
              <a:ext uri="{FF2B5EF4-FFF2-40B4-BE49-F238E27FC236}">
                <a16:creationId xmlns:a16="http://schemas.microsoft.com/office/drawing/2014/main" id="{CF44E83C-22CE-3115-8104-EC0ACC841BFC}"/>
              </a:ext>
            </a:extLst>
          </p:cNvPr>
          <p:cNvSpPr txBox="1"/>
          <p:nvPr/>
        </p:nvSpPr>
        <p:spPr>
          <a:xfrm>
            <a:off x="10740516" y="274639"/>
            <a:ext cx="11509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reference</a:t>
            </a:r>
          </a:p>
        </p:txBody>
      </p:sp>
      <p:sp>
        <p:nvSpPr>
          <p:cNvPr id="3" name="Slide Number Placeholder 2">
            <a:extLst>
              <a:ext uri="{FF2B5EF4-FFF2-40B4-BE49-F238E27FC236}">
                <a16:creationId xmlns:a16="http://schemas.microsoft.com/office/drawing/2014/main" id="{66D1974B-AF11-6DF6-61A5-A9A58E8DA7C7}"/>
              </a:ext>
            </a:extLst>
          </p:cNvPr>
          <p:cNvSpPr>
            <a:spLocks noGrp="1"/>
          </p:cNvSpPr>
          <p:nvPr>
            <p:ph type="sldNum" sz="quarter" idx="4"/>
          </p:nvPr>
        </p:nvSpPr>
        <p:spPr/>
        <p:txBody>
          <a:bodyPr/>
          <a:lstStyle/>
          <a:p>
            <a:r>
              <a:rPr lang="en-CA"/>
              <a:t>   </a:t>
            </a:r>
            <a:fld id="{C2CFCAEE-9001-4833-86ED-EE890F7E4795}" type="slidenum">
              <a:rPr lang="en-CA" smtClean="0"/>
              <a:pPr/>
              <a:t>5</a:t>
            </a:fld>
            <a:endParaRPr lang="en-CA"/>
          </a:p>
        </p:txBody>
      </p:sp>
    </p:spTree>
    <p:extLst>
      <p:ext uri="{BB962C8B-B14F-4D97-AF65-F5344CB8AC3E}">
        <p14:creationId xmlns:p14="http://schemas.microsoft.com/office/powerpoint/2010/main" val="2439669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531" y="1504324"/>
            <a:ext cx="11291428" cy="1697074"/>
          </a:xfrm>
        </p:spPr>
        <p:txBody>
          <a:bodyPr>
            <a:normAutofit fontScale="90000"/>
          </a:bodyPr>
          <a:lstStyle/>
          <a:p>
            <a:pPr algn="ctr"/>
            <a:r>
              <a:rPr lang="en-CA" sz="3200" b="1" kern="0"/>
              <a:t>HC/PHAC Architecture Review Board (ARB) /</a:t>
            </a:r>
            <a:br>
              <a:rPr lang="en-CA" sz="3200" b="1" kern="0"/>
            </a:br>
            <a:r>
              <a:rPr lang="en-CA" sz="3200" b="1" kern="0"/>
              <a:t>Digital Architecture &amp; Strategy for Health (DASH) /</a:t>
            </a:r>
            <a:br>
              <a:rPr lang="en-CA" sz="3200" b="1" kern="0"/>
            </a:br>
            <a:r>
              <a:rPr lang="en-CA" sz="3200" b="1" kern="0"/>
              <a:t>Government of Canada</a:t>
            </a:r>
            <a:br>
              <a:rPr lang="en-CA" sz="3200" b="1" kern="0"/>
            </a:br>
            <a:r>
              <a:rPr lang="en-CA" sz="3200" b="1" kern="0"/>
              <a:t>Enterprise Architecture Review Board (GC EARB)</a:t>
            </a:r>
          </a:p>
        </p:txBody>
      </p:sp>
      <p:sp>
        <p:nvSpPr>
          <p:cNvPr id="17" name="Text Placeholder 2"/>
          <p:cNvSpPr>
            <a:spLocks noGrp="1"/>
          </p:cNvSpPr>
          <p:nvPr>
            <p:ph type="body" sz="quarter" idx="13"/>
          </p:nvPr>
        </p:nvSpPr>
        <p:spPr>
          <a:xfrm>
            <a:off x="1880711" y="3312388"/>
            <a:ext cx="8430578" cy="1021721"/>
          </a:xfrm>
        </p:spPr>
        <p:txBody>
          <a:bodyPr/>
          <a:lstStyle/>
          <a:p>
            <a:pPr algn="ctr"/>
            <a:r>
              <a:rPr lang="en-CA" b="1"/>
              <a:t>(Department / Branch / Program) – (Initiative Name)</a:t>
            </a:r>
          </a:p>
          <a:p>
            <a:pPr algn="ctr"/>
            <a:r>
              <a:rPr lang="en-CA" b="1"/>
              <a:t>(Date)</a:t>
            </a:r>
          </a:p>
        </p:txBody>
      </p:sp>
      <p:sp>
        <p:nvSpPr>
          <p:cNvPr id="23" name="Rectangle 22"/>
          <p:cNvSpPr/>
          <p:nvPr>
            <p:custDataLst>
              <p:tags r:id="rId1"/>
            </p:custDataLst>
          </p:nvPr>
        </p:nvSpPr>
        <p:spPr>
          <a:xfrm>
            <a:off x="457200" y="5636906"/>
            <a:ext cx="11201400" cy="852434"/>
          </a:xfrm>
          <a:prstGeom prst="rect">
            <a:avLst/>
          </a:prstGeom>
          <a:noFill/>
          <a:ln w="9525">
            <a:solidFill>
              <a:srgbClr val="00517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CA" sz="1200" b="1">
                <a:solidFill>
                  <a:schemeClr val="tx1">
                    <a:lumMod val="65000"/>
                    <a:lumOff val="35000"/>
                  </a:schemeClr>
                </a:solidFill>
              </a:rPr>
              <a:t>Presenter(s):</a:t>
            </a:r>
          </a:p>
          <a:p>
            <a:pPr marL="171450" indent="-171450">
              <a:buFont typeface="Arial" panose="020B0604020202020204" pitchFamily="34" charset="0"/>
              <a:buChar char="•"/>
            </a:pPr>
            <a:r>
              <a:rPr lang="en-CA" sz="1200">
                <a:solidFill>
                  <a:schemeClr val="tx1">
                    <a:lumMod val="65000"/>
                    <a:lumOff val="35000"/>
                  </a:schemeClr>
                </a:solidFill>
              </a:rPr>
              <a:t>Business Lead: 				Email:</a:t>
            </a:r>
          </a:p>
          <a:p>
            <a:pPr marL="171450" indent="-171450">
              <a:buFont typeface="Arial" panose="020B0604020202020204" pitchFamily="34" charset="0"/>
              <a:buChar char="•"/>
            </a:pPr>
            <a:r>
              <a:rPr lang="en-CA" sz="1200">
                <a:solidFill>
                  <a:schemeClr val="tx1">
                    <a:lumMod val="65000"/>
                    <a:lumOff val="35000"/>
                  </a:schemeClr>
                </a:solidFill>
              </a:rPr>
              <a:t>Program Sponsor Name:				Email: </a:t>
            </a:r>
          </a:p>
          <a:p>
            <a:pPr marL="171450" indent="-171450">
              <a:buFont typeface="Arial" panose="020B0604020202020204" pitchFamily="34" charset="0"/>
              <a:buChar char="•"/>
            </a:pPr>
            <a:r>
              <a:rPr lang="en-CA" sz="1200">
                <a:solidFill>
                  <a:schemeClr val="tx1">
                    <a:lumMod val="65000"/>
                    <a:lumOff val="35000"/>
                  </a:schemeClr>
                </a:solidFill>
              </a:rPr>
              <a:t>Architect Name:				Email: </a:t>
            </a:r>
          </a:p>
        </p:txBody>
      </p:sp>
      <p:sp>
        <p:nvSpPr>
          <p:cNvPr id="10" name="TextBox 9"/>
          <p:cNvSpPr txBox="1"/>
          <p:nvPr/>
        </p:nvSpPr>
        <p:spPr>
          <a:xfrm>
            <a:off x="457200" y="6544883"/>
            <a:ext cx="2448272" cy="215444"/>
          </a:xfrm>
          <a:prstGeom prst="rect">
            <a:avLst/>
          </a:prstGeom>
          <a:noFill/>
        </p:spPr>
        <p:txBody>
          <a:bodyPr wrap="square" rtlCol="0">
            <a:spAutoFit/>
          </a:bodyPr>
          <a:lstStyle/>
          <a:p>
            <a:r>
              <a:rPr lang="en-CA" sz="800"/>
              <a:t>Based on GC EARB Template Version Date: 2024-03-07</a:t>
            </a:r>
          </a:p>
        </p:txBody>
      </p:sp>
      <p:sp>
        <p:nvSpPr>
          <p:cNvPr id="27" name="Title 1">
            <a:extLst>
              <a:ext uri="{C183D7F6-B498-43B3-948B-1728B52AA6E4}">
                <adec:decorative xmlns:adec="http://schemas.microsoft.com/office/drawing/2017/decorative" val="1"/>
              </a:ext>
            </a:extLst>
          </p:cNvPr>
          <p:cNvSpPr txBox="1">
            <a:spLocks/>
          </p:cNvSpPr>
          <p:nvPr/>
        </p:nvSpPr>
        <p:spPr>
          <a:xfrm>
            <a:off x="457200" y="80347"/>
            <a:ext cx="2520280" cy="48696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2"/>
                </a:solidFill>
                <a:latin typeface="+mj-lt"/>
                <a:ea typeface="+mj-ea"/>
                <a:cs typeface="+mj-cs"/>
              </a:defRPr>
            </a:lvl1pPr>
          </a:lstStyle>
          <a:p>
            <a:r>
              <a:rPr lang="en-CA" sz="2000" b="1" kern="0">
                <a:solidFill>
                  <a:schemeClr val="bg1">
                    <a:lumMod val="50000"/>
                  </a:schemeClr>
                </a:solidFill>
              </a:rPr>
              <a:t>Presenter Template</a:t>
            </a:r>
          </a:p>
        </p:txBody>
      </p:sp>
      <p:sp>
        <p:nvSpPr>
          <p:cNvPr id="3" name="TextBox 2">
            <a:extLst>
              <a:ext uri="{FF2B5EF4-FFF2-40B4-BE49-F238E27FC236}">
                <a16:creationId xmlns:a16="http://schemas.microsoft.com/office/drawing/2014/main" id="{3218EF06-CBDF-78DD-D5DB-518326B37371}"/>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338976479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37BDA08-EDF5-431C-A264-B8015EB40FC1}"/>
              </a:ext>
            </a:extLst>
          </p:cNvPr>
          <p:cNvSpPr/>
          <p:nvPr/>
        </p:nvSpPr>
        <p:spPr>
          <a:xfrm>
            <a:off x="289482" y="1628800"/>
            <a:ext cx="11201400" cy="2578929"/>
          </a:xfrm>
          <a:prstGeom prst="rect">
            <a:avLst/>
          </a:prstGeom>
          <a:noFill/>
        </p:spPr>
        <p:style>
          <a:lnRef idx="2">
            <a:schemeClr val="accent6">
              <a:shade val="50000"/>
            </a:schemeClr>
          </a:lnRef>
          <a:fillRef idx="1">
            <a:schemeClr val="accent6"/>
          </a:fillRef>
          <a:effectRef idx="0">
            <a:schemeClr val="accent6"/>
          </a:effectRef>
          <a:fontRef idx="minor">
            <a:schemeClr val="lt1"/>
          </a:fontRef>
        </p:style>
        <p:txBody>
          <a:bodyPr tIns="91440" bIns="91440" rtlCol="0" anchor="t"/>
          <a:lstStyle/>
          <a:p>
            <a:r>
              <a:rPr lang="en-US" sz="2400">
                <a:solidFill>
                  <a:schemeClr val="tx2"/>
                </a:solidFill>
              </a:rPr>
              <a:t>The purpose of this presentation is to seek (</a:t>
            </a:r>
            <a:r>
              <a:rPr lang="en-US" sz="2400" i="1">
                <a:solidFill>
                  <a:schemeClr val="accent1"/>
                </a:solidFill>
              </a:rPr>
              <a:t>initial/follow-up/final)</a:t>
            </a:r>
            <a:r>
              <a:rPr lang="en-US" sz="2400">
                <a:solidFill>
                  <a:srgbClr val="FF0000"/>
                </a:solidFill>
              </a:rPr>
              <a:t> </a:t>
            </a:r>
            <a:r>
              <a:rPr lang="en-US" sz="2400" b="1">
                <a:solidFill>
                  <a:schemeClr val="tx2"/>
                </a:solidFill>
              </a:rPr>
              <a:t>endorsement</a:t>
            </a:r>
            <a:r>
              <a:rPr lang="en-US" sz="2400">
                <a:solidFill>
                  <a:schemeClr val="tx2"/>
                </a:solidFill>
              </a:rPr>
              <a:t> of the (</a:t>
            </a:r>
            <a:r>
              <a:rPr lang="en-US" sz="2400" i="1">
                <a:solidFill>
                  <a:schemeClr val="accent1"/>
                </a:solidFill>
              </a:rPr>
              <a:t>conceptual/interim/target)</a:t>
            </a:r>
            <a:r>
              <a:rPr lang="en-US" sz="2400">
                <a:solidFill>
                  <a:schemeClr val="tx2"/>
                </a:solidFill>
              </a:rPr>
              <a:t> architecture for the (</a:t>
            </a:r>
            <a:r>
              <a:rPr lang="en-US" sz="2400" i="1">
                <a:solidFill>
                  <a:schemeClr val="tx2"/>
                </a:solidFill>
              </a:rPr>
              <a:t>department/branch/program name</a:t>
            </a:r>
            <a:r>
              <a:rPr lang="en-US" sz="2400">
                <a:solidFill>
                  <a:schemeClr val="tx2"/>
                </a:solidFill>
              </a:rPr>
              <a:t>) – (</a:t>
            </a:r>
            <a:r>
              <a:rPr lang="en-US" sz="2400" i="1">
                <a:solidFill>
                  <a:schemeClr val="tx2"/>
                </a:solidFill>
              </a:rPr>
              <a:t>digital initiative name</a:t>
            </a:r>
            <a:r>
              <a:rPr lang="en-US" sz="2400">
                <a:solidFill>
                  <a:schemeClr val="tx2"/>
                </a:solidFill>
              </a:rPr>
              <a:t>) solution.</a:t>
            </a:r>
          </a:p>
          <a:p>
            <a:endParaRPr lang="en-US" sz="2400">
              <a:solidFill>
                <a:schemeClr val="tx2"/>
              </a:solidFill>
            </a:endParaRPr>
          </a:p>
          <a:p>
            <a:r>
              <a:rPr lang="en-US" sz="2400">
                <a:solidFill>
                  <a:schemeClr val="tx2"/>
                </a:solidFill>
              </a:rPr>
              <a:t>(Please indicate if this is “in support of an upcoming TB Submission.”)</a:t>
            </a:r>
          </a:p>
          <a:p>
            <a:r>
              <a:rPr lang="en-US" sz="2400">
                <a:solidFill>
                  <a:schemeClr val="tx2"/>
                </a:solidFill>
              </a:rPr>
              <a:t>(Please indicate the specific project name and number as well as it’s gating status)</a:t>
            </a:r>
          </a:p>
          <a:p>
            <a:endParaRPr lang="en-US" sz="2400">
              <a:solidFill>
                <a:schemeClr val="tx2"/>
              </a:solidFill>
            </a:endParaRPr>
          </a:p>
          <a:p>
            <a:endParaRPr lang="en-US" sz="2400">
              <a:solidFill>
                <a:schemeClr val="tx2"/>
              </a:solidFill>
            </a:endParaRPr>
          </a:p>
        </p:txBody>
      </p:sp>
      <p:sp>
        <p:nvSpPr>
          <p:cNvPr id="8" name="Title 5"/>
          <p:cNvSpPr>
            <a:spLocks noGrp="1"/>
          </p:cNvSpPr>
          <p:nvPr>
            <p:ph type="title"/>
          </p:nvPr>
        </p:nvSpPr>
        <p:spPr>
          <a:xfrm>
            <a:off x="457200" y="76200"/>
            <a:ext cx="5432982" cy="878670"/>
          </a:xfrm>
        </p:spPr>
        <p:txBody>
          <a:bodyPr/>
          <a:lstStyle/>
          <a:p>
            <a:r>
              <a:rPr lang="en-CA"/>
              <a:t>Purpose of </a:t>
            </a:r>
            <a:r>
              <a:rPr lang="en-CA" i="1"/>
              <a:t>ARB/DASH/GC EARB </a:t>
            </a:r>
            <a:r>
              <a:rPr lang="en-CA"/>
              <a:t>Session</a:t>
            </a:r>
          </a:p>
        </p:txBody>
      </p:sp>
      <p:sp>
        <p:nvSpPr>
          <p:cNvPr id="7" name="Content Placeholder 12">
            <a:extLst>
              <a:ext uri="{FF2B5EF4-FFF2-40B4-BE49-F238E27FC236}">
                <a16:creationId xmlns:a16="http://schemas.microsoft.com/office/drawing/2014/main" id="{29728961-CBFE-41F6-9E06-B417C69993C9}"/>
              </a:ext>
            </a:extLst>
          </p:cNvPr>
          <p:cNvSpPr txBox="1">
            <a:spLocks/>
          </p:cNvSpPr>
          <p:nvPr/>
        </p:nvSpPr>
        <p:spPr>
          <a:xfrm>
            <a:off x="457200" y="4881658"/>
            <a:ext cx="11201400" cy="1144851"/>
          </a:xfrm>
          <a:prstGeom prst="rect">
            <a:avLst/>
          </a:prstGeom>
          <a:ln w="19050">
            <a:solidFill>
              <a:schemeClr val="bg1">
                <a:lumMod val="75000"/>
              </a:schemeClr>
            </a:solidFill>
            <a:prstDash val="lgDash"/>
          </a:ln>
        </p:spPr>
        <p:txBody>
          <a:bodyPr lIns="91440" tIns="91440" rIns="91440" bIns="91440"/>
          <a:lstStyle>
            <a:lvl1pPr marL="0" indent="0" algn="l" defTabSz="914400" rtl="0" eaLnBrk="1" latinLnBrk="0" hangingPunct="1">
              <a:spcBef>
                <a:spcPct val="20000"/>
              </a:spcBef>
              <a:buFont typeface="Arial" panose="020B0604020202020204" pitchFamily="34" charset="0"/>
              <a:buNone/>
              <a:defRPr sz="2200" kern="1200">
                <a:solidFill>
                  <a:srgbClr val="004D71"/>
                </a:solidFill>
                <a:latin typeface="Calibri" panose="020F0502020204030204" pitchFamily="34"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rgbClr val="004D71"/>
                </a:solidFill>
                <a:latin typeface="Calibri" panose="020F0502020204030204" pitchFamily="34"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rgbClr val="004D71"/>
                </a:solidFill>
                <a:latin typeface="Calibri" panose="020F050202020403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rgbClr val="004D71"/>
                </a:solidFill>
                <a:latin typeface="Calibri" panose="020F0502020204030204" pitchFamily="34" charset="0"/>
                <a:ea typeface="+mn-ea"/>
                <a:cs typeface="+mn-cs"/>
              </a:defRPr>
            </a:lvl4pPr>
            <a:lvl5pPr marL="0" indent="1255713" algn="l" defTabSz="914400" rtl="0" eaLnBrk="1" latinLnBrk="0" hangingPunct="1">
              <a:spcBef>
                <a:spcPct val="20000"/>
              </a:spcBef>
              <a:buFont typeface="Arial" panose="020B0604020202020204" pitchFamily="34" charset="0"/>
              <a:buChar char="»"/>
              <a:defRPr sz="1400" kern="1200">
                <a:solidFill>
                  <a:srgbClr val="004D71"/>
                </a:solidFill>
                <a:latin typeface="Calibri" panose="020F050202020403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200">
                <a:latin typeface="Aharoni" panose="02010803020104030203" pitchFamily="2" charset="-79"/>
                <a:cs typeface="Aharoni" panose="02010803020104030203" pitchFamily="2" charset="-79"/>
              </a:rPr>
              <a:t>If for follow-up: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Past ARB/GC EARB date: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Condition(s): </a:t>
            </a:r>
            <a:endParaRPr kumimoji="0" lang="en-CA"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 </a:t>
            </a:r>
          </a:p>
          <a:p>
            <a:endParaRPr lang="en-US"/>
          </a:p>
        </p:txBody>
      </p:sp>
      <p:sp>
        <p:nvSpPr>
          <p:cNvPr id="4" name="Slide Number Placeholder 3">
            <a:extLst>
              <a:ext uri="{FF2B5EF4-FFF2-40B4-BE49-F238E27FC236}">
                <a16:creationId xmlns:a16="http://schemas.microsoft.com/office/drawing/2014/main" id="{788412D3-1A0C-0DC3-BAAB-48E0C65A644A}"/>
              </a:ext>
            </a:extLst>
          </p:cNvPr>
          <p:cNvSpPr>
            <a:spLocks noGrp="1"/>
          </p:cNvSpPr>
          <p:nvPr>
            <p:ph type="sldNum" sz="quarter" idx="12"/>
          </p:nvPr>
        </p:nvSpPr>
        <p:spPr/>
        <p:txBody>
          <a:bodyPr/>
          <a:lstStyle/>
          <a:p>
            <a:fld id="{32D4B517-E49B-41B6-9DBC-23634E0F1CDC}" type="slidenum">
              <a:rPr lang="en-CA" smtClean="0"/>
              <a:pPr/>
              <a:t>7</a:t>
            </a:fld>
            <a:endParaRPr lang="en-CA"/>
          </a:p>
        </p:txBody>
      </p:sp>
      <p:sp>
        <p:nvSpPr>
          <p:cNvPr id="2" name="TextBox 1">
            <a:extLst>
              <a:ext uri="{FF2B5EF4-FFF2-40B4-BE49-F238E27FC236}">
                <a16:creationId xmlns:a16="http://schemas.microsoft.com/office/drawing/2014/main" id="{B08FBA67-3501-FBF1-0F33-20790135760F}"/>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996264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457200" y="66054"/>
            <a:ext cx="5432982" cy="878670"/>
          </a:xfrm>
        </p:spPr>
        <p:txBody>
          <a:bodyPr/>
          <a:lstStyle/>
          <a:p>
            <a:r>
              <a:rPr lang="en-CA"/>
              <a:t>Request – Background &amp; Overview</a:t>
            </a:r>
          </a:p>
        </p:txBody>
      </p:sp>
      <p:sp>
        <p:nvSpPr>
          <p:cNvPr id="5" name="Content Placeholder 4">
            <a:extLst>
              <a:ext uri="{FF2B5EF4-FFF2-40B4-BE49-F238E27FC236}">
                <a16:creationId xmlns:a16="http://schemas.microsoft.com/office/drawing/2014/main" id="{0AD9FA12-43BF-4E94-8396-068502F65CF3}"/>
              </a:ext>
            </a:extLst>
          </p:cNvPr>
          <p:cNvSpPr>
            <a:spLocks noGrp="1"/>
          </p:cNvSpPr>
          <p:nvPr>
            <p:ph idx="10"/>
          </p:nvPr>
        </p:nvSpPr>
        <p:spPr>
          <a:xfrm>
            <a:off x="457200" y="1124744"/>
            <a:ext cx="11050631" cy="5293146"/>
          </a:xfrm>
        </p:spPr>
        <p:txBody>
          <a:bodyPr/>
          <a:lstStyle/>
          <a:p>
            <a:pPr marL="342900" indent="-342900">
              <a:buFont typeface="Arial" panose="020B0604020202020204" pitchFamily="34" charset="0"/>
              <a:buChar char="•"/>
            </a:pPr>
            <a:r>
              <a:rPr lang="en-US"/>
              <a:t>Describe which departmental policies, programs and business services the presentation is addressing.</a:t>
            </a:r>
          </a:p>
          <a:p>
            <a:pPr marL="342900" indent="-342900">
              <a:buFont typeface="Arial" panose="020B0604020202020204" pitchFamily="34" charset="0"/>
              <a:buChar char="•"/>
            </a:pPr>
            <a:r>
              <a:rPr lang="en-US"/>
              <a:t>Include a summary of the business problem or opportunity statement as described in the Concept Case.</a:t>
            </a:r>
          </a:p>
          <a:p>
            <a:pPr marL="342900" indent="-342900">
              <a:buFont typeface="Arial" panose="020B0604020202020204" pitchFamily="34" charset="0"/>
              <a:buChar char="•"/>
            </a:pPr>
            <a:r>
              <a:rPr lang="en-US"/>
              <a:t>Summary of environmental scan findings related to the problem/opportunity.</a:t>
            </a:r>
          </a:p>
          <a:p>
            <a:pPr marL="342900" indent="-342900">
              <a:buFont typeface="Arial" panose="020B0604020202020204" pitchFamily="34" charset="0"/>
              <a:buChar char="•"/>
            </a:pPr>
            <a:endParaRPr lang="en-US"/>
          </a:p>
        </p:txBody>
      </p:sp>
      <p:sp>
        <p:nvSpPr>
          <p:cNvPr id="3" name="Slide Number Placeholder 2">
            <a:extLst>
              <a:ext uri="{FF2B5EF4-FFF2-40B4-BE49-F238E27FC236}">
                <a16:creationId xmlns:a16="http://schemas.microsoft.com/office/drawing/2014/main" id="{715D43F1-3E82-9FDE-68DC-129A2777C3D3}"/>
              </a:ext>
            </a:extLst>
          </p:cNvPr>
          <p:cNvSpPr>
            <a:spLocks noGrp="1"/>
          </p:cNvSpPr>
          <p:nvPr>
            <p:ph type="sldNum" sz="quarter" idx="12"/>
          </p:nvPr>
        </p:nvSpPr>
        <p:spPr/>
        <p:txBody>
          <a:bodyPr/>
          <a:lstStyle/>
          <a:p>
            <a:fld id="{32D4B517-E49B-41B6-9DBC-23634E0F1CDC}" type="slidenum">
              <a:rPr lang="en-CA" smtClean="0"/>
              <a:pPr/>
              <a:t>8</a:t>
            </a:fld>
            <a:endParaRPr lang="en-CA"/>
          </a:p>
        </p:txBody>
      </p:sp>
      <p:sp>
        <p:nvSpPr>
          <p:cNvPr id="2" name="TextBox 1">
            <a:extLst>
              <a:ext uri="{FF2B5EF4-FFF2-40B4-BE49-F238E27FC236}">
                <a16:creationId xmlns:a16="http://schemas.microsoft.com/office/drawing/2014/main" id="{23857C69-8906-E82E-E62B-2BF3C539CC1A}"/>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17013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32D4B517-E49B-41B6-9DBC-23634E0F1CDC}" type="slidenum">
              <a:rPr lang="en-CA" smtClean="0"/>
              <a:pPr/>
              <a:t>9</a:t>
            </a:fld>
            <a:endParaRPr lang="en-CA"/>
          </a:p>
        </p:txBody>
      </p:sp>
      <p:sp>
        <p:nvSpPr>
          <p:cNvPr id="5" name="Content Placeholder 4">
            <a:extLst>
              <a:ext uri="{FF2B5EF4-FFF2-40B4-BE49-F238E27FC236}">
                <a16:creationId xmlns:a16="http://schemas.microsoft.com/office/drawing/2014/main" id="{C390CCE4-93D0-46A8-CE40-4F6BC4210727}"/>
              </a:ext>
            </a:extLst>
          </p:cNvPr>
          <p:cNvSpPr>
            <a:spLocks noGrp="1"/>
          </p:cNvSpPr>
          <p:nvPr>
            <p:ph idx="10"/>
          </p:nvPr>
        </p:nvSpPr>
        <p:spPr>
          <a:xfrm>
            <a:off x="515380" y="1124744"/>
            <a:ext cx="10628340" cy="5293146"/>
          </a:xfrm>
        </p:spPr>
        <p:txBody>
          <a:bodyPr/>
          <a:lstStyle/>
          <a:p>
            <a:pPr marL="342900" indent="-342900">
              <a:buClr>
                <a:prstClr val="black">
                  <a:lumMod val="65000"/>
                  <a:lumOff val="35000"/>
                </a:prstClr>
              </a:buClr>
              <a:buFont typeface="Arial" panose="020B0604020202020204" pitchFamily="34" charset="0"/>
              <a:buChar char="•"/>
            </a:pPr>
            <a:r>
              <a:rPr lang="en-US" sz="2000" i="1"/>
              <a:t>Identify impact to the organization</a:t>
            </a:r>
            <a:endParaRPr lang="en-US" sz="2000" i="1">
              <a:cs typeface="Calibri"/>
            </a:endParaRPr>
          </a:p>
          <a:p>
            <a:pPr marL="1200150" lvl="2" indent="-285750">
              <a:buClr>
                <a:prstClr val="black">
                  <a:lumMod val="65000"/>
                  <a:lumOff val="35000"/>
                </a:prstClr>
              </a:buClr>
              <a:buFont typeface="Wingdings" pitchFamily="2" charset="2"/>
              <a:buChar char="§"/>
            </a:pPr>
            <a:r>
              <a:rPr lang="en-US" sz="1200" i="1"/>
              <a:t>Costs</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Personnel</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Infrastructure</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Support and Operations</a:t>
            </a:r>
            <a:endParaRPr lang="en-US" sz="1200" i="1">
              <a:cs typeface="Calibri"/>
            </a:endParaRPr>
          </a:p>
          <a:p>
            <a:pPr marL="1200150" lvl="2" indent="-285750">
              <a:buClr>
                <a:prstClr val="black">
                  <a:lumMod val="65000"/>
                  <a:lumOff val="35000"/>
                </a:prstClr>
              </a:buClr>
              <a:buFont typeface="Wingdings" pitchFamily="2" charset="2"/>
              <a:buChar char="§"/>
            </a:pPr>
            <a:r>
              <a:rPr lang="en-US" sz="1200" i="1">
                <a:cs typeface="Calibri"/>
              </a:rPr>
              <a:t>Information Management</a:t>
            </a:r>
          </a:p>
          <a:p>
            <a:pPr marL="1200150" lvl="2" indent="-285750">
              <a:buClr>
                <a:prstClr val="black">
                  <a:lumMod val="65000"/>
                  <a:lumOff val="35000"/>
                </a:prstClr>
              </a:buClr>
              <a:buFont typeface="Wingdings" pitchFamily="2" charset="2"/>
              <a:buChar char="§"/>
            </a:pPr>
            <a:r>
              <a:rPr lang="en-US" sz="1200" i="1"/>
              <a:t>Security</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Governance</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Ownership</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Procurement</a:t>
            </a:r>
            <a:endParaRPr lang="en-US" sz="1200" i="1">
              <a:cs typeface="Calibri"/>
            </a:endParaRPr>
          </a:p>
          <a:p>
            <a:pPr marL="1200150" lvl="2" indent="-285750">
              <a:buClr>
                <a:prstClr val="black">
                  <a:lumMod val="65000"/>
                  <a:lumOff val="35000"/>
                </a:prstClr>
              </a:buClr>
              <a:buFont typeface="Wingdings" pitchFamily="2" charset="2"/>
              <a:buChar char="§"/>
            </a:pPr>
            <a:r>
              <a:rPr lang="en-US" sz="1200" i="1"/>
              <a:t>Service Delivery</a:t>
            </a:r>
            <a:endParaRPr lang="en-US" sz="1200" i="1">
              <a:cs typeface="Calibri"/>
            </a:endParaRPr>
          </a:p>
          <a:p>
            <a:pPr marL="342900" indent="-342900">
              <a:buClr>
                <a:prstClr val="black">
                  <a:lumMod val="65000"/>
                  <a:lumOff val="35000"/>
                </a:prstClr>
              </a:buClr>
              <a:buFont typeface="Arial" panose="020B0604020202020204" pitchFamily="34" charset="0"/>
              <a:buChar char="•"/>
            </a:pPr>
            <a:r>
              <a:rPr lang="en-US" sz="2000" i="1"/>
              <a:t>What will be decommissioned, or technical debt incurred / addressed?</a:t>
            </a:r>
          </a:p>
          <a:p>
            <a:pPr marL="342900" indent="-342900">
              <a:buClr>
                <a:prstClr val="black">
                  <a:lumMod val="65000"/>
                  <a:lumOff val="35000"/>
                </a:prstClr>
              </a:buClr>
              <a:buFont typeface="Arial" panose="020B0604020202020204" pitchFamily="34" charset="0"/>
              <a:buChar char="•"/>
            </a:pPr>
            <a:r>
              <a:rPr lang="en-US" sz="2000" i="1"/>
              <a:t>Where does this fit in the HC/PHAC Digital Strategy?</a:t>
            </a:r>
            <a:endParaRPr lang="en-US" sz="2000" i="1">
              <a:cs typeface="Calibri"/>
            </a:endParaRPr>
          </a:p>
          <a:p>
            <a:pPr marL="342900" indent="-342900">
              <a:buClr>
                <a:prstClr val="black">
                  <a:lumMod val="65000"/>
                  <a:lumOff val="35000"/>
                </a:prstClr>
              </a:buClr>
              <a:buFont typeface="Arial" panose="020B0604020202020204" pitchFamily="34" charset="0"/>
              <a:buChar char="•"/>
            </a:pPr>
            <a:r>
              <a:rPr lang="en-US" sz="2000" i="1"/>
              <a:t>Provide enterprise lens - is this architecture reusable by others?</a:t>
            </a:r>
            <a:endParaRPr lang="en-US" sz="2000" i="1">
              <a:cs typeface="Calibri"/>
            </a:endParaRPr>
          </a:p>
          <a:p>
            <a:pPr marL="342900" indent="-342900">
              <a:buClr>
                <a:prstClr val="black">
                  <a:lumMod val="65000"/>
                  <a:lumOff val="35000"/>
                </a:prstClr>
              </a:buClr>
              <a:buFont typeface="Arial" panose="020B0604020202020204" pitchFamily="34" charset="0"/>
              <a:buChar char="•"/>
            </a:pPr>
            <a:r>
              <a:rPr lang="en-US" sz="2000" i="1"/>
              <a:t>How will this be supported from an operational perspective?</a:t>
            </a:r>
            <a:endParaRPr lang="en-US" sz="2000" i="1">
              <a:cs typeface="Calibri"/>
            </a:endParaRPr>
          </a:p>
          <a:p>
            <a:pPr marL="342900" indent="-342900">
              <a:buClr>
                <a:prstClr val="black">
                  <a:lumMod val="65000"/>
                  <a:lumOff val="35000"/>
                </a:prstClr>
              </a:buClr>
              <a:buFont typeface="Arial" panose="020B0604020202020204" pitchFamily="34" charset="0"/>
              <a:buChar char="•"/>
            </a:pPr>
            <a:r>
              <a:rPr lang="en-US" sz="2000" i="1"/>
              <a:t>Is there a Business / Product owner for application capabilities supported (if applicable)?</a:t>
            </a:r>
            <a:endParaRPr lang="en-US" sz="2000" i="1">
              <a:cs typeface="Calibri"/>
            </a:endParaRPr>
          </a:p>
          <a:p>
            <a:pPr marL="342900" indent="-342900">
              <a:buFont typeface="Arial" panose="020B0604020202020204" pitchFamily="34" charset="0"/>
              <a:buChar char="•"/>
            </a:pPr>
            <a:endParaRPr lang="en-CA"/>
          </a:p>
          <a:p>
            <a:pPr marL="342900" indent="-342900">
              <a:buFont typeface="Arial" panose="020B0604020202020204" pitchFamily="34" charset="0"/>
              <a:buChar char="•"/>
            </a:pPr>
            <a:endParaRPr lang="en-CA"/>
          </a:p>
        </p:txBody>
      </p:sp>
      <p:sp>
        <p:nvSpPr>
          <p:cNvPr id="3" name="TextBox 2">
            <a:extLst>
              <a:ext uri="{FF2B5EF4-FFF2-40B4-BE49-F238E27FC236}">
                <a16:creationId xmlns:a16="http://schemas.microsoft.com/office/drawing/2014/main" id="{5C2DC812-13EC-EBFE-521A-ADAFAAD555B3}"/>
              </a:ext>
            </a:extLst>
          </p:cNvPr>
          <p:cNvSpPr txBox="1"/>
          <p:nvPr/>
        </p:nvSpPr>
        <p:spPr>
          <a:xfrm>
            <a:off x="10281336" y="260648"/>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&amp; DASH</a:t>
            </a:r>
          </a:p>
          <a:p>
            <a:r>
              <a:rPr lang="en-US"/>
              <a:t>Gate 0 &amp; Gate 2</a:t>
            </a:r>
          </a:p>
        </p:txBody>
      </p:sp>
      <p:sp>
        <p:nvSpPr>
          <p:cNvPr id="9" name="Title 5">
            <a:extLst>
              <a:ext uri="{FF2B5EF4-FFF2-40B4-BE49-F238E27FC236}">
                <a16:creationId xmlns:a16="http://schemas.microsoft.com/office/drawing/2014/main" id="{2C3D6FE4-0E90-283D-C3EA-BCE17A283A9C}"/>
              </a:ext>
            </a:extLst>
          </p:cNvPr>
          <p:cNvSpPr>
            <a:spLocks noGrp="1"/>
          </p:cNvSpPr>
          <p:nvPr>
            <p:ph type="title"/>
          </p:nvPr>
        </p:nvSpPr>
        <p:spPr>
          <a:xfrm>
            <a:off x="479425" y="15875"/>
            <a:ext cx="7740650" cy="877888"/>
          </a:xfrm>
        </p:spPr>
        <p:txBody>
          <a:bodyPr/>
          <a:lstStyle/>
          <a:p>
            <a:r>
              <a:rPr lang="en-CA"/>
              <a:t>Background &amp; Overview – Organization Impact</a:t>
            </a:r>
          </a:p>
        </p:txBody>
      </p:sp>
    </p:spTree>
    <p:extLst>
      <p:ext uri="{BB962C8B-B14F-4D97-AF65-F5344CB8AC3E}">
        <p14:creationId xmlns:p14="http://schemas.microsoft.com/office/powerpoint/2010/main" val="3476813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32D4B517-E49B-41B6-9DBC-23634E0F1CDC}" type="slidenum">
              <a:rPr lang="en-CA" dirty="0" smtClean="0"/>
              <a:pPr/>
              <a:t>10</a:t>
            </a:fld>
            <a:endParaRPr lang="en-CA"/>
          </a:p>
        </p:txBody>
      </p:sp>
      <p:sp>
        <p:nvSpPr>
          <p:cNvPr id="8" name="Title 5">
            <a:extLst>
              <a:ext uri="{FF2B5EF4-FFF2-40B4-BE49-F238E27FC236}">
                <a16:creationId xmlns:a16="http://schemas.microsoft.com/office/drawing/2014/main" id="{754A15B7-B325-3B52-5608-1FA42FAF1A04}"/>
              </a:ext>
            </a:extLst>
          </p:cNvPr>
          <p:cNvSpPr>
            <a:spLocks noGrp="1"/>
          </p:cNvSpPr>
          <p:nvPr>
            <p:ph type="title"/>
          </p:nvPr>
        </p:nvSpPr>
        <p:spPr>
          <a:xfrm>
            <a:off x="515380" y="89329"/>
            <a:ext cx="7740861" cy="878670"/>
          </a:xfrm>
        </p:spPr>
        <p:txBody>
          <a:bodyPr/>
          <a:lstStyle/>
          <a:p>
            <a:r>
              <a:rPr lang="en-CA"/>
              <a:t>Background and Overview continued – Analysis Completed</a:t>
            </a:r>
          </a:p>
        </p:txBody>
      </p:sp>
      <p:sp>
        <p:nvSpPr>
          <p:cNvPr id="3" name="TextBox 2">
            <a:extLst>
              <a:ext uri="{FF2B5EF4-FFF2-40B4-BE49-F238E27FC236}">
                <a16:creationId xmlns:a16="http://schemas.microsoft.com/office/drawing/2014/main" id="{F2572508-CD7C-6836-AA9C-5AB2E24C1783}"/>
              </a:ext>
            </a:extLst>
          </p:cNvPr>
          <p:cNvSpPr txBox="1"/>
          <p:nvPr/>
        </p:nvSpPr>
        <p:spPr>
          <a:xfrm>
            <a:off x="10317351" y="267054"/>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a:t>
            </a:r>
          </a:p>
          <a:p>
            <a:r>
              <a:rPr lang="en-US"/>
              <a:t>Gate 0 &amp; Gate 2</a:t>
            </a:r>
          </a:p>
        </p:txBody>
      </p:sp>
      <p:sp>
        <p:nvSpPr>
          <p:cNvPr id="13" name="TextBox 12">
            <a:extLst>
              <a:ext uri="{FF2B5EF4-FFF2-40B4-BE49-F238E27FC236}">
                <a16:creationId xmlns:a16="http://schemas.microsoft.com/office/drawing/2014/main" id="{5F43DB79-0DA3-4284-20BE-C2973817D517}"/>
              </a:ext>
            </a:extLst>
          </p:cNvPr>
          <p:cNvSpPr txBox="1"/>
          <p:nvPr/>
        </p:nvSpPr>
        <p:spPr>
          <a:xfrm>
            <a:off x="551384" y="1088740"/>
            <a:ext cx="11197244" cy="2123658"/>
          </a:xfrm>
          <a:prstGeom prst="rect">
            <a:avLst/>
          </a:prstGeom>
          <a:noFill/>
        </p:spPr>
        <p:txBody>
          <a:bodyPr wrap="square">
            <a:spAutoFit/>
          </a:bodyPr>
          <a:lstStyle/>
          <a:p>
            <a:pPr marL="342900" indent="-342900">
              <a:buClr>
                <a:prstClr val="black">
                  <a:lumMod val="65000"/>
                  <a:lumOff val="35000"/>
                </a:prstClr>
              </a:buClr>
              <a:buFont typeface="Arial" panose="020B0604020202020204" pitchFamily="34" charset="0"/>
              <a:buChar char="•"/>
            </a:pPr>
            <a:r>
              <a:rPr lang="en-US" sz="2200">
                <a:solidFill>
                  <a:srgbClr val="004D71"/>
                </a:solidFill>
              </a:rPr>
              <a:t>Briefly describe any analysis completed to date and sources of reference.</a:t>
            </a:r>
            <a:endParaRPr lang="en-US" sz="2200">
              <a:solidFill>
                <a:srgbClr val="004D71"/>
              </a:solidFill>
              <a:cs typeface="Calibri"/>
            </a:endParaRPr>
          </a:p>
          <a:p>
            <a:pPr marL="342900" indent="-342900">
              <a:buClr>
                <a:prstClr val="black">
                  <a:lumMod val="65000"/>
                  <a:lumOff val="35000"/>
                </a:prstClr>
              </a:buClr>
              <a:buFont typeface="Arial" panose="020B0604020202020204" pitchFamily="34" charset="0"/>
              <a:buChar char="•"/>
            </a:pPr>
            <a:r>
              <a:rPr lang="en-US" sz="2200">
                <a:solidFill>
                  <a:srgbClr val="004D71"/>
                </a:solidFill>
              </a:rPr>
              <a:t>Identify HC/PHAC environment / perspective for context.  What is being used and how prevalent to understand scope and impact.   Include APM data. </a:t>
            </a:r>
            <a:endParaRPr lang="en-US" sz="2200">
              <a:solidFill>
                <a:srgbClr val="004D71"/>
              </a:solidFill>
              <a:cs typeface="Calibri"/>
            </a:endParaRPr>
          </a:p>
          <a:p>
            <a:pPr marL="342900" indent="-342900">
              <a:buClr>
                <a:prstClr val="black">
                  <a:lumMod val="65000"/>
                  <a:lumOff val="35000"/>
                </a:prstClr>
              </a:buClr>
              <a:buFont typeface="Arial" panose="020B0604020202020204" pitchFamily="34" charset="0"/>
              <a:buChar char="•"/>
            </a:pPr>
            <a:r>
              <a:rPr lang="en-US" sz="2200">
                <a:solidFill>
                  <a:srgbClr val="004D71"/>
                </a:solidFill>
              </a:rPr>
              <a:t>Briefly describe any environmental scan completed, other Government Departments, Industry, Gartner, InfoTech, Market Scan…</a:t>
            </a:r>
            <a:endParaRPr lang="en-US" sz="2200">
              <a:solidFill>
                <a:srgbClr val="004D71"/>
              </a:solidFill>
              <a:cs typeface="Calibri"/>
            </a:endParaRPr>
          </a:p>
          <a:p>
            <a:pPr marL="342900" indent="-342900">
              <a:buClr>
                <a:prstClr val="black">
                  <a:lumMod val="65000"/>
                  <a:lumOff val="35000"/>
                </a:prstClr>
              </a:buClr>
              <a:buFont typeface="Arial" panose="020B0604020202020204" pitchFamily="34" charset="0"/>
              <a:buChar char="•"/>
            </a:pPr>
            <a:r>
              <a:rPr lang="en-US" sz="2200">
                <a:solidFill>
                  <a:srgbClr val="004D71"/>
                </a:solidFill>
              </a:rPr>
              <a:t>Details if this is an exemption from a standard</a:t>
            </a:r>
            <a:endParaRPr lang="en-US" sz="2200">
              <a:solidFill>
                <a:srgbClr val="004D71"/>
              </a:solidFill>
              <a:cs typeface="Calibri"/>
            </a:endParaRPr>
          </a:p>
        </p:txBody>
      </p:sp>
    </p:spTree>
    <p:extLst>
      <p:ext uri="{BB962C8B-B14F-4D97-AF65-F5344CB8AC3E}">
        <p14:creationId xmlns:p14="http://schemas.microsoft.com/office/powerpoint/2010/main" val="52011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623392" y="80628"/>
            <a:ext cx="7704856" cy="878670"/>
          </a:xfrm>
        </p:spPr>
        <p:txBody>
          <a:bodyPr/>
          <a:lstStyle/>
          <a:p>
            <a:r>
              <a:rPr lang="en-CA"/>
              <a:t>Conceptual Business Model</a:t>
            </a:r>
          </a:p>
        </p:txBody>
      </p:sp>
      <p:sp>
        <p:nvSpPr>
          <p:cNvPr id="3" name="Slide Number Placeholder 2">
            <a:extLst>
              <a:ext uri="{FF2B5EF4-FFF2-40B4-BE49-F238E27FC236}">
                <a16:creationId xmlns:a16="http://schemas.microsoft.com/office/drawing/2014/main" id="{92091480-4825-6AFD-976C-8B697C85E0B3}"/>
              </a:ext>
            </a:extLst>
          </p:cNvPr>
          <p:cNvSpPr>
            <a:spLocks noGrp="1"/>
          </p:cNvSpPr>
          <p:nvPr>
            <p:ph type="sldNum" sz="quarter" idx="12"/>
          </p:nvPr>
        </p:nvSpPr>
        <p:spPr/>
        <p:txBody>
          <a:bodyPr/>
          <a:lstStyle/>
          <a:p>
            <a:fld id="{32D4B517-E49B-41B6-9DBC-23634E0F1CDC}" type="slidenum">
              <a:rPr lang="en-CA" smtClean="0"/>
              <a:pPr/>
              <a:t>11</a:t>
            </a:fld>
            <a:endParaRPr lang="en-CA"/>
          </a:p>
        </p:txBody>
      </p:sp>
      <p:pic>
        <p:nvPicPr>
          <p:cNvPr id="2" name="Picture 1" descr="This is a sample diagram of the Conceptual Business Model diagram that is to be completed by HC/PHAC EA">
            <a:extLst>
              <a:ext uri="{FF2B5EF4-FFF2-40B4-BE49-F238E27FC236}">
                <a16:creationId xmlns:a16="http://schemas.microsoft.com/office/drawing/2014/main" id="{FB3A0576-2C9C-F437-032F-98C2ECA3135B}"/>
              </a:ext>
            </a:extLst>
          </p:cNvPr>
          <p:cNvPicPr>
            <a:picLocks noChangeAspect="1"/>
          </p:cNvPicPr>
          <p:nvPr/>
        </p:nvPicPr>
        <p:blipFill>
          <a:blip r:embed="rId3"/>
          <a:stretch>
            <a:fillRect/>
          </a:stretch>
        </p:blipFill>
        <p:spPr>
          <a:xfrm>
            <a:off x="1474416" y="1027088"/>
            <a:ext cx="9243167" cy="5196764"/>
          </a:xfrm>
          <a:prstGeom prst="rect">
            <a:avLst/>
          </a:prstGeom>
        </p:spPr>
      </p:pic>
      <p:sp>
        <p:nvSpPr>
          <p:cNvPr id="6" name="Rectangle 5">
            <a:extLst>
              <a:ext uri="{FF2B5EF4-FFF2-40B4-BE49-F238E27FC236}">
                <a16:creationId xmlns:a16="http://schemas.microsoft.com/office/drawing/2014/main" id="{B75937C6-2254-4B2A-9DA3-0CF780F34C50}"/>
              </a:ext>
            </a:extLst>
          </p:cNvPr>
          <p:cNvSpPr/>
          <p:nvPr/>
        </p:nvSpPr>
        <p:spPr>
          <a:xfrm rot="19236687">
            <a:off x="3168446" y="2840640"/>
            <a:ext cx="5184576" cy="1569660"/>
          </a:xfrm>
          <a:prstGeom prst="rect">
            <a:avLst/>
          </a:prstGeom>
          <a:noFill/>
          <a:effectLst>
            <a:outerShdw blurRad="50800" dist="50800" dir="5400000" algn="ctr" rotWithShape="0">
              <a:srgbClr val="000000"/>
            </a:outerShdw>
          </a:effectLst>
        </p:spPr>
        <p:txBody>
          <a:bodyPr wrap="square" lIns="91440" tIns="45720" rIns="91440" bIns="45720" anchor="t">
            <a:spAutoFit/>
          </a:bodyPr>
          <a:lstStyle/>
          <a:p>
            <a:pPr algn="ctr"/>
            <a:r>
              <a:rPr lang="en-US" sz="48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To be completed by HC/PHAC</a:t>
            </a:r>
            <a:r>
              <a:rPr lang="en-US" sz="4800" b="1">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 EA</a:t>
            </a:r>
            <a:endParaRPr lang="en-US" sz="48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endParaRPr>
          </a:p>
        </p:txBody>
      </p:sp>
      <p:sp>
        <p:nvSpPr>
          <p:cNvPr id="5" name="TextBox 4">
            <a:extLst>
              <a:ext uri="{FF2B5EF4-FFF2-40B4-BE49-F238E27FC236}">
                <a16:creationId xmlns:a16="http://schemas.microsoft.com/office/drawing/2014/main" id="{690FD5FF-4D78-44C0-7306-A092432660A1}"/>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a:t>
            </a:r>
          </a:p>
          <a:p>
            <a:r>
              <a:rPr lang="en-US"/>
              <a:t>Gate 0, Gate 2</a:t>
            </a:r>
          </a:p>
        </p:txBody>
      </p:sp>
    </p:spTree>
    <p:extLst>
      <p:ext uri="{BB962C8B-B14F-4D97-AF65-F5344CB8AC3E}">
        <p14:creationId xmlns:p14="http://schemas.microsoft.com/office/powerpoint/2010/main" val="314138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623392" y="80628"/>
            <a:ext cx="7704856" cy="878670"/>
          </a:xfrm>
        </p:spPr>
        <p:txBody>
          <a:bodyPr/>
          <a:lstStyle/>
          <a:p>
            <a:r>
              <a:rPr lang="en-CA"/>
              <a:t>Business Process / Information / Data Flow Diagram</a:t>
            </a:r>
          </a:p>
        </p:txBody>
      </p:sp>
      <p:sp>
        <p:nvSpPr>
          <p:cNvPr id="3" name="Slide Number Placeholder 2">
            <a:extLst>
              <a:ext uri="{FF2B5EF4-FFF2-40B4-BE49-F238E27FC236}">
                <a16:creationId xmlns:a16="http://schemas.microsoft.com/office/drawing/2014/main" id="{92091480-4825-6AFD-976C-8B697C85E0B3}"/>
              </a:ext>
            </a:extLst>
          </p:cNvPr>
          <p:cNvSpPr>
            <a:spLocks noGrp="1"/>
          </p:cNvSpPr>
          <p:nvPr>
            <p:ph type="sldNum" sz="quarter" idx="12"/>
          </p:nvPr>
        </p:nvSpPr>
        <p:spPr/>
        <p:txBody>
          <a:bodyPr/>
          <a:lstStyle/>
          <a:p>
            <a:fld id="{32D4B517-E49B-41B6-9DBC-23634E0F1CDC}" type="slidenum">
              <a:rPr lang="en-CA" smtClean="0"/>
              <a:pPr/>
              <a:t>12</a:t>
            </a:fld>
            <a:endParaRPr lang="en-CA"/>
          </a:p>
        </p:txBody>
      </p:sp>
      <p:sp>
        <p:nvSpPr>
          <p:cNvPr id="5" name="Rectangle 4">
            <a:extLst>
              <a:ext uri="{FF2B5EF4-FFF2-40B4-BE49-F238E27FC236}">
                <a16:creationId xmlns:a16="http://schemas.microsoft.com/office/drawing/2014/main" id="{D8BE8C71-42FC-0664-B76E-198AF825F581}"/>
              </a:ext>
            </a:extLst>
          </p:cNvPr>
          <p:cNvSpPr/>
          <p:nvPr/>
        </p:nvSpPr>
        <p:spPr>
          <a:xfrm rot="19236687">
            <a:off x="3304923" y="2262092"/>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2" name="TextBox 1">
            <a:extLst>
              <a:ext uri="{FF2B5EF4-FFF2-40B4-BE49-F238E27FC236}">
                <a16:creationId xmlns:a16="http://schemas.microsoft.com/office/drawing/2014/main" id="{7D332663-427E-278C-4475-132DDA4A12C6}"/>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pic>
        <p:nvPicPr>
          <p:cNvPr id="6" name="Image 84">
            <a:extLst>
              <a:ext uri="{FF2B5EF4-FFF2-40B4-BE49-F238E27FC236}">
                <a16:creationId xmlns:a16="http://schemas.microsoft.com/office/drawing/2014/main" id="{2C6EAF5F-6E5B-B027-0581-CB621D880940}"/>
              </a:ext>
            </a:extLst>
          </p:cNvPr>
          <p:cNvPicPr>
            <a:picLocks noChangeAspect="1"/>
          </p:cNvPicPr>
          <p:nvPr/>
        </p:nvPicPr>
        <p:blipFill>
          <a:blip r:embed="rId3"/>
          <a:stretch>
            <a:fillRect/>
          </a:stretch>
        </p:blipFill>
        <p:spPr>
          <a:xfrm>
            <a:off x="1595500" y="1340768"/>
            <a:ext cx="9161570" cy="4963455"/>
          </a:xfrm>
          <a:prstGeom prst="rect">
            <a:avLst/>
          </a:prstGeom>
        </p:spPr>
      </p:pic>
    </p:spTree>
    <p:extLst>
      <p:ext uri="{BB962C8B-B14F-4D97-AF65-F5344CB8AC3E}">
        <p14:creationId xmlns:p14="http://schemas.microsoft.com/office/powerpoint/2010/main" val="1208603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10FAEDC-7D71-49D3-8954-31D93C84F767}"/>
              </a:ext>
            </a:extLst>
          </p:cNvPr>
          <p:cNvGraphicFramePr>
            <a:graphicFrameLocks noGrp="1"/>
          </p:cNvGraphicFramePr>
          <p:nvPr>
            <p:extLst>
              <p:ext uri="{D42A27DB-BD31-4B8C-83A1-F6EECF244321}">
                <p14:modId xmlns:p14="http://schemas.microsoft.com/office/powerpoint/2010/main" val="930643139"/>
              </p:ext>
            </p:extLst>
          </p:nvPr>
        </p:nvGraphicFramePr>
        <p:xfrm>
          <a:off x="457199" y="1160747"/>
          <a:ext cx="11191165" cy="5332126"/>
        </p:xfrm>
        <a:graphic>
          <a:graphicData uri="http://schemas.openxmlformats.org/drawingml/2006/table">
            <a:tbl>
              <a:tblPr firstRow="1" bandRow="1">
                <a:tableStyleId>{5C22544A-7EE6-4342-B048-85BDC9FD1C3A}</a:tableStyleId>
              </a:tblPr>
              <a:tblGrid>
                <a:gridCol w="1957546">
                  <a:extLst>
                    <a:ext uri="{9D8B030D-6E8A-4147-A177-3AD203B41FA5}">
                      <a16:colId xmlns:a16="http://schemas.microsoft.com/office/drawing/2014/main" val="3883873857"/>
                    </a:ext>
                  </a:extLst>
                </a:gridCol>
                <a:gridCol w="9233619">
                  <a:extLst>
                    <a:ext uri="{9D8B030D-6E8A-4147-A177-3AD203B41FA5}">
                      <a16:colId xmlns:a16="http://schemas.microsoft.com/office/drawing/2014/main" val="2832724280"/>
                    </a:ext>
                  </a:extLst>
                </a:gridCol>
              </a:tblGrid>
              <a:tr h="526459">
                <a:tc>
                  <a:txBody>
                    <a:bodyPr/>
                    <a:lstStyle/>
                    <a:p>
                      <a:r>
                        <a:rPr lang="en-CA" sz="1800" b="1" baseline="0" noProof="0">
                          <a:solidFill>
                            <a:schemeClr val="tx1"/>
                          </a:solidFill>
                          <a:latin typeface="+mj-lt"/>
                        </a:rPr>
                        <a:t>Architecture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b="1">
                          <a:solidFill>
                            <a:schemeClr val="tx1"/>
                          </a:solidFill>
                          <a:latin typeface="+mj-lt"/>
                        </a:rPr>
                        <a:t>Key elements and issues for each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4868543"/>
                  </a:ext>
                </a:extLst>
              </a:tr>
              <a:tr h="1184533">
                <a:tc>
                  <a:txBody>
                    <a:bodyPr/>
                    <a:lstStyle/>
                    <a:p>
                      <a:r>
                        <a:rPr lang="en-US" sz="1800">
                          <a:solidFill>
                            <a:schemeClr val="tx1"/>
                          </a:solidFill>
                        </a:rPr>
                        <a:t>Business</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600">
                          <a:solidFill>
                            <a:schemeClr val="tx1"/>
                          </a:solidFill>
                        </a:rPr>
                        <a:t>Reduced business efficiency </a:t>
                      </a:r>
                      <a:r>
                        <a:rPr lang="en-US" sz="1600" baseline="0">
                          <a:solidFill>
                            <a:schemeClr val="tx1"/>
                          </a:solidFill>
                        </a:rPr>
                        <a:t>and p</a:t>
                      </a:r>
                      <a:r>
                        <a:rPr lang="en-US" sz="1600">
                          <a:solidFill>
                            <a:schemeClr val="tx1"/>
                          </a:solidFill>
                        </a:rPr>
                        <a:t>oor user experience from integrating</a:t>
                      </a:r>
                      <a:r>
                        <a:rPr lang="en-US" sz="1600" baseline="0">
                          <a:solidFill>
                            <a:schemeClr val="tx1"/>
                          </a:solidFill>
                        </a:rPr>
                        <a:t> </a:t>
                      </a:r>
                      <a:r>
                        <a:rPr lang="en-US" sz="1600">
                          <a:solidFill>
                            <a:schemeClr val="tx1"/>
                          </a:solidFill>
                        </a:rPr>
                        <a:t>and maintaining multiple solutions. Need to enable </a:t>
                      </a:r>
                      <a:r>
                        <a:rPr lang="en-CA" sz="1600">
                          <a:solidFill>
                            <a:schemeClr val="tx1"/>
                          </a:solidFill>
                        </a:rPr>
                        <a:t>off network, off VPN management of information to support staff who work in the field - at borders, at industry sites for inspections,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286084"/>
                  </a:ext>
                </a:extLst>
              </a:tr>
              <a:tr h="860016">
                <a:tc>
                  <a:txBody>
                    <a:bodyPr/>
                    <a:lstStyle/>
                    <a:p>
                      <a:r>
                        <a:rPr lang="en-US" sz="1800">
                          <a:solidFill>
                            <a:schemeClr val="tx1"/>
                          </a:solidFill>
                        </a:rPr>
                        <a:t>Information</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600">
                          <a:solidFill>
                            <a:schemeClr val="tx1"/>
                          </a:solidFill>
                        </a:rPr>
                        <a:t>Information and data duplication and transit across the multiple solutions – with associated compliance and productivity risks.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9415834"/>
                  </a:ext>
                </a:extLst>
              </a:tr>
              <a:tr h="950551">
                <a:tc>
                  <a:txBody>
                    <a:bodyPr/>
                    <a:lstStyle/>
                    <a:p>
                      <a:r>
                        <a:rPr lang="en-US" sz="1800">
                          <a:solidFill>
                            <a:schemeClr val="tx1"/>
                          </a:solidFill>
                        </a:rPr>
                        <a:t>Application</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600">
                          <a:solidFill>
                            <a:schemeClr val="tx1"/>
                          </a:solidFill>
                        </a:rPr>
                        <a:t>EDRM application sprawl – increasing the licensing costs,  interoperability requirements and</a:t>
                      </a:r>
                      <a:r>
                        <a:rPr lang="en-US" sz="1600" baseline="0">
                          <a:solidFill>
                            <a:schemeClr val="tx1"/>
                          </a:solidFill>
                        </a:rPr>
                        <a:t> manual maintenance</a:t>
                      </a:r>
                      <a:endParaRPr lang="en-CA"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713149"/>
                  </a:ext>
                </a:extLst>
              </a:tr>
              <a:tr h="860016">
                <a:tc>
                  <a:txBody>
                    <a:bodyPr/>
                    <a:lstStyle/>
                    <a:p>
                      <a:r>
                        <a:rPr lang="en-US" sz="1800">
                          <a:solidFill>
                            <a:schemeClr val="tx1"/>
                          </a:solidFill>
                        </a:rPr>
                        <a:t>Technology</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600" baseline="0">
                          <a:solidFill>
                            <a:schemeClr val="tx1"/>
                          </a:solidFill>
                        </a:rPr>
                        <a:t>Maintaining and supporting multiple technology platforms (</a:t>
                      </a:r>
                      <a:r>
                        <a:rPr lang="en-US" sz="1600" baseline="0" err="1">
                          <a:solidFill>
                            <a:schemeClr val="tx1"/>
                          </a:solidFill>
                        </a:rPr>
                        <a:t>GCdocs</a:t>
                      </a:r>
                      <a:r>
                        <a:rPr lang="en-US" sz="1600" baseline="0">
                          <a:solidFill>
                            <a:schemeClr val="tx1"/>
                          </a:solidFill>
                        </a:rPr>
                        <a:t>, shared drives; RDIMS, EDMS, proliferation of OneDrive)</a:t>
                      </a:r>
                      <a:endParaRPr lang="en-CA"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6833783"/>
                  </a:ext>
                </a:extLst>
              </a:tr>
              <a:tr h="950551">
                <a:tc>
                  <a:txBody>
                    <a:bodyPr/>
                    <a:lstStyle/>
                    <a:p>
                      <a:r>
                        <a:rPr lang="en-US" sz="1800">
                          <a:solidFill>
                            <a:schemeClr val="tx1"/>
                          </a:solidFill>
                        </a:rPr>
                        <a:t>Security</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CA" sz="1600">
                          <a:solidFill>
                            <a:schemeClr val="tx1"/>
                          </a:solidFill>
                        </a:rPr>
                        <a:t>Administration, permission management, access controls and monitoring are all made more complex by having multiple platforms, processes, toolsets and resource pools.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2216426"/>
                  </a:ext>
                </a:extLst>
              </a:tr>
            </a:tbl>
          </a:graphicData>
        </a:graphic>
      </p:graphicFrame>
      <p:sp>
        <p:nvSpPr>
          <p:cNvPr id="14" name="Title 3">
            <a:extLst>
              <a:ext uri="{FF2B5EF4-FFF2-40B4-BE49-F238E27FC236}">
                <a16:creationId xmlns:a16="http://schemas.microsoft.com/office/drawing/2014/main" id="{70ABBEC2-BE98-485D-BF05-111B1C8EE35A}"/>
              </a:ext>
            </a:extLst>
          </p:cNvPr>
          <p:cNvSpPr>
            <a:spLocks noGrp="1"/>
          </p:cNvSpPr>
          <p:nvPr>
            <p:ph type="title"/>
          </p:nvPr>
        </p:nvSpPr>
        <p:spPr>
          <a:xfrm>
            <a:off x="592183" y="775"/>
            <a:ext cx="5308343" cy="878670"/>
          </a:xfrm>
        </p:spPr>
        <p:txBody>
          <a:bodyPr/>
          <a:lstStyle/>
          <a:p>
            <a:pPr marL="0" indent="0"/>
            <a:r>
              <a:rPr lang="en-CA"/>
              <a:t>Current State Architecture</a:t>
            </a:r>
            <a:br>
              <a:rPr lang="en-CA"/>
            </a:br>
            <a:r>
              <a:rPr lang="en-CA" sz="1600">
                <a:latin typeface="Aharoni" panose="02010803020104030203" pitchFamily="2" charset="-79"/>
                <a:cs typeface="Aharoni" panose="02010803020104030203" pitchFamily="2" charset="-79"/>
              </a:rPr>
              <a:t>Problem Summary</a:t>
            </a:r>
            <a:endParaRPr lang="en-US" sz="1600">
              <a:latin typeface="Aharoni" panose="02010803020104030203" pitchFamily="2" charset="-79"/>
              <a:cs typeface="Aharoni" panose="02010803020104030203" pitchFamily="2" charset="-79"/>
            </a:endParaRPr>
          </a:p>
        </p:txBody>
      </p:sp>
      <p:sp>
        <p:nvSpPr>
          <p:cNvPr id="16" name="Rectangle 15">
            <a:extLst>
              <a:ext uri="{FF2B5EF4-FFF2-40B4-BE49-F238E27FC236}">
                <a16:creationId xmlns:a16="http://schemas.microsoft.com/office/drawing/2014/main" id="{13F2BCF7-CBD7-3B62-2843-12ABC0E2F082}"/>
              </a:ext>
            </a:extLst>
          </p:cNvPr>
          <p:cNvSpPr/>
          <p:nvPr/>
        </p:nvSpPr>
        <p:spPr>
          <a:xfrm rot="19236687">
            <a:off x="3304923" y="2262092"/>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3" name="Slide Number Placeholder 2">
            <a:extLst>
              <a:ext uri="{FF2B5EF4-FFF2-40B4-BE49-F238E27FC236}">
                <a16:creationId xmlns:a16="http://schemas.microsoft.com/office/drawing/2014/main" id="{237AB303-D8BE-3FB2-9AAC-FB96AD8E0F3E}"/>
              </a:ext>
            </a:extLst>
          </p:cNvPr>
          <p:cNvSpPr>
            <a:spLocks noGrp="1"/>
          </p:cNvSpPr>
          <p:nvPr>
            <p:ph type="sldNum" sz="quarter" idx="12"/>
          </p:nvPr>
        </p:nvSpPr>
        <p:spPr/>
        <p:txBody>
          <a:bodyPr/>
          <a:lstStyle/>
          <a:p>
            <a:fld id="{32D4B517-E49B-41B6-9DBC-23634E0F1CDC}" type="slidenum">
              <a:rPr lang="en-CA" smtClean="0"/>
              <a:pPr/>
              <a:t>13</a:t>
            </a:fld>
            <a:endParaRPr lang="en-CA"/>
          </a:p>
        </p:txBody>
      </p:sp>
      <p:sp>
        <p:nvSpPr>
          <p:cNvPr id="2" name="TextBox 1">
            <a:extLst>
              <a:ext uri="{FF2B5EF4-FFF2-40B4-BE49-F238E27FC236}">
                <a16:creationId xmlns:a16="http://schemas.microsoft.com/office/drawing/2014/main" id="{A682B37E-0E0B-D55E-CE63-F4D945D49455}"/>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4130948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1026200-0D90-FC17-99F7-633E817682EA}"/>
              </a:ext>
            </a:extLst>
          </p:cNvPr>
          <p:cNvPicPr>
            <a:picLocks noChangeAspect="1"/>
          </p:cNvPicPr>
          <p:nvPr/>
        </p:nvPicPr>
        <p:blipFill>
          <a:blip r:embed="rId3"/>
          <a:stretch>
            <a:fillRect/>
          </a:stretch>
        </p:blipFill>
        <p:spPr>
          <a:xfrm>
            <a:off x="1005399" y="1007454"/>
            <a:ext cx="10181202" cy="5486876"/>
          </a:xfrm>
          <a:prstGeom prst="rect">
            <a:avLst/>
          </a:prstGeom>
        </p:spPr>
      </p:pic>
      <p:sp>
        <p:nvSpPr>
          <p:cNvPr id="4" name="Title 3"/>
          <p:cNvSpPr>
            <a:spLocks noGrp="1"/>
          </p:cNvSpPr>
          <p:nvPr>
            <p:ph type="title"/>
          </p:nvPr>
        </p:nvSpPr>
        <p:spPr>
          <a:xfrm>
            <a:off x="591011" y="14346"/>
            <a:ext cx="5576997" cy="698650"/>
          </a:xfrm>
        </p:spPr>
        <p:txBody>
          <a:bodyPr/>
          <a:lstStyle/>
          <a:p>
            <a:r>
              <a:rPr lang="en-CA"/>
              <a:t>Current State Architecture Diagram</a:t>
            </a:r>
            <a:endParaRPr lang="en-US" b="1">
              <a:solidFill>
                <a:srgbClr val="FF0000"/>
              </a:solidFill>
            </a:endParaRPr>
          </a:p>
        </p:txBody>
      </p:sp>
      <p:sp>
        <p:nvSpPr>
          <p:cNvPr id="3" name="Slide Number Placeholder 2">
            <a:extLst>
              <a:ext uri="{FF2B5EF4-FFF2-40B4-BE49-F238E27FC236}">
                <a16:creationId xmlns:a16="http://schemas.microsoft.com/office/drawing/2014/main" id="{E131F10D-5148-8855-5C7F-418F42B51D50}"/>
              </a:ext>
            </a:extLst>
          </p:cNvPr>
          <p:cNvSpPr>
            <a:spLocks noGrp="1"/>
          </p:cNvSpPr>
          <p:nvPr>
            <p:ph type="sldNum" sz="quarter" idx="12"/>
          </p:nvPr>
        </p:nvSpPr>
        <p:spPr/>
        <p:txBody>
          <a:bodyPr/>
          <a:lstStyle/>
          <a:p>
            <a:fld id="{32D4B517-E49B-41B6-9DBC-23634E0F1CDC}" type="slidenum">
              <a:rPr lang="en-CA" smtClean="0"/>
              <a:pPr/>
              <a:t>14</a:t>
            </a:fld>
            <a:endParaRPr lang="en-CA"/>
          </a:p>
        </p:txBody>
      </p:sp>
      <p:sp>
        <p:nvSpPr>
          <p:cNvPr id="10" name="Rectangle 9">
            <a:extLst>
              <a:ext uri="{FF2B5EF4-FFF2-40B4-BE49-F238E27FC236}">
                <a16:creationId xmlns:a16="http://schemas.microsoft.com/office/drawing/2014/main" id="{88F1FD66-EEB3-3DBF-B62F-C952C2C538A5}"/>
              </a:ext>
            </a:extLst>
          </p:cNvPr>
          <p:cNvSpPr/>
          <p:nvPr/>
        </p:nvSpPr>
        <p:spPr>
          <a:xfrm rot="19236687">
            <a:off x="3304923" y="2262092"/>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11" name="TextBox 10">
            <a:extLst>
              <a:ext uri="{FF2B5EF4-FFF2-40B4-BE49-F238E27FC236}">
                <a16:creationId xmlns:a16="http://schemas.microsoft.com/office/drawing/2014/main" id="{C44D2796-02DD-5854-97D4-104B1D6C4D91}"/>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3757903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BB44BC47-F05F-BEA3-15CD-0A58F6FA6DFE}"/>
              </a:ext>
            </a:extLst>
          </p:cNvPr>
          <p:cNvPicPr>
            <a:picLocks noChangeAspect="1"/>
          </p:cNvPicPr>
          <p:nvPr/>
        </p:nvPicPr>
        <p:blipFill>
          <a:blip r:embed="rId3"/>
          <a:stretch>
            <a:fillRect/>
          </a:stretch>
        </p:blipFill>
        <p:spPr>
          <a:xfrm>
            <a:off x="1127448" y="1038468"/>
            <a:ext cx="9685076" cy="5486876"/>
          </a:xfrm>
          <a:prstGeom prst="rect">
            <a:avLst/>
          </a:prstGeom>
        </p:spPr>
      </p:pic>
      <p:sp>
        <p:nvSpPr>
          <p:cNvPr id="4" name="Title 3"/>
          <p:cNvSpPr>
            <a:spLocks noGrp="1"/>
          </p:cNvSpPr>
          <p:nvPr>
            <p:ph type="title"/>
          </p:nvPr>
        </p:nvSpPr>
        <p:spPr>
          <a:xfrm>
            <a:off x="551932" y="37823"/>
            <a:ext cx="5576997" cy="698650"/>
          </a:xfrm>
        </p:spPr>
        <p:txBody>
          <a:bodyPr/>
          <a:lstStyle/>
          <a:p>
            <a:r>
              <a:rPr lang="en-CA"/>
              <a:t>Target State Architecture Diagram</a:t>
            </a:r>
            <a:endParaRPr lang="en-US">
              <a:solidFill>
                <a:srgbClr val="FF0000"/>
              </a:solidFill>
            </a:endParaRPr>
          </a:p>
        </p:txBody>
      </p:sp>
      <p:sp>
        <p:nvSpPr>
          <p:cNvPr id="2" name="Slide Number Placeholder 1">
            <a:extLst>
              <a:ext uri="{FF2B5EF4-FFF2-40B4-BE49-F238E27FC236}">
                <a16:creationId xmlns:a16="http://schemas.microsoft.com/office/drawing/2014/main" id="{AD7B89F6-5FF7-7FCE-6978-9A28E7856039}"/>
              </a:ext>
            </a:extLst>
          </p:cNvPr>
          <p:cNvSpPr>
            <a:spLocks noGrp="1"/>
          </p:cNvSpPr>
          <p:nvPr>
            <p:ph type="sldNum" sz="quarter" idx="12"/>
          </p:nvPr>
        </p:nvSpPr>
        <p:spPr/>
        <p:txBody>
          <a:bodyPr/>
          <a:lstStyle/>
          <a:p>
            <a:fld id="{32D4B517-E49B-41B6-9DBC-23634E0F1CDC}" type="slidenum">
              <a:rPr lang="en-CA" smtClean="0"/>
              <a:pPr/>
              <a:t>15</a:t>
            </a:fld>
            <a:endParaRPr lang="en-CA"/>
          </a:p>
        </p:txBody>
      </p:sp>
      <p:cxnSp>
        <p:nvCxnSpPr>
          <p:cNvPr id="17" name="Straight Connector 16">
            <a:extLst>
              <a:ext uri="{FF2B5EF4-FFF2-40B4-BE49-F238E27FC236}">
                <a16:creationId xmlns:a16="http://schemas.microsoft.com/office/drawing/2014/main" id="{AC38B857-789D-A42A-ADF7-9A6BD20694D2}"/>
              </a:ext>
              <a:ext uri="{C183D7F6-B498-43B3-948B-1728B52AA6E4}">
                <adec:decorative xmlns:adec="http://schemas.microsoft.com/office/drawing/2017/decorative" val="1"/>
              </a:ext>
            </a:extLst>
          </p:cNvPr>
          <p:cNvCxnSpPr>
            <a:cxnSpLocks/>
          </p:cNvCxnSpPr>
          <p:nvPr/>
        </p:nvCxnSpPr>
        <p:spPr>
          <a:xfrm>
            <a:off x="10115241" y="101673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E65D7D0-DFB8-1B73-84CA-54EFD5F7229D}"/>
              </a:ext>
            </a:extLst>
          </p:cNvPr>
          <p:cNvSpPr/>
          <p:nvPr/>
        </p:nvSpPr>
        <p:spPr>
          <a:xfrm rot="19236687">
            <a:off x="3304923" y="2262092"/>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15" name="TextBox 14">
            <a:extLst>
              <a:ext uri="{FF2B5EF4-FFF2-40B4-BE49-F238E27FC236}">
                <a16:creationId xmlns:a16="http://schemas.microsoft.com/office/drawing/2014/main" id="{9092EA3C-B121-63F7-BF40-671A262B3239}"/>
              </a:ext>
            </a:extLst>
          </p:cNvPr>
          <p:cNvSpPr txBox="1"/>
          <p:nvPr/>
        </p:nvSpPr>
        <p:spPr>
          <a:xfrm>
            <a:off x="10272642" y="283824"/>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1443128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4834"/>
            <a:ext cx="5432982" cy="878670"/>
          </a:xfrm>
        </p:spPr>
        <p:txBody>
          <a:bodyPr/>
          <a:lstStyle/>
          <a:p>
            <a:pPr marL="0" indent="0"/>
            <a:r>
              <a:rPr lang="en-CA"/>
              <a:t>Target State Architecture </a:t>
            </a:r>
            <a:br>
              <a:rPr lang="en-CA"/>
            </a:br>
            <a:r>
              <a:rPr lang="en-CA" sz="1600">
                <a:latin typeface="Aharoni" panose="02010803020104030203" pitchFamily="2" charset="-79"/>
                <a:cs typeface="Aharoni" panose="02010803020104030203" pitchFamily="2" charset="-79"/>
              </a:rPr>
              <a:t>Solution Summary</a:t>
            </a:r>
            <a:endParaRPr lang="en-US" sz="1600">
              <a:latin typeface="Aharoni" panose="02010803020104030203" pitchFamily="2" charset="-79"/>
              <a:cs typeface="Aharoni" panose="02010803020104030203" pitchFamily="2" charset="-79"/>
            </a:endParaRPr>
          </a:p>
        </p:txBody>
      </p:sp>
      <p:graphicFrame>
        <p:nvGraphicFramePr>
          <p:cNvPr id="3" name="Table 2">
            <a:extLst>
              <a:ext uri="{FF2B5EF4-FFF2-40B4-BE49-F238E27FC236}">
                <a16:creationId xmlns:a16="http://schemas.microsoft.com/office/drawing/2014/main" id="{572EB89B-4419-4561-9160-D22227771E6B}"/>
              </a:ext>
            </a:extLst>
          </p:cNvPr>
          <p:cNvGraphicFramePr>
            <a:graphicFrameLocks noGrp="1"/>
          </p:cNvGraphicFramePr>
          <p:nvPr>
            <p:extLst>
              <p:ext uri="{D42A27DB-BD31-4B8C-83A1-F6EECF244321}">
                <p14:modId xmlns:p14="http://schemas.microsoft.com/office/powerpoint/2010/main" val="2364292451"/>
              </p:ext>
            </p:extLst>
          </p:nvPr>
        </p:nvGraphicFramePr>
        <p:xfrm>
          <a:off x="533400" y="1124742"/>
          <a:ext cx="11125200" cy="5344181"/>
        </p:xfrm>
        <a:graphic>
          <a:graphicData uri="http://schemas.openxmlformats.org/drawingml/2006/table">
            <a:tbl>
              <a:tblPr firstRow="1" bandRow="1">
                <a:tableStyleId>{5C22544A-7EE6-4342-B048-85BDC9FD1C3A}</a:tableStyleId>
              </a:tblPr>
              <a:tblGrid>
                <a:gridCol w="1995703">
                  <a:extLst>
                    <a:ext uri="{9D8B030D-6E8A-4147-A177-3AD203B41FA5}">
                      <a16:colId xmlns:a16="http://schemas.microsoft.com/office/drawing/2014/main" val="814446317"/>
                    </a:ext>
                  </a:extLst>
                </a:gridCol>
                <a:gridCol w="9129497">
                  <a:extLst>
                    <a:ext uri="{9D8B030D-6E8A-4147-A177-3AD203B41FA5}">
                      <a16:colId xmlns:a16="http://schemas.microsoft.com/office/drawing/2014/main" val="3020671031"/>
                    </a:ext>
                  </a:extLst>
                </a:gridCol>
              </a:tblGrid>
              <a:tr h="411524">
                <a:tc>
                  <a:txBody>
                    <a:bodyPr/>
                    <a:lstStyle/>
                    <a:p>
                      <a:r>
                        <a:rPr lang="en-CA" sz="1800" b="1" baseline="0" noProof="0">
                          <a:solidFill>
                            <a:schemeClr val="tx1"/>
                          </a:solidFill>
                          <a:latin typeface="+mj-lt"/>
                        </a:rPr>
                        <a:t>Architecture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b="1">
                          <a:solidFill>
                            <a:schemeClr val="tx1"/>
                          </a:solidFill>
                          <a:latin typeface="+mj-lt"/>
                        </a:rPr>
                        <a:t>Key elements and solutions for each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4307680"/>
                  </a:ext>
                </a:extLst>
              </a:tr>
              <a:tr h="1229037">
                <a:tc>
                  <a:txBody>
                    <a:bodyPr/>
                    <a:lstStyle/>
                    <a:p>
                      <a:r>
                        <a:rPr lang="en-US" sz="1800">
                          <a:solidFill>
                            <a:schemeClr val="tx1"/>
                          </a:solidFill>
                        </a:rPr>
                        <a:t>Business</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solidFill>
                            <a:schemeClr val="tx1"/>
                          </a:solidFill>
                        </a:rPr>
                        <a:t>Improved user experience</a:t>
                      </a:r>
                    </a:p>
                    <a:p>
                      <a:r>
                        <a:rPr lang="en-US" sz="1600">
                          <a:solidFill>
                            <a:schemeClr val="tx1"/>
                          </a:solidFill>
                        </a:rPr>
                        <a:t>Reduced cost of ownership</a:t>
                      </a:r>
                    </a:p>
                    <a:p>
                      <a:pPr marL="0" marR="0" lvl="0" indent="0" algn="l" defTabSz="914377" rtl="0" eaLnBrk="1" fontAlgn="auto" latinLnBrk="0" hangingPunct="1">
                        <a:lnSpc>
                          <a:spcPct val="100000"/>
                        </a:lnSpc>
                        <a:spcBef>
                          <a:spcPts val="0"/>
                        </a:spcBef>
                        <a:spcAft>
                          <a:spcPts val="0"/>
                        </a:spcAft>
                        <a:buClrTx/>
                        <a:buSzTx/>
                        <a:buFontTx/>
                        <a:buNone/>
                        <a:tabLst/>
                        <a:defRPr/>
                      </a:pPr>
                      <a:r>
                        <a:rPr lang="en-CA" sz="1600">
                          <a:solidFill>
                            <a:schemeClr val="tx1"/>
                          </a:solidFill>
                          <a:ea typeface="+mn-ea"/>
                        </a:rPr>
                        <a:t>Alignment with TBS Policy</a:t>
                      </a:r>
                    </a:p>
                    <a:p>
                      <a:pPr marL="0" marR="0" lvl="0" indent="0" algn="l" defTabSz="914377" rtl="0" eaLnBrk="1" fontAlgn="auto" latinLnBrk="0" hangingPunct="1">
                        <a:lnSpc>
                          <a:spcPct val="100000"/>
                        </a:lnSpc>
                        <a:spcBef>
                          <a:spcPts val="0"/>
                        </a:spcBef>
                        <a:spcAft>
                          <a:spcPts val="0"/>
                        </a:spcAft>
                        <a:buClrTx/>
                        <a:buSzTx/>
                        <a:buFontTx/>
                        <a:buNone/>
                        <a:tabLst/>
                        <a:defRPr/>
                      </a:pPr>
                      <a:r>
                        <a:rPr lang="en-CA" sz="1600">
                          <a:solidFill>
                            <a:schemeClr val="tx1"/>
                          </a:solidFill>
                          <a:ea typeface="+mn-ea"/>
                        </a:rPr>
                        <a:t>Legal position to meet recordkeeping obligations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335857"/>
                  </a:ext>
                </a:extLst>
              </a:tr>
              <a:tr h="925905">
                <a:tc>
                  <a:txBody>
                    <a:bodyPr/>
                    <a:lstStyle/>
                    <a:p>
                      <a:r>
                        <a:rPr lang="en-US" sz="1800">
                          <a:solidFill>
                            <a:schemeClr val="tx1"/>
                          </a:solidFill>
                        </a:rPr>
                        <a:t>Information</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CA" sz="1600">
                          <a:solidFill>
                            <a:schemeClr val="tx1"/>
                          </a:solidFill>
                          <a:ea typeface="+mn-ea"/>
                        </a:rPr>
                        <a:t>Centralized management of information assets for HC and PHAC with IA practices evolved from previous EDRM instances and new </a:t>
                      </a:r>
                      <a:r>
                        <a:rPr lang="en-CA" sz="1600" err="1">
                          <a:solidFill>
                            <a:schemeClr val="tx1"/>
                          </a:solidFill>
                          <a:ea typeface="+mn-ea"/>
                        </a:rPr>
                        <a:t>SStMI</a:t>
                      </a:r>
                      <a:r>
                        <a:rPr lang="en-CA" sz="1600">
                          <a:solidFill>
                            <a:schemeClr val="tx1"/>
                          </a:solidFill>
                          <a:ea typeface="+mn-ea"/>
                        </a:rPr>
                        <a:t>. Business enablement via off network/</a:t>
                      </a:r>
                      <a:r>
                        <a:rPr lang="en-CA" sz="1600" err="1">
                          <a:solidFill>
                            <a:schemeClr val="tx1"/>
                          </a:solidFill>
                          <a:ea typeface="+mn-ea"/>
                        </a:rPr>
                        <a:t>vpn</a:t>
                      </a:r>
                      <a:r>
                        <a:rPr lang="en-CA" sz="1600">
                          <a:solidFill>
                            <a:schemeClr val="tx1"/>
                          </a:solidFill>
                          <a:ea typeface="+mn-ea"/>
                        </a:rPr>
                        <a:t> access to information.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4668245"/>
                  </a:ext>
                </a:extLst>
              </a:tr>
              <a:tr h="925905">
                <a:tc>
                  <a:txBody>
                    <a:bodyPr/>
                    <a:lstStyle/>
                    <a:p>
                      <a:r>
                        <a:rPr lang="en-US" sz="1800">
                          <a:solidFill>
                            <a:schemeClr val="tx1"/>
                          </a:solidFill>
                        </a:rPr>
                        <a:t>Application</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1600">
                          <a:solidFill>
                            <a:schemeClr val="tx1"/>
                          </a:solidFill>
                          <a:ea typeface="+mn-ea"/>
                        </a:rPr>
                        <a:t>Cost savings related to reduction in number of existing </a:t>
                      </a:r>
                      <a:r>
                        <a:rPr lang="en-CA" sz="1600">
                          <a:solidFill>
                            <a:schemeClr val="tx1"/>
                          </a:solidFill>
                        </a:rPr>
                        <a:t>corporate repositories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20580"/>
                  </a:ext>
                </a:extLst>
              </a:tr>
              <a:tr h="925905">
                <a:tc>
                  <a:txBody>
                    <a:bodyPr/>
                    <a:lstStyle/>
                    <a:p>
                      <a:r>
                        <a:rPr lang="en-US" sz="1800">
                          <a:solidFill>
                            <a:schemeClr val="tx1"/>
                          </a:solidFill>
                        </a:rPr>
                        <a:t>Technology</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solidFill>
                            <a:schemeClr val="tx1"/>
                          </a:solidFill>
                        </a:rPr>
                        <a:t>Single cloud-based technology platform</a:t>
                      </a:r>
                      <a:endParaRPr lang="en-CA"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5237341"/>
                  </a:ext>
                </a:extLst>
              </a:tr>
              <a:tr h="925905">
                <a:tc>
                  <a:txBody>
                    <a:bodyPr/>
                    <a:lstStyle/>
                    <a:p>
                      <a:r>
                        <a:rPr lang="en-US" sz="1800">
                          <a:solidFill>
                            <a:schemeClr val="tx1"/>
                          </a:solidFill>
                        </a:rPr>
                        <a:t>Security</a:t>
                      </a:r>
                      <a:endParaRPr lang="en-CA" sz="18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aseline="0">
                          <a:solidFill>
                            <a:schemeClr val="tx1"/>
                          </a:solidFill>
                        </a:rPr>
                        <a:t>Using approved solutions and M365 ICAM and security features</a:t>
                      </a:r>
                      <a:endParaRPr lang="en-CA"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076862"/>
                  </a:ext>
                </a:extLst>
              </a:tr>
            </a:tbl>
          </a:graphicData>
        </a:graphic>
      </p:graphicFrame>
      <p:sp>
        <p:nvSpPr>
          <p:cNvPr id="12" name="Rectangle 11">
            <a:extLst>
              <a:ext uri="{FF2B5EF4-FFF2-40B4-BE49-F238E27FC236}">
                <a16:creationId xmlns:a16="http://schemas.microsoft.com/office/drawing/2014/main" id="{8CC66678-AA06-3309-D070-9C8A34DE3A8D}"/>
              </a:ext>
            </a:extLst>
          </p:cNvPr>
          <p:cNvSpPr/>
          <p:nvPr/>
        </p:nvSpPr>
        <p:spPr>
          <a:xfrm rot="19236687">
            <a:off x="3304923" y="2262092"/>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5" name="Slide Number Placeholder 4">
            <a:extLst>
              <a:ext uri="{FF2B5EF4-FFF2-40B4-BE49-F238E27FC236}">
                <a16:creationId xmlns:a16="http://schemas.microsoft.com/office/drawing/2014/main" id="{B897F936-BD72-3453-6FA9-F186ECF15278}"/>
              </a:ext>
            </a:extLst>
          </p:cNvPr>
          <p:cNvSpPr>
            <a:spLocks noGrp="1"/>
          </p:cNvSpPr>
          <p:nvPr>
            <p:ph type="sldNum" sz="quarter" idx="12"/>
          </p:nvPr>
        </p:nvSpPr>
        <p:spPr/>
        <p:txBody>
          <a:bodyPr/>
          <a:lstStyle/>
          <a:p>
            <a:fld id="{32D4B517-E49B-41B6-9DBC-23634E0F1CDC}" type="slidenum">
              <a:rPr lang="en-CA" smtClean="0"/>
              <a:pPr/>
              <a:t>16</a:t>
            </a:fld>
            <a:endParaRPr lang="en-CA"/>
          </a:p>
        </p:txBody>
      </p:sp>
      <p:sp>
        <p:nvSpPr>
          <p:cNvPr id="2" name="TextBox 1">
            <a:extLst>
              <a:ext uri="{FF2B5EF4-FFF2-40B4-BE49-F238E27FC236}">
                <a16:creationId xmlns:a16="http://schemas.microsoft.com/office/drawing/2014/main" id="{0129987A-428A-0621-AEB3-62AAD82557CE}"/>
              </a:ext>
            </a:extLst>
          </p:cNvPr>
          <p:cNvSpPr txBox="1"/>
          <p:nvPr/>
        </p:nvSpPr>
        <p:spPr>
          <a:xfrm>
            <a:off x="10272642" y="283824"/>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3622049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CA"/>
              <a:t>Consultations</a:t>
            </a:r>
            <a:endParaRPr lang="en-CA" sz="2200">
              <a:solidFill>
                <a:srgbClr val="FF0000"/>
              </a:solidFill>
            </a:endParaRPr>
          </a:p>
        </p:txBody>
      </p:sp>
      <p:sp>
        <p:nvSpPr>
          <p:cNvPr id="4" name="Espace réservé du numéro de diapositive 3"/>
          <p:cNvSpPr>
            <a:spLocks noGrp="1"/>
          </p:cNvSpPr>
          <p:nvPr>
            <p:ph type="sldNum" sz="quarter" idx="4"/>
          </p:nvPr>
        </p:nvSpPr>
        <p:spPr/>
        <p:txBody>
          <a:bodyPr/>
          <a:lstStyle/>
          <a:p>
            <a:fld id="{32D4B517-E49B-41B6-9DBC-23634E0F1CDC}" type="slidenum">
              <a:rPr lang="en-CA" smtClean="0"/>
              <a:pPr/>
              <a:t>17</a:t>
            </a:fld>
            <a:endParaRPr lang="en-CA"/>
          </a:p>
        </p:txBody>
      </p:sp>
      <p:graphicFrame>
        <p:nvGraphicFramePr>
          <p:cNvPr id="7" name="Table 6">
            <a:extLst>
              <a:ext uri="{FF2B5EF4-FFF2-40B4-BE49-F238E27FC236}">
                <a16:creationId xmlns:a16="http://schemas.microsoft.com/office/drawing/2014/main" id="{327B3F5E-D298-3717-55F7-67F8EB2BA987}"/>
              </a:ext>
            </a:extLst>
          </p:cNvPr>
          <p:cNvGraphicFramePr>
            <a:graphicFrameLocks noGrp="1"/>
          </p:cNvGraphicFramePr>
          <p:nvPr>
            <p:extLst>
              <p:ext uri="{D42A27DB-BD31-4B8C-83A1-F6EECF244321}">
                <p14:modId xmlns:p14="http://schemas.microsoft.com/office/powerpoint/2010/main" val="4025812804"/>
              </p:ext>
            </p:extLst>
          </p:nvPr>
        </p:nvGraphicFramePr>
        <p:xfrm>
          <a:off x="185803" y="1086443"/>
          <a:ext cx="11737304" cy="5003199"/>
        </p:xfrm>
        <a:graphic>
          <a:graphicData uri="http://schemas.openxmlformats.org/drawingml/2006/table">
            <a:tbl>
              <a:tblPr firstRow="1">
                <a:tableStyleId>{0505E3EF-67EA-436B-97B2-0124C06EBD24}</a:tableStyleId>
              </a:tblPr>
              <a:tblGrid>
                <a:gridCol w="3411639">
                  <a:extLst>
                    <a:ext uri="{9D8B030D-6E8A-4147-A177-3AD203B41FA5}">
                      <a16:colId xmlns:a16="http://schemas.microsoft.com/office/drawing/2014/main" val="2169452537"/>
                    </a:ext>
                  </a:extLst>
                </a:gridCol>
                <a:gridCol w="8325665">
                  <a:extLst>
                    <a:ext uri="{9D8B030D-6E8A-4147-A177-3AD203B41FA5}">
                      <a16:colId xmlns:a16="http://schemas.microsoft.com/office/drawing/2014/main" val="1647189242"/>
                    </a:ext>
                  </a:extLst>
                </a:gridCol>
              </a:tblGrid>
              <a:tr h="478483">
                <a:tc>
                  <a:txBody>
                    <a:bodyPr/>
                    <a:lstStyle/>
                    <a:p>
                      <a:pPr algn="ctr" fontAlgn="b"/>
                      <a:r>
                        <a:rPr lang="en-CA" sz="1400" b="1" u="none" strike="noStrike">
                          <a:solidFill>
                            <a:schemeClr val="tx1"/>
                          </a:solidFill>
                          <a:effectLst/>
                        </a:rPr>
                        <a:t>TEAM / ORGANIZATION </a:t>
                      </a:r>
                      <a:endParaRPr lang="en-CA" sz="1400" b="1" i="0" u="none" strike="noStrike">
                        <a:solidFill>
                          <a:schemeClr val="tx1"/>
                        </a:solidFill>
                        <a:effectLst/>
                        <a:latin typeface="Calibri" panose="020F0502020204030204" pitchFamily="34" charset="0"/>
                      </a:endParaRPr>
                    </a:p>
                  </a:txBody>
                  <a:tcPr marL="4763" marR="4763" marT="4763" marB="0" anchor="b">
                    <a:solidFill>
                      <a:srgbClr val="0070C0"/>
                    </a:solidFill>
                  </a:tcPr>
                </a:tc>
                <a:tc>
                  <a:txBody>
                    <a:bodyPr/>
                    <a:lstStyle/>
                    <a:p>
                      <a:pPr lvl="0" algn="ctr">
                        <a:buNone/>
                      </a:pPr>
                      <a:r>
                        <a:rPr lang="en-CA" sz="1400" b="1" i="0" u="none" strike="noStrike" noProof="0">
                          <a:solidFill>
                            <a:schemeClr val="tx1"/>
                          </a:solidFill>
                          <a:effectLst/>
                          <a:latin typeface="Calibri"/>
                        </a:rPr>
                        <a:t>RESULTS / OUTCOME</a:t>
                      </a:r>
                    </a:p>
                  </a:txBody>
                  <a:tcPr marL="4762" marR="4762" marT="4762" marB="0" anchor="b">
                    <a:solidFill>
                      <a:srgbClr val="0070C0"/>
                    </a:solidFill>
                  </a:tcPr>
                </a:tc>
                <a:extLst>
                  <a:ext uri="{0D108BD9-81ED-4DB2-BD59-A6C34878D82A}">
                    <a16:rowId xmlns:a16="http://schemas.microsoft.com/office/drawing/2014/main" val="4018695534"/>
                  </a:ext>
                </a:extLst>
              </a:tr>
              <a:tr h="2704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200" b="1" u="none" strike="noStrike">
                          <a:solidFill>
                            <a:schemeClr val="tx1"/>
                          </a:solidFill>
                          <a:effectLst/>
                          <a:hlinkClick r:id="rId3"/>
                        </a:rPr>
                        <a:t>Accessibility team </a:t>
                      </a:r>
                      <a:endParaRPr lang="en-CA" sz="1200" b="1" u="none" strike="noStrike">
                        <a:solidFill>
                          <a:schemeClr val="tx1"/>
                        </a:solidFill>
                        <a:effectLst/>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206883189"/>
                  </a:ext>
                </a:extLst>
              </a:tr>
              <a:tr h="228840">
                <a:tc>
                  <a:txBody>
                    <a:bodyPr/>
                    <a:lstStyle/>
                    <a:p>
                      <a:pPr algn="l" fontAlgn="b"/>
                      <a:r>
                        <a:rPr lang="en-CA" sz="1200" b="1" u="none" strike="noStrike">
                          <a:solidFill>
                            <a:schemeClr val="tx1"/>
                          </a:solidFill>
                          <a:effectLst/>
                          <a:hlinkClick r:id="rId4"/>
                        </a:rPr>
                        <a:t>Cloud team</a:t>
                      </a:r>
                      <a:endParaRPr lang="en-CA" sz="1200" b="1" u="none" strike="noStrike">
                        <a:solidFill>
                          <a:schemeClr val="tx1"/>
                        </a:solidFill>
                        <a:effectLst/>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3174059356"/>
                  </a:ext>
                </a:extLst>
              </a:tr>
              <a:tr h="228840">
                <a:tc>
                  <a:txBody>
                    <a:bodyPr/>
                    <a:lstStyle/>
                    <a:p>
                      <a:pPr algn="l" fontAlgn="b"/>
                      <a:r>
                        <a:rPr lang="en-CA" sz="1200" b="1" u="none" strike="noStrike">
                          <a:solidFill>
                            <a:schemeClr val="tx1"/>
                          </a:solidFill>
                          <a:effectLst/>
                          <a:hlinkClick r:id="rId5"/>
                        </a:rPr>
                        <a:t>DevOps team</a:t>
                      </a:r>
                      <a:endParaRPr lang="en-CA" sz="12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3163660198"/>
                  </a:ext>
                </a:extLst>
              </a:tr>
              <a:tr h="228840">
                <a:tc>
                  <a:txBody>
                    <a:bodyPr/>
                    <a:lstStyle/>
                    <a:p>
                      <a:pPr algn="l" fontAlgn="b"/>
                      <a:r>
                        <a:rPr lang="en-CA" sz="1200" b="1" i="0" u="none" strike="noStrike">
                          <a:solidFill>
                            <a:schemeClr val="tx1"/>
                          </a:solidFill>
                          <a:effectLst/>
                          <a:latin typeface="Calibri"/>
                          <a:hlinkClick r:id="rId6"/>
                        </a:rPr>
                        <a:t>Application Health (Tech Debt)</a:t>
                      </a:r>
                      <a:endParaRPr lang="en-CA" sz="1200" b="1" i="0" u="none" strike="noStrike">
                        <a:solidFill>
                          <a:schemeClr val="tx1"/>
                        </a:solidFill>
                        <a:effectLst/>
                        <a:latin typeface="Calibri"/>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3313132013"/>
                  </a:ext>
                </a:extLst>
              </a:tr>
              <a:tr h="270447">
                <a:tc>
                  <a:txBody>
                    <a:bodyPr/>
                    <a:lstStyle/>
                    <a:p>
                      <a:pPr algn="l" fontAlgn="b"/>
                      <a:r>
                        <a:rPr lang="en-CA" sz="1200" b="1" i="0" u="none" strike="noStrike">
                          <a:solidFill>
                            <a:schemeClr val="tx1"/>
                          </a:solidFill>
                          <a:effectLst/>
                          <a:latin typeface="Calibri"/>
                          <a:hlinkClick r:id="rId7"/>
                        </a:rPr>
                        <a:t>Enterprise Architecture</a:t>
                      </a:r>
                      <a:endParaRPr lang="en-CA" sz="1200" b="1" i="0" u="none" strike="noStrike">
                        <a:solidFill>
                          <a:schemeClr val="tx1"/>
                        </a:solidFill>
                        <a:effectLst/>
                        <a:latin typeface="Calibri"/>
                      </a:endParaRPr>
                    </a:p>
                  </a:txBody>
                  <a:tcPr marL="4763" marR="4763" marT="4763" marB="0" anchor="b">
                    <a:solidFill>
                      <a:schemeClr val="bg2"/>
                    </a:solidFill>
                  </a:tcPr>
                </a:tc>
                <a:tc>
                  <a:txBody>
                    <a:bodyPr/>
                    <a:lstStyle/>
                    <a:p>
                      <a:pPr lvl="0" algn="l">
                        <a:buNone/>
                      </a:pPr>
                      <a:endParaRPr lang="en-CA" sz="1100" b="0" i="0" u="none" strike="noStrike" kern="1200">
                        <a:solidFill>
                          <a:srgbClr val="000000"/>
                        </a:solidFill>
                        <a:effectLst/>
                        <a:latin typeface="Calibri"/>
                        <a:ea typeface="+mn-ea"/>
                        <a:cs typeface="+mn-cs"/>
                      </a:endParaRPr>
                    </a:p>
                  </a:txBody>
                  <a:tcPr marL="4762" marR="4762" marT="4762" marB="0" anchor="b">
                    <a:noFill/>
                  </a:tcPr>
                </a:tc>
                <a:extLst>
                  <a:ext uri="{0D108BD9-81ED-4DB2-BD59-A6C34878D82A}">
                    <a16:rowId xmlns:a16="http://schemas.microsoft.com/office/drawing/2014/main" val="337842048"/>
                  </a:ext>
                </a:extLst>
              </a:tr>
              <a:tr h="384867">
                <a:tc>
                  <a:txBody>
                    <a:bodyPr/>
                    <a:lstStyle/>
                    <a:p>
                      <a:pPr algn="l" fontAlgn="b"/>
                      <a:r>
                        <a:rPr lang="en-CA" sz="1100" b="1" u="none" strike="noStrike">
                          <a:solidFill>
                            <a:schemeClr val="tx1"/>
                          </a:solidFill>
                          <a:effectLst/>
                          <a:hlinkClick r:id="rId8"/>
                        </a:rPr>
                        <a:t>HC Chief Data Office </a:t>
                      </a:r>
                      <a:r>
                        <a:rPr lang="en-CA" sz="1100" b="1" u="none" strike="noStrike">
                          <a:solidFill>
                            <a:schemeClr val="tx1"/>
                          </a:solidFill>
                          <a:effectLst/>
                        </a:rPr>
                        <a:t>/ </a:t>
                      </a:r>
                      <a:r>
                        <a:rPr lang="en-CA" sz="1100" b="1" u="none" strike="noStrike">
                          <a:solidFill>
                            <a:schemeClr val="tx1"/>
                          </a:solidFill>
                          <a:effectLst/>
                          <a:hlinkClick r:id="rId9"/>
                        </a:rPr>
                        <a:t>PHAC Data </a:t>
                      </a:r>
                      <a:r>
                        <a:rPr lang="en-CA" sz="1100" b="1" u="none" strike="noStrike" err="1">
                          <a:solidFill>
                            <a:schemeClr val="tx1"/>
                          </a:solidFill>
                          <a:effectLst/>
                          <a:hlinkClick r:id="rId9"/>
                        </a:rPr>
                        <a:t>Mgmt</a:t>
                      </a:r>
                      <a:r>
                        <a:rPr lang="en-CA" sz="1100" b="1" u="none" strike="noStrike">
                          <a:solidFill>
                            <a:schemeClr val="tx1"/>
                          </a:solidFill>
                          <a:effectLst/>
                          <a:hlinkClick r:id="rId9"/>
                        </a:rPr>
                        <a:t> Innovation &amp; Analytics</a:t>
                      </a:r>
                      <a:endParaRPr lang="en-CA" sz="11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kern="1200">
                        <a:solidFill>
                          <a:srgbClr val="FF0000"/>
                        </a:solidFill>
                        <a:latin typeface="+mn-lt"/>
                        <a:ea typeface="+mn-ea"/>
                        <a:cs typeface="+mn-cs"/>
                      </a:endParaRPr>
                    </a:p>
                  </a:txBody>
                  <a:tcPr marL="4762" marR="4762" marT="4762" marB="0" anchor="b">
                    <a:noFill/>
                  </a:tcPr>
                </a:tc>
                <a:extLst>
                  <a:ext uri="{0D108BD9-81ED-4DB2-BD59-A6C34878D82A}">
                    <a16:rowId xmlns:a16="http://schemas.microsoft.com/office/drawing/2014/main" val="2221059945"/>
                  </a:ext>
                </a:extLst>
              </a:tr>
              <a:tr h="478483">
                <a:tc>
                  <a:txBody>
                    <a:bodyPr/>
                    <a:lstStyle/>
                    <a:p>
                      <a:pPr algn="l" fontAlgn="b"/>
                      <a:r>
                        <a:rPr lang="en-CA" sz="1200" b="1" u="none" strike="noStrike">
                          <a:solidFill>
                            <a:schemeClr val="tx1"/>
                          </a:solidFill>
                          <a:effectLst/>
                          <a:hlinkClick r:id="rId10"/>
                        </a:rPr>
                        <a:t>IM Ops, Tools and SharePoint</a:t>
                      </a:r>
                      <a:endParaRPr lang="en-CA" sz="1200" b="1" u="none" strike="noStrike">
                        <a:solidFill>
                          <a:schemeClr val="tx1"/>
                        </a:solidFill>
                        <a:effectLst/>
                      </a:endParaRPr>
                    </a:p>
                  </a:txBody>
                  <a:tcPr marL="4763" marR="4763" marT="4763" marB="0" anchor="b">
                    <a:solidFill>
                      <a:schemeClr val="bg2"/>
                    </a:solidFill>
                  </a:tcPr>
                </a:tc>
                <a:tc>
                  <a:txBody>
                    <a:bodyPr/>
                    <a:lstStyle/>
                    <a:p>
                      <a:r>
                        <a:rPr lang="en-CA" sz="1050" b="1" kern="1200">
                          <a:solidFill>
                            <a:srgbClr val="FF0000"/>
                          </a:solidFill>
                          <a:effectLst/>
                          <a:latin typeface="+mn-lt"/>
                          <a:ea typeface="+mn-ea"/>
                          <a:cs typeface="+mn-cs"/>
                        </a:rPr>
                        <a:t>To be completed before the ARB visit </a:t>
                      </a:r>
                      <a:r>
                        <a:rPr lang="en-CA" sz="1050" kern="1200">
                          <a:solidFill>
                            <a:schemeClr val="dk1"/>
                          </a:solidFill>
                          <a:effectLst/>
                          <a:latin typeface="+mn-lt"/>
                          <a:ea typeface="+mn-ea"/>
                          <a:cs typeface="+mn-cs"/>
                        </a:rPr>
                        <a:t>in alignment with the TBS </a:t>
                      </a:r>
                      <a:r>
                        <a:rPr lang="en-CA" sz="1050" u="sng" kern="1200">
                          <a:solidFill>
                            <a:schemeClr val="dk1"/>
                          </a:solidFill>
                          <a:effectLst/>
                          <a:latin typeface="+mn-lt"/>
                          <a:ea typeface="+mn-ea"/>
                          <a:cs typeface="+mn-cs"/>
                          <a:hlinkClick r:id="rId11"/>
                        </a:rPr>
                        <a:t>Policy on Service and Digital</a:t>
                      </a:r>
                      <a:r>
                        <a:rPr lang="en-CA" sz="1050" u="sng" kern="1200">
                          <a:solidFill>
                            <a:schemeClr val="dk1"/>
                          </a:solidFill>
                          <a:effectLst/>
                          <a:latin typeface="+mn-lt"/>
                          <a:ea typeface="+mn-ea"/>
                          <a:cs typeface="+mn-cs"/>
                        </a:rPr>
                        <a:t> and the </a:t>
                      </a:r>
                      <a:r>
                        <a:rPr lang="en-CA" sz="1050" u="sng" kern="1200">
                          <a:solidFill>
                            <a:schemeClr val="dk1"/>
                          </a:solidFill>
                          <a:effectLst/>
                          <a:latin typeface="+mn-lt"/>
                          <a:ea typeface="+mn-ea"/>
                          <a:cs typeface="+mn-cs"/>
                          <a:hlinkClick r:id="rId12"/>
                        </a:rPr>
                        <a:t>TBS Standard on Systems that Manage Information and Data</a:t>
                      </a:r>
                      <a:r>
                        <a:rPr lang="en-CA" sz="1050" kern="1200">
                          <a:solidFill>
                            <a:schemeClr val="dk1"/>
                          </a:solidFill>
                          <a:effectLst/>
                          <a:latin typeface="+mn-lt"/>
                          <a:ea typeface="+mn-ea"/>
                          <a:cs typeface="+mn-cs"/>
                        </a:rPr>
                        <a:t>.</a:t>
                      </a:r>
                      <a:r>
                        <a:rPr lang="en-CA" sz="1050" b="1" kern="1200">
                          <a:solidFill>
                            <a:schemeClr val="dk1"/>
                          </a:solidFill>
                          <a:effectLst/>
                          <a:latin typeface="+mn-lt"/>
                          <a:ea typeface="+mn-ea"/>
                          <a:cs typeface="+mn-cs"/>
                        </a:rPr>
                        <a:t>   </a:t>
                      </a:r>
                      <a:endParaRPr lang="en-CA" sz="1050" kern="1200">
                        <a:solidFill>
                          <a:schemeClr val="dk1"/>
                        </a:solidFill>
                        <a:effectLst/>
                        <a:latin typeface="+mn-lt"/>
                        <a:ea typeface="+mn-ea"/>
                        <a:cs typeface="+mn-cs"/>
                      </a:endParaRPr>
                    </a:p>
                    <a:p>
                      <a:r>
                        <a:rPr lang="en-CA" sz="1050" kern="1200">
                          <a:solidFill>
                            <a:schemeClr val="dk1"/>
                          </a:solidFill>
                          <a:effectLst/>
                          <a:latin typeface="+mn-lt"/>
                          <a:ea typeface="+mn-ea"/>
                          <a:cs typeface="+mn-cs"/>
                        </a:rPr>
                        <a:t>Artefact: </a:t>
                      </a:r>
                      <a:r>
                        <a:rPr lang="en-CA" sz="1050" b="1" u="sng" kern="1200">
                          <a:solidFill>
                            <a:schemeClr val="dk1"/>
                          </a:solidFill>
                          <a:effectLst/>
                          <a:latin typeface="+mn-lt"/>
                          <a:ea typeface="+mn-ea"/>
                          <a:cs typeface="+mn-cs"/>
                          <a:hlinkClick r:id="rId13" tooltip="https://jill.hc-sc.gc.ca/confluence/display/SDLC/Artefact+-+IM+Accountability+Profile"/>
                        </a:rPr>
                        <a:t>IM Accountability Profile</a:t>
                      </a:r>
                      <a:r>
                        <a:rPr lang="en-CA" sz="1050" kern="1200">
                          <a:solidFill>
                            <a:schemeClr val="dk1"/>
                          </a:solidFill>
                          <a:effectLst/>
                          <a:latin typeface="+mn-lt"/>
                          <a:ea typeface="+mn-ea"/>
                          <a:cs typeface="+mn-cs"/>
                        </a:rPr>
                        <a:t> (IMAP) and Information Architecture slides in the Appendix. </a:t>
                      </a:r>
                    </a:p>
                    <a:p>
                      <a:pPr lvl="0"/>
                      <a:r>
                        <a:rPr lang="en-CA" sz="1050" kern="1200">
                          <a:solidFill>
                            <a:schemeClr val="dk1"/>
                          </a:solidFill>
                          <a:effectLst/>
                          <a:latin typeface="+mn-lt"/>
                          <a:ea typeface="+mn-ea"/>
                          <a:cs typeface="+mn-cs"/>
                          <a:sym typeface="Wingdings" panose="05000000000000000000" pitchFamily="2" charset="2"/>
                        </a:rPr>
                        <a:t>  </a:t>
                      </a:r>
                      <a:r>
                        <a:rPr lang="en-CA" sz="1050" kern="1200">
                          <a:solidFill>
                            <a:schemeClr val="dk1"/>
                          </a:solidFill>
                          <a:effectLst/>
                          <a:latin typeface="+mn-lt"/>
                          <a:ea typeface="+mn-ea"/>
                          <a:cs typeface="+mn-cs"/>
                        </a:rPr>
                        <a:t>Please engage your </a:t>
                      </a:r>
                      <a:r>
                        <a:rPr lang="en-CA" sz="1050" u="sng" kern="1200">
                          <a:solidFill>
                            <a:schemeClr val="dk1"/>
                          </a:solidFill>
                          <a:effectLst/>
                          <a:latin typeface="+mn-lt"/>
                          <a:ea typeface="+mn-ea"/>
                          <a:cs typeface="+mn-cs"/>
                          <a:hlinkClick r:id="rId14" tooltip="https://mysource.hc-sc.gc.ca/en/ss/programs-and-services/digital-transformation/information-management/contact-us-information"/>
                        </a:rPr>
                        <a:t>Information Management Advisor</a:t>
                      </a:r>
                      <a:r>
                        <a:rPr lang="en-CA" sz="1050" kern="1200">
                          <a:solidFill>
                            <a:schemeClr val="dk1"/>
                          </a:solidFill>
                          <a:effectLst/>
                          <a:latin typeface="+mn-lt"/>
                          <a:ea typeface="+mn-ea"/>
                          <a:cs typeface="+mn-cs"/>
                        </a:rPr>
                        <a:t> to support and assist.</a:t>
                      </a:r>
                    </a:p>
                  </a:txBody>
                  <a:tcPr marL="4762" marR="4762" marT="4762" marB="0" anchor="b">
                    <a:noFill/>
                  </a:tcPr>
                </a:tc>
                <a:extLst>
                  <a:ext uri="{0D108BD9-81ED-4DB2-BD59-A6C34878D82A}">
                    <a16:rowId xmlns:a16="http://schemas.microsoft.com/office/drawing/2014/main" val="2873148297"/>
                  </a:ext>
                </a:extLst>
              </a:tr>
              <a:tr h="270447">
                <a:tc>
                  <a:txBody>
                    <a:bodyPr/>
                    <a:lstStyle/>
                    <a:p>
                      <a:pPr algn="l" fontAlgn="b"/>
                      <a:r>
                        <a:rPr lang="en-CA" sz="1200" b="1" u="none" strike="noStrike">
                          <a:solidFill>
                            <a:schemeClr val="tx1"/>
                          </a:solidFill>
                          <a:effectLst/>
                          <a:hlinkClick r:id="rId15"/>
                        </a:rPr>
                        <a:t>IT Security </a:t>
                      </a:r>
                      <a:endParaRPr lang="en-CA" sz="12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1231550882"/>
                  </a:ext>
                </a:extLst>
              </a:tr>
              <a:tr h="228840">
                <a:tc>
                  <a:txBody>
                    <a:bodyPr/>
                    <a:lstStyle/>
                    <a:p>
                      <a:pPr algn="l" fontAlgn="b"/>
                      <a:r>
                        <a:rPr lang="en-CA" sz="1200" b="1" i="0" u="none" strike="noStrike">
                          <a:solidFill>
                            <a:schemeClr val="tx1"/>
                          </a:solidFill>
                          <a:effectLst/>
                          <a:latin typeface="Calibri"/>
                        </a:rPr>
                        <a:t>IT Service Delivery</a:t>
                      </a: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1824484268"/>
                  </a:ext>
                </a:extLst>
              </a:tr>
              <a:tr h="468081">
                <a:tc>
                  <a:txBody>
                    <a:bodyPr/>
                    <a:lstStyle/>
                    <a:p>
                      <a:pPr algn="l" fontAlgn="b"/>
                      <a:r>
                        <a:rPr lang="en-CA" sz="1200" b="1" u="none" strike="noStrike">
                          <a:solidFill>
                            <a:schemeClr val="tx1"/>
                          </a:solidFill>
                          <a:effectLst/>
                          <a:hlinkClick r:id="rId16"/>
                        </a:rPr>
                        <a:t>M365 team including SharePoint as an App repository</a:t>
                      </a:r>
                      <a:endParaRPr lang="en-CA" sz="12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pl-PL"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23826302"/>
                  </a:ext>
                </a:extLst>
              </a:tr>
              <a:tr h="208036">
                <a:tc>
                  <a:txBody>
                    <a:bodyPr/>
                    <a:lstStyle/>
                    <a:p>
                      <a:pPr algn="l" fontAlgn="b"/>
                      <a:r>
                        <a:rPr lang="en-CA" sz="1200" b="1" u="none" strike="noStrike">
                          <a:solidFill>
                            <a:schemeClr val="tx1"/>
                          </a:solidFill>
                          <a:effectLst/>
                          <a:hlinkClick r:id="rId17"/>
                        </a:rPr>
                        <a:t>Other Government Departments</a:t>
                      </a:r>
                      <a:endParaRPr lang="en-CA" sz="12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2861655968"/>
                  </a:ext>
                </a:extLst>
              </a:tr>
              <a:tr h="239241">
                <a:tc>
                  <a:txBody>
                    <a:bodyPr/>
                    <a:lstStyle/>
                    <a:p>
                      <a:pPr algn="l" fontAlgn="b"/>
                      <a:r>
                        <a:rPr lang="en-CA" sz="1200" b="1" u="none" strike="noStrike">
                          <a:solidFill>
                            <a:schemeClr val="tx1"/>
                          </a:solidFill>
                          <a:effectLst/>
                          <a:hlinkClick r:id="rId18"/>
                        </a:rPr>
                        <a:t>Product Development/</a:t>
                      </a:r>
                      <a:r>
                        <a:rPr lang="en-CA" sz="1200" b="1" u="none" strike="noStrike" err="1">
                          <a:solidFill>
                            <a:schemeClr val="tx1"/>
                          </a:solidFill>
                          <a:effectLst/>
                          <a:hlinkClick r:id="rId18"/>
                        </a:rPr>
                        <a:t>CoE</a:t>
                      </a:r>
                      <a:endParaRPr lang="en-CA" sz="12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988353995"/>
                  </a:ext>
                </a:extLst>
              </a:tr>
              <a:tr h="260045">
                <a:tc>
                  <a:txBody>
                    <a:bodyPr/>
                    <a:lstStyle/>
                    <a:p>
                      <a:pPr algn="l" fontAlgn="b"/>
                      <a:r>
                        <a:rPr lang="en-CA" sz="1200" b="1" u="none" strike="noStrike">
                          <a:solidFill>
                            <a:schemeClr val="tx1"/>
                          </a:solidFill>
                          <a:effectLst/>
                          <a:hlinkClick r:id="rId19"/>
                        </a:rPr>
                        <a:t>SSC (via SSM)</a:t>
                      </a:r>
                      <a:endParaRPr lang="en-CA" sz="1200" b="1" i="0" u="none" strike="noStrike">
                        <a:solidFill>
                          <a:schemeClr val="tx1"/>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en-CA"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2767711160"/>
                  </a:ext>
                </a:extLst>
              </a:tr>
              <a:tr h="228840">
                <a:tc>
                  <a:txBody>
                    <a:bodyPr/>
                    <a:lstStyle/>
                    <a:p>
                      <a:pPr algn="l" fontAlgn="b"/>
                      <a:r>
                        <a:rPr lang="en-CA" sz="1200" b="1" u="none" strike="noStrike">
                          <a:effectLst/>
                          <a:hlinkClick r:id="rId20"/>
                        </a:rPr>
                        <a:t>Technology Portfolio Office / EA</a:t>
                      </a:r>
                      <a:endParaRPr lang="en-CA" sz="1200" b="1" i="0" u="none" strike="noStrike">
                        <a:solidFill>
                          <a:srgbClr val="000000"/>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fr-FR"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944838292"/>
                  </a:ext>
                </a:extLst>
              </a:tr>
              <a:tr h="364063">
                <a:tc>
                  <a:txBody>
                    <a:bodyPr/>
                    <a:lstStyle/>
                    <a:p>
                      <a:pPr algn="l" fontAlgn="b"/>
                      <a:r>
                        <a:rPr lang="en-CA" sz="1200" b="1" i="0" u="none" strike="noStrike">
                          <a:solidFill>
                            <a:srgbClr val="000000"/>
                          </a:solidFill>
                          <a:effectLst/>
                          <a:latin typeface="Calibri"/>
                        </a:rPr>
                        <a:t>  Other</a:t>
                      </a:r>
                      <a:endParaRPr lang="en-CA" sz="1200" b="1" i="0" u="none" strike="noStrike">
                        <a:solidFill>
                          <a:srgbClr val="000000"/>
                        </a:solidFill>
                        <a:effectLst/>
                        <a:latin typeface="Calibri" panose="020F0502020204030204" pitchFamily="34" charset="0"/>
                      </a:endParaRPr>
                    </a:p>
                  </a:txBody>
                  <a:tcPr marL="4763" marR="4763" marT="4763" marB="0" anchor="b">
                    <a:solidFill>
                      <a:schemeClr val="bg2"/>
                    </a:solidFill>
                  </a:tcPr>
                </a:tc>
                <a:tc>
                  <a:txBody>
                    <a:bodyPr/>
                    <a:lstStyle/>
                    <a:p>
                      <a:pPr lvl="0" algn="l">
                        <a:buNone/>
                      </a:pPr>
                      <a:endParaRPr lang="fr-FR" sz="1100" b="0" i="0" u="none" strike="noStrike">
                        <a:solidFill>
                          <a:srgbClr val="000000"/>
                        </a:solidFill>
                        <a:effectLst/>
                        <a:latin typeface="Calibri"/>
                      </a:endParaRPr>
                    </a:p>
                  </a:txBody>
                  <a:tcPr marL="4762" marR="4762" marT="4762" marB="0" anchor="b">
                    <a:noFill/>
                  </a:tcPr>
                </a:tc>
                <a:extLst>
                  <a:ext uri="{0D108BD9-81ED-4DB2-BD59-A6C34878D82A}">
                    <a16:rowId xmlns:a16="http://schemas.microsoft.com/office/drawing/2014/main" val="2667286441"/>
                  </a:ext>
                </a:extLst>
              </a:tr>
            </a:tbl>
          </a:graphicData>
        </a:graphic>
      </p:graphicFrame>
      <p:sp>
        <p:nvSpPr>
          <p:cNvPr id="3" name="TextBox 2">
            <a:extLst>
              <a:ext uri="{FF2B5EF4-FFF2-40B4-BE49-F238E27FC236}">
                <a16:creationId xmlns:a16="http://schemas.microsoft.com/office/drawing/2014/main" id="{BE2DF4D0-93AA-DD8B-5BFD-522110949806}"/>
              </a:ext>
            </a:extLst>
          </p:cNvPr>
          <p:cNvSpPr txBox="1"/>
          <p:nvPr/>
        </p:nvSpPr>
        <p:spPr>
          <a:xfrm>
            <a:off x="10344472" y="418931"/>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defRPr sz="1400">
                <a:solidFill>
                  <a:srgbClr val="FF0000"/>
                </a:solidFill>
                <a:cs typeface="Calibri"/>
              </a:defRPr>
            </a:lvl1pPr>
          </a:lstStyle>
          <a:p>
            <a:pPr algn="r"/>
            <a:r>
              <a:rPr lang="en-US">
                <a:solidFill>
                  <a:schemeClr val="bg1">
                    <a:lumMod val="50000"/>
                  </a:schemeClr>
                </a:solidFill>
              </a:rPr>
              <a:t>ARB</a:t>
            </a:r>
          </a:p>
          <a:p>
            <a:pPr algn="r"/>
            <a:r>
              <a:rPr lang="en-US">
                <a:solidFill>
                  <a:schemeClr val="bg1">
                    <a:lumMod val="50000"/>
                  </a:schemeClr>
                </a:solidFill>
              </a:rPr>
              <a:t>Gate 0 &amp; Gate 2</a:t>
            </a:r>
          </a:p>
        </p:txBody>
      </p:sp>
    </p:spTree>
    <p:extLst>
      <p:ext uri="{BB962C8B-B14F-4D97-AF65-F5344CB8AC3E}">
        <p14:creationId xmlns:p14="http://schemas.microsoft.com/office/powerpoint/2010/main" val="2062225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226691423"/>
              </p:ext>
            </p:extLst>
          </p:nvPr>
        </p:nvGraphicFramePr>
        <p:xfrm>
          <a:off x="616220" y="980728"/>
          <a:ext cx="10891337" cy="3779520"/>
        </p:xfrm>
        <a:graphic>
          <a:graphicData uri="http://schemas.openxmlformats.org/drawingml/2006/table">
            <a:tbl>
              <a:tblPr firstRow="1" bandRow="1">
                <a:tableStyleId>{5C22544A-7EE6-4342-B048-85BDC9FD1C3A}</a:tableStyleId>
              </a:tblPr>
              <a:tblGrid>
                <a:gridCol w="5274714">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1116124">
                  <a:extLst>
                    <a:ext uri="{9D8B030D-6E8A-4147-A177-3AD203B41FA5}">
                      <a16:colId xmlns:a16="http://schemas.microsoft.com/office/drawing/2014/main" val="20003"/>
                    </a:ext>
                  </a:extLst>
                </a:gridCol>
                <a:gridCol w="1152128">
                  <a:extLst>
                    <a:ext uri="{9D8B030D-6E8A-4147-A177-3AD203B41FA5}">
                      <a16:colId xmlns:a16="http://schemas.microsoft.com/office/drawing/2014/main" val="2860303003"/>
                    </a:ext>
                  </a:extLst>
                </a:gridCol>
                <a:gridCol w="1116123">
                  <a:extLst>
                    <a:ext uri="{9D8B030D-6E8A-4147-A177-3AD203B41FA5}">
                      <a16:colId xmlns:a16="http://schemas.microsoft.com/office/drawing/2014/main" val="2231848388"/>
                    </a:ext>
                  </a:extLst>
                </a:gridCol>
              </a:tblGrid>
              <a:tr h="730855">
                <a:tc>
                  <a:txBody>
                    <a:bodyPr/>
                    <a:lstStyle/>
                    <a:p>
                      <a:pPr algn="r"/>
                      <a:r>
                        <a:rPr lang="en-CA" sz="1400"/>
                        <a:t>			Solution Options:</a:t>
                      </a:r>
                    </a:p>
                    <a:p>
                      <a:endParaRPr lang="en-CA" sz="1400"/>
                    </a:p>
                    <a:p>
                      <a:r>
                        <a:rPr lang="en-CA" sz="1400"/>
                        <a:t>Evaluation Criteria:</a:t>
                      </a:r>
                    </a:p>
                  </a:txBody>
                  <a:tcPr/>
                </a:tc>
                <a:tc>
                  <a:txBody>
                    <a:bodyPr/>
                    <a:lstStyle/>
                    <a:p>
                      <a:pPr algn="ctr"/>
                      <a:r>
                        <a:rPr lang="en-CA" sz="1400"/>
                        <a:t>1</a:t>
                      </a:r>
                    </a:p>
                    <a:p>
                      <a:pPr algn="ctr"/>
                      <a:r>
                        <a:rPr lang="en-CA" sz="1400"/>
                        <a:t>ePost Connect</a:t>
                      </a:r>
                    </a:p>
                  </a:txBody>
                  <a:tcPr/>
                </a:tc>
                <a:tc>
                  <a:txBody>
                    <a:bodyPr/>
                    <a:lstStyle/>
                    <a:p>
                      <a:pPr algn="ctr"/>
                      <a:r>
                        <a:rPr lang="en-CA" sz="1400"/>
                        <a:t>2</a:t>
                      </a:r>
                    </a:p>
                    <a:p>
                      <a:pPr algn="ctr"/>
                      <a:r>
                        <a:rPr lang="en-CA" sz="1400"/>
                        <a:t>LiquidFiles (on-prem)</a:t>
                      </a:r>
                    </a:p>
                  </a:txBody>
                  <a:tcPr/>
                </a:tc>
                <a:tc>
                  <a:txBody>
                    <a:bodyPr/>
                    <a:lstStyle/>
                    <a:p>
                      <a:pPr algn="ctr"/>
                      <a:r>
                        <a:rPr lang="en-CA" sz="1400"/>
                        <a:t>3</a:t>
                      </a:r>
                    </a:p>
                    <a:p>
                      <a:pPr algn="ctr"/>
                      <a:r>
                        <a:rPr lang="en-CA" sz="1400"/>
                        <a:t>LiquidFiles</a:t>
                      </a:r>
                    </a:p>
                    <a:p>
                      <a:pPr algn="ctr"/>
                      <a:r>
                        <a:rPr lang="en-CA" sz="1400"/>
                        <a:t>(Cloud)</a:t>
                      </a:r>
                    </a:p>
                  </a:txBody>
                  <a:tcPr/>
                </a:tc>
                <a:tc>
                  <a:txBody>
                    <a:bodyPr/>
                    <a:lstStyle/>
                    <a:p>
                      <a:pPr algn="ctr"/>
                      <a:r>
                        <a:rPr lang="en-CA" sz="1400"/>
                        <a:t>4</a:t>
                      </a:r>
                    </a:p>
                    <a:p>
                      <a:pPr algn="ctr"/>
                      <a:r>
                        <a:rPr lang="en-CA" sz="1400"/>
                        <a:t>SharePoint OneDrive</a:t>
                      </a:r>
                    </a:p>
                  </a:txBody>
                  <a:tcPr/>
                </a:tc>
                <a:tc>
                  <a:txBody>
                    <a:bodyPr/>
                    <a:lstStyle/>
                    <a:p>
                      <a:pPr algn="ctr"/>
                      <a:r>
                        <a:rPr lang="en-CA" sz="1400"/>
                        <a:t>5</a:t>
                      </a:r>
                    </a:p>
                    <a:p>
                      <a:pPr algn="ctr"/>
                      <a:r>
                        <a:rPr lang="en-CA" sz="1400"/>
                        <a:t>Azure Blob Storage</a:t>
                      </a:r>
                    </a:p>
                  </a:txBody>
                  <a:tcPr/>
                </a:tc>
                <a:extLst>
                  <a:ext uri="{0D108BD9-81ED-4DB2-BD59-A6C34878D82A}">
                    <a16:rowId xmlns:a16="http://schemas.microsoft.com/office/drawing/2014/main" val="10000"/>
                  </a:ext>
                </a:extLst>
              </a:tr>
              <a:tr h="297756">
                <a:tc>
                  <a:txBody>
                    <a:bodyPr/>
                    <a:lstStyle/>
                    <a:p>
                      <a:r>
                        <a:rPr lang="en-CA" sz="1400" b="0"/>
                        <a:t>Enterprise and GC Architecture Fit</a:t>
                      </a:r>
                    </a:p>
                  </a:txBody>
                  <a:tcPr/>
                </a:tc>
                <a:tc>
                  <a:txBody>
                    <a:bodyPr/>
                    <a:lstStyle/>
                    <a:p>
                      <a:pPr algn="ctr"/>
                      <a:r>
                        <a:rPr lang="en-CA" sz="1400" b="0" i="0" u="none" strike="noStrike" kern="1200" baseline="0">
                          <a:solidFill>
                            <a:schemeClr val="dk1"/>
                          </a:solidFill>
                          <a:latin typeface="+mn-lt"/>
                          <a:ea typeface="+mn-ea"/>
                          <a:cs typeface="+mn-cs"/>
                        </a:rPr>
                        <a:t>3</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t>2</a:t>
                      </a:r>
                    </a:p>
                  </a:txBody>
                  <a:tcPr/>
                </a:tc>
                <a:extLst>
                  <a:ext uri="{0D108BD9-81ED-4DB2-BD59-A6C34878D82A}">
                    <a16:rowId xmlns:a16="http://schemas.microsoft.com/office/drawing/2014/main" val="10001"/>
                  </a:ext>
                </a:extLst>
              </a:tr>
              <a:tr h="297756">
                <a:tc>
                  <a:txBody>
                    <a:bodyPr/>
                    <a:lstStyle/>
                    <a:p>
                      <a:r>
                        <a:rPr lang="en-CA" sz="1400"/>
                        <a:t>Key Feature Support</a:t>
                      </a:r>
                    </a:p>
                  </a:txBody>
                  <a:tcPr/>
                </a:tc>
                <a:tc>
                  <a:txBody>
                    <a:bodyPr/>
                    <a:lstStyle/>
                    <a:p>
                      <a:pPr algn="ctr"/>
                      <a:r>
                        <a:rPr lang="en-CA" sz="1400">
                          <a:solidFill>
                            <a:schemeClr val="accent5">
                              <a:lumMod val="75000"/>
                            </a:schemeClr>
                          </a:solidFill>
                        </a:rPr>
                        <a:t>X</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solidFill>
                            <a:schemeClr val="accent5">
                              <a:lumMod val="75000"/>
                            </a:schemeClr>
                          </a:solidFill>
                        </a:rPr>
                        <a:t>X</a:t>
                      </a:r>
                    </a:p>
                  </a:txBody>
                  <a:tcPr/>
                </a:tc>
                <a:tc>
                  <a:txBody>
                    <a:bodyPr/>
                    <a:lstStyle/>
                    <a:p>
                      <a:pPr algn="ctr"/>
                      <a:r>
                        <a:rPr lang="en-CA" sz="1400"/>
                        <a:t>4</a:t>
                      </a:r>
                    </a:p>
                  </a:txBody>
                  <a:tcPr/>
                </a:tc>
                <a:extLst>
                  <a:ext uri="{0D108BD9-81ED-4DB2-BD59-A6C34878D82A}">
                    <a16:rowId xmlns:a16="http://schemas.microsoft.com/office/drawing/2014/main" val="10002"/>
                  </a:ext>
                </a:extLst>
              </a:tr>
              <a:tr h="297756">
                <a:tc>
                  <a:txBody>
                    <a:bodyPr/>
                    <a:lstStyle/>
                    <a:p>
                      <a:r>
                        <a:rPr lang="en-CA" sz="1400"/>
                        <a:t>User Experience</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t>3</a:t>
                      </a:r>
                    </a:p>
                  </a:txBody>
                  <a:tcPr/>
                </a:tc>
                <a:extLst>
                  <a:ext uri="{0D108BD9-81ED-4DB2-BD59-A6C34878D82A}">
                    <a16:rowId xmlns:a16="http://schemas.microsoft.com/office/drawing/2014/main" val="10003"/>
                  </a:ext>
                </a:extLst>
              </a:tr>
              <a:tr h="297756">
                <a:tc>
                  <a:txBody>
                    <a:bodyPr/>
                    <a:lstStyle/>
                    <a:p>
                      <a:r>
                        <a:rPr lang="en-CA" sz="1400"/>
                        <a:t>Implementation Effort</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3</a:t>
                      </a:r>
                    </a:p>
                  </a:txBody>
                  <a:tcPr/>
                </a:tc>
                <a:tc>
                  <a:txBody>
                    <a:bodyPr/>
                    <a:lstStyle/>
                    <a:p>
                      <a:pPr algn="ctr"/>
                      <a:r>
                        <a:rPr lang="en-CA" sz="1400"/>
                        <a:t>3</a:t>
                      </a:r>
                    </a:p>
                  </a:txBody>
                  <a:tcPr/>
                </a:tc>
                <a:tc>
                  <a:txBody>
                    <a:bodyPr/>
                    <a:lstStyle/>
                    <a:p>
                      <a:pPr algn="ctr"/>
                      <a:r>
                        <a:rPr lang="en-CA" sz="1400"/>
                        <a:t>0</a:t>
                      </a:r>
                    </a:p>
                  </a:txBody>
                  <a:tcPr/>
                </a:tc>
                <a:extLst>
                  <a:ext uri="{0D108BD9-81ED-4DB2-BD59-A6C34878D82A}">
                    <a16:rowId xmlns:a16="http://schemas.microsoft.com/office/drawing/2014/main" val="897697282"/>
                  </a:ext>
                </a:extLst>
              </a:tr>
              <a:tr h="297756">
                <a:tc>
                  <a:txBody>
                    <a:bodyPr/>
                    <a:lstStyle/>
                    <a:p>
                      <a:r>
                        <a:rPr lang="en-CA" sz="1400"/>
                        <a:t>Scalability</a:t>
                      </a:r>
                    </a:p>
                  </a:txBody>
                  <a:tcPr/>
                </a:tc>
                <a:tc>
                  <a:txBody>
                    <a:bodyPr/>
                    <a:lstStyle/>
                    <a:p>
                      <a:pPr algn="ctr"/>
                      <a:r>
                        <a:rPr lang="en-CA" sz="1400"/>
                        <a:t>4</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t>4</a:t>
                      </a:r>
                    </a:p>
                  </a:txBody>
                  <a:tcPr/>
                </a:tc>
                <a:extLst>
                  <a:ext uri="{0D108BD9-81ED-4DB2-BD59-A6C34878D82A}">
                    <a16:rowId xmlns:a16="http://schemas.microsoft.com/office/drawing/2014/main" val="1484286667"/>
                  </a:ext>
                </a:extLst>
              </a:tr>
              <a:tr h="297756">
                <a:tc>
                  <a:txBody>
                    <a:bodyPr/>
                    <a:lstStyle/>
                    <a:p>
                      <a:r>
                        <a:rPr lang="en-CA" sz="1400"/>
                        <a:t>Security</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t>4</a:t>
                      </a:r>
                    </a:p>
                  </a:txBody>
                  <a:tcPr/>
                </a:tc>
                <a:tc>
                  <a:txBody>
                    <a:bodyPr/>
                    <a:lstStyle/>
                    <a:p>
                      <a:pPr algn="ctr"/>
                      <a:r>
                        <a:rPr lang="en-CA" sz="1400"/>
                        <a:t>4</a:t>
                      </a:r>
                    </a:p>
                  </a:txBody>
                  <a:tcPr/>
                </a:tc>
                <a:extLst>
                  <a:ext uri="{0D108BD9-81ED-4DB2-BD59-A6C34878D82A}">
                    <a16:rowId xmlns:a16="http://schemas.microsoft.com/office/drawing/2014/main" val="1367580810"/>
                  </a:ext>
                </a:extLst>
              </a:tr>
              <a:tr h="297756">
                <a:tc>
                  <a:txBody>
                    <a:bodyPr/>
                    <a:lstStyle/>
                    <a:p>
                      <a:r>
                        <a:rPr lang="en-CA" sz="1400"/>
                        <a:t>License and Security Costs</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3</a:t>
                      </a:r>
                    </a:p>
                  </a:txBody>
                  <a:tcPr/>
                </a:tc>
                <a:extLst>
                  <a:ext uri="{0D108BD9-81ED-4DB2-BD59-A6C34878D82A}">
                    <a16:rowId xmlns:a16="http://schemas.microsoft.com/office/drawing/2014/main" val="1724392284"/>
                  </a:ext>
                </a:extLst>
              </a:tr>
              <a:tr h="297756">
                <a:tc>
                  <a:txBody>
                    <a:bodyPr/>
                    <a:lstStyle/>
                    <a:p>
                      <a:r>
                        <a:rPr lang="en-CA" sz="1400"/>
                        <a:t>Long-term Viability</a:t>
                      </a:r>
                    </a:p>
                  </a:txBody>
                  <a:tcPr/>
                </a:tc>
                <a:tc>
                  <a:txBody>
                    <a:bodyPr/>
                    <a:lstStyle/>
                    <a:p>
                      <a:pPr algn="ctr"/>
                      <a:r>
                        <a:rPr lang="en-CA" sz="1400"/>
                        <a:t>3</a:t>
                      </a:r>
                    </a:p>
                  </a:txBody>
                  <a:tcPr/>
                </a:tc>
                <a:tc>
                  <a:txBody>
                    <a:bodyPr/>
                    <a:lstStyle/>
                    <a:p>
                      <a:pPr algn="ctr"/>
                      <a:r>
                        <a:rPr lang="en-CA" sz="1400"/>
                        <a:t>3</a:t>
                      </a:r>
                    </a:p>
                  </a:txBody>
                  <a:tcPr/>
                </a:tc>
                <a:tc>
                  <a:txBody>
                    <a:bodyPr/>
                    <a:lstStyle/>
                    <a:p>
                      <a:pPr algn="ctr"/>
                      <a:r>
                        <a:rPr lang="en-CA" sz="1400"/>
                        <a:t>3</a:t>
                      </a:r>
                    </a:p>
                  </a:txBody>
                  <a:tcPr/>
                </a:tc>
                <a:tc>
                  <a:txBody>
                    <a:bodyPr/>
                    <a:lstStyle/>
                    <a:p>
                      <a:pPr algn="ctr"/>
                      <a:r>
                        <a:rPr lang="en-CA" sz="1400"/>
                        <a:t>4</a:t>
                      </a:r>
                    </a:p>
                  </a:txBody>
                  <a:tcPr/>
                </a:tc>
                <a:tc>
                  <a:txBody>
                    <a:bodyPr/>
                    <a:lstStyle/>
                    <a:p>
                      <a:pPr algn="ctr"/>
                      <a:r>
                        <a:rPr lang="en-CA" sz="1400"/>
                        <a:t>3</a:t>
                      </a:r>
                    </a:p>
                  </a:txBody>
                  <a:tcPr/>
                </a:tc>
                <a:extLst>
                  <a:ext uri="{0D108BD9-81ED-4DB2-BD59-A6C34878D82A}">
                    <a16:rowId xmlns:a16="http://schemas.microsoft.com/office/drawing/2014/main" val="2882366761"/>
                  </a:ext>
                </a:extLst>
              </a:tr>
              <a:tr h="297756">
                <a:tc>
                  <a:txBody>
                    <a:bodyPr/>
                    <a:lstStyle/>
                    <a:p>
                      <a:r>
                        <a:rPr lang="en-CA" sz="1400" b="1"/>
                        <a:t>Total Score</a:t>
                      </a:r>
                    </a:p>
                  </a:txBody>
                  <a:tcPr/>
                </a:tc>
                <a:tc>
                  <a:txBody>
                    <a:bodyPr/>
                    <a:lstStyle/>
                    <a:p>
                      <a:pPr algn="ctr"/>
                      <a:r>
                        <a:rPr lang="en-CA" sz="1400" b="1">
                          <a:solidFill>
                            <a:schemeClr val="accent5">
                              <a:lumMod val="75000"/>
                            </a:schemeClr>
                          </a:solidFill>
                        </a:rPr>
                        <a:t>X</a:t>
                      </a:r>
                    </a:p>
                  </a:txBody>
                  <a:tcPr/>
                </a:tc>
                <a:tc>
                  <a:txBody>
                    <a:bodyPr/>
                    <a:lstStyle/>
                    <a:p>
                      <a:pPr algn="ctr"/>
                      <a:r>
                        <a:rPr lang="en-CA" sz="1400" b="1"/>
                        <a:t>29</a:t>
                      </a:r>
                    </a:p>
                  </a:txBody>
                  <a:tcPr/>
                </a:tc>
                <a:tc>
                  <a:txBody>
                    <a:bodyPr/>
                    <a:lstStyle/>
                    <a:p>
                      <a:pPr algn="ctr"/>
                      <a:r>
                        <a:rPr lang="en-CA" sz="1400" b="1"/>
                        <a:t>29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b="1">
                          <a:solidFill>
                            <a:schemeClr val="accent5">
                              <a:lumMod val="75000"/>
                            </a:schemeClr>
                          </a:solidFill>
                        </a:rPr>
                        <a:t>X</a:t>
                      </a:r>
                    </a:p>
                  </a:txBody>
                  <a:tcPr/>
                </a:tc>
                <a:tc>
                  <a:txBody>
                    <a:bodyPr/>
                    <a:lstStyle/>
                    <a:p>
                      <a:pPr algn="ctr"/>
                      <a:r>
                        <a:rPr lang="en-CA" sz="1400" b="1"/>
                        <a:t>23</a:t>
                      </a:r>
                    </a:p>
                  </a:txBody>
                  <a:tcPr/>
                </a:tc>
                <a:extLst>
                  <a:ext uri="{0D108BD9-81ED-4DB2-BD59-A6C34878D82A}">
                    <a16:rowId xmlns:a16="http://schemas.microsoft.com/office/drawing/2014/main" val="1591920958"/>
                  </a:ext>
                </a:extLst>
              </a:tr>
              <a:tr h="297756">
                <a:tc>
                  <a:txBody>
                    <a:bodyPr/>
                    <a:lstStyle/>
                    <a:p>
                      <a:pPr algn="r"/>
                      <a:r>
                        <a:rPr lang="en-CA" sz="1400" b="1"/>
                        <a:t>Recommended Option:</a:t>
                      </a:r>
                    </a:p>
                  </a:txBody>
                  <a:tcPr/>
                </a:tc>
                <a:tc>
                  <a:txBody>
                    <a:bodyPr/>
                    <a:lstStyle/>
                    <a:p>
                      <a:pPr algn="ctr"/>
                      <a:endParaRPr lang="en-CA" sz="1400" b="1"/>
                    </a:p>
                  </a:txBody>
                  <a:tcPr/>
                </a:tc>
                <a:tc>
                  <a:txBody>
                    <a:bodyPr/>
                    <a:lstStyle/>
                    <a:p>
                      <a:pPr algn="ctr"/>
                      <a:r>
                        <a:rPr lang="en-CA" sz="1400" b="1">
                          <a:solidFill>
                            <a:schemeClr val="accent5">
                              <a:lumMod val="75000"/>
                            </a:schemeClr>
                          </a:solidFill>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b="1">
                          <a:solidFill>
                            <a:schemeClr val="accent4">
                              <a:lumMod val="50000"/>
                            </a:schemeClr>
                          </a:solidFill>
                        </a:rPr>
                        <a:t>Yes</a:t>
                      </a:r>
                    </a:p>
                  </a:txBody>
                  <a:tcPr/>
                </a:tc>
                <a:tc>
                  <a:txBody>
                    <a:bodyPr/>
                    <a:lstStyle/>
                    <a:p>
                      <a:pPr algn="ctr"/>
                      <a:endParaRPr lang="en-CA" sz="1400" b="1"/>
                    </a:p>
                  </a:txBody>
                  <a:tcPr/>
                </a:tc>
                <a:tc>
                  <a:txBody>
                    <a:bodyPr/>
                    <a:lstStyle/>
                    <a:p>
                      <a:pPr algn="ctr"/>
                      <a:endParaRPr lang="en-CA" sz="1400" b="1"/>
                    </a:p>
                  </a:txBody>
                  <a:tcPr/>
                </a:tc>
                <a:extLst>
                  <a:ext uri="{0D108BD9-81ED-4DB2-BD59-A6C34878D82A}">
                    <a16:rowId xmlns:a16="http://schemas.microsoft.com/office/drawing/2014/main" val="1184011769"/>
                  </a:ext>
                </a:extLst>
              </a:tr>
            </a:tbl>
          </a:graphicData>
        </a:graphic>
      </p:graphicFrame>
      <p:sp>
        <p:nvSpPr>
          <p:cNvPr id="5" name="Title 4">
            <a:extLst>
              <a:ext uri="{FF2B5EF4-FFF2-40B4-BE49-F238E27FC236}">
                <a16:creationId xmlns:a16="http://schemas.microsoft.com/office/drawing/2014/main" id="{88A0C82F-4062-E296-5503-50E9C35B07C9}"/>
              </a:ext>
            </a:extLst>
          </p:cNvPr>
          <p:cNvSpPr>
            <a:spLocks noGrp="1"/>
          </p:cNvSpPr>
          <p:nvPr>
            <p:ph type="title"/>
          </p:nvPr>
        </p:nvSpPr>
        <p:spPr>
          <a:xfrm>
            <a:off x="616220" y="8620"/>
            <a:ext cx="9584236" cy="878670"/>
          </a:xfrm>
        </p:spPr>
        <p:txBody>
          <a:bodyPr/>
          <a:lstStyle/>
          <a:p>
            <a:r>
              <a:rPr lang="en-US"/>
              <a:t>Summary of architecture/solution options and evaluation results</a:t>
            </a:r>
          </a:p>
        </p:txBody>
      </p:sp>
      <p:cxnSp>
        <p:nvCxnSpPr>
          <p:cNvPr id="11" name="Straight Connector 10">
            <a:extLst>
              <a:ext uri="{FF2B5EF4-FFF2-40B4-BE49-F238E27FC236}">
                <a16:creationId xmlns:a16="http://schemas.microsoft.com/office/drawing/2014/main" id="{394E050C-0063-70CB-73FF-8902FE844D09}"/>
              </a:ext>
              <a:ext uri="{C183D7F6-B498-43B3-948B-1728B52AA6E4}">
                <adec:decorative xmlns:adec="http://schemas.microsoft.com/office/drawing/2017/decorative" val="1"/>
              </a:ext>
            </a:extLst>
          </p:cNvPr>
          <p:cNvCxnSpPr>
            <a:cxnSpLocks/>
          </p:cNvCxnSpPr>
          <p:nvPr/>
        </p:nvCxnSpPr>
        <p:spPr>
          <a:xfrm flipH="1" flipV="1">
            <a:off x="659396" y="1051942"/>
            <a:ext cx="5194176" cy="68487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A715DF0D-4218-415C-4192-9EC5188AF226}"/>
              </a:ext>
            </a:extLst>
          </p:cNvPr>
          <p:cNvGraphicFramePr>
            <a:graphicFrameLocks noGrp="1"/>
          </p:cNvGraphicFramePr>
          <p:nvPr>
            <p:extLst>
              <p:ext uri="{D42A27DB-BD31-4B8C-83A1-F6EECF244321}">
                <p14:modId xmlns:p14="http://schemas.microsoft.com/office/powerpoint/2010/main" val="1950977258"/>
              </p:ext>
            </p:extLst>
          </p:nvPr>
        </p:nvGraphicFramePr>
        <p:xfrm>
          <a:off x="616220" y="4855800"/>
          <a:ext cx="5940660" cy="1813560"/>
        </p:xfrm>
        <a:graphic>
          <a:graphicData uri="http://schemas.openxmlformats.org/drawingml/2006/table">
            <a:tbl>
              <a:tblPr firstRow="1" bandRow="1">
                <a:tableStyleId>{5C22544A-7EE6-4342-B048-85BDC9FD1C3A}</a:tableStyleId>
              </a:tblPr>
              <a:tblGrid>
                <a:gridCol w="608532">
                  <a:extLst>
                    <a:ext uri="{9D8B030D-6E8A-4147-A177-3AD203B41FA5}">
                      <a16:colId xmlns:a16="http://schemas.microsoft.com/office/drawing/2014/main" val="704701474"/>
                    </a:ext>
                  </a:extLst>
                </a:gridCol>
                <a:gridCol w="5332128">
                  <a:extLst>
                    <a:ext uri="{9D8B030D-6E8A-4147-A177-3AD203B41FA5}">
                      <a16:colId xmlns:a16="http://schemas.microsoft.com/office/drawing/2014/main" val="20000"/>
                    </a:ext>
                  </a:extLst>
                </a:gridCol>
              </a:tblGrid>
              <a:tr h="257171">
                <a:tc>
                  <a:txBody>
                    <a:bodyPr/>
                    <a:lstStyle/>
                    <a:p>
                      <a:pPr algn="ctr"/>
                      <a:r>
                        <a:rPr lang="en-CA" sz="1100"/>
                        <a:t>Rating</a:t>
                      </a:r>
                    </a:p>
                  </a:txBody>
                  <a:tcPr anchor="ctr"/>
                </a:tc>
                <a:tc>
                  <a:txBody>
                    <a:bodyPr/>
                    <a:lstStyle/>
                    <a:p>
                      <a:r>
                        <a:rPr lang="en-CA" sz="1100"/>
                        <a:t>Interpretation</a:t>
                      </a:r>
                    </a:p>
                  </a:txBody>
                  <a:tcPr/>
                </a:tc>
                <a:extLst>
                  <a:ext uri="{0D108BD9-81ED-4DB2-BD59-A6C34878D82A}">
                    <a16:rowId xmlns:a16="http://schemas.microsoft.com/office/drawing/2014/main" val="10000"/>
                  </a:ext>
                </a:extLst>
              </a:tr>
              <a:tr h="257171">
                <a:tc>
                  <a:txBody>
                    <a:bodyPr/>
                    <a:lstStyle/>
                    <a:p>
                      <a:pPr algn="ctr"/>
                      <a:r>
                        <a:rPr lang="en-CA" sz="1100" b="0"/>
                        <a:t>4</a:t>
                      </a:r>
                    </a:p>
                  </a:txBody>
                  <a:tcPr anchor="ctr"/>
                </a:tc>
                <a:tc>
                  <a:txBody>
                    <a:bodyPr/>
                    <a:lstStyle/>
                    <a:p>
                      <a:r>
                        <a:rPr lang="en-US" sz="1100"/>
                        <a:t>Fully – The option fully meets the expectations defined by the criterion.</a:t>
                      </a:r>
                      <a:endParaRPr lang="en-CA" sz="1100"/>
                    </a:p>
                  </a:txBody>
                  <a:tcPr/>
                </a:tc>
                <a:extLst>
                  <a:ext uri="{0D108BD9-81ED-4DB2-BD59-A6C34878D82A}">
                    <a16:rowId xmlns:a16="http://schemas.microsoft.com/office/drawing/2014/main" val="10001"/>
                  </a:ext>
                </a:extLst>
              </a:tr>
              <a:tr h="257171">
                <a:tc>
                  <a:txBody>
                    <a:bodyPr/>
                    <a:lstStyle/>
                    <a:p>
                      <a:pPr algn="ctr"/>
                      <a:r>
                        <a:rPr lang="en-CA" sz="1100"/>
                        <a:t>3</a:t>
                      </a:r>
                    </a:p>
                  </a:txBody>
                  <a:tcPr anchor="ctr"/>
                </a:tc>
                <a:tc>
                  <a:txBody>
                    <a:bodyPr/>
                    <a:lstStyle/>
                    <a:p>
                      <a:r>
                        <a:rPr lang="en-US" sz="1100"/>
                        <a:t>Mostly – The option almost completely meets the expectations defined by the criterion.</a:t>
                      </a:r>
                      <a:endParaRPr lang="en-CA" sz="1100"/>
                    </a:p>
                  </a:txBody>
                  <a:tcPr/>
                </a:tc>
                <a:extLst>
                  <a:ext uri="{0D108BD9-81ED-4DB2-BD59-A6C34878D82A}">
                    <a16:rowId xmlns:a16="http://schemas.microsoft.com/office/drawing/2014/main" val="10002"/>
                  </a:ext>
                </a:extLst>
              </a:tr>
              <a:tr h="257171">
                <a:tc>
                  <a:txBody>
                    <a:bodyPr/>
                    <a:lstStyle/>
                    <a:p>
                      <a:pPr algn="ctr"/>
                      <a:r>
                        <a:rPr lang="en-CA" sz="1100"/>
                        <a:t>2</a:t>
                      </a:r>
                    </a:p>
                  </a:txBody>
                  <a:tcPr anchor="ctr"/>
                </a:tc>
                <a:tc>
                  <a:txBody>
                    <a:bodyPr/>
                    <a:lstStyle/>
                    <a:p>
                      <a:r>
                        <a:rPr lang="en-US" sz="1100"/>
                        <a:t>Partially – The option only partially meets the expectations defined by the criterion.</a:t>
                      </a:r>
                      <a:endParaRPr lang="en-CA" sz="1100"/>
                    </a:p>
                  </a:txBody>
                  <a:tcPr/>
                </a:tc>
                <a:extLst>
                  <a:ext uri="{0D108BD9-81ED-4DB2-BD59-A6C34878D82A}">
                    <a16:rowId xmlns:a16="http://schemas.microsoft.com/office/drawing/2014/main" val="10003"/>
                  </a:ext>
                </a:extLst>
              </a:tr>
              <a:tr h="257171">
                <a:tc>
                  <a:txBody>
                    <a:bodyPr/>
                    <a:lstStyle/>
                    <a:p>
                      <a:pPr algn="ctr"/>
                      <a:r>
                        <a:rPr lang="en-CA" sz="1100"/>
                        <a:t>1</a:t>
                      </a:r>
                    </a:p>
                  </a:txBody>
                  <a:tcPr anchor="ctr"/>
                </a:tc>
                <a:tc>
                  <a:txBody>
                    <a:bodyPr/>
                    <a:lstStyle/>
                    <a:p>
                      <a:r>
                        <a:rPr lang="en-US" sz="1100"/>
                        <a:t>Poorly – The option does a poor job of meeting the expectations defined by the criterion.</a:t>
                      </a:r>
                      <a:endParaRPr lang="en-CA" sz="1100"/>
                    </a:p>
                  </a:txBody>
                  <a:tcPr/>
                </a:tc>
                <a:extLst>
                  <a:ext uri="{0D108BD9-81ED-4DB2-BD59-A6C34878D82A}">
                    <a16:rowId xmlns:a16="http://schemas.microsoft.com/office/drawing/2014/main" val="897697282"/>
                  </a:ext>
                </a:extLst>
              </a:tr>
              <a:tr h="257171">
                <a:tc>
                  <a:txBody>
                    <a:bodyPr/>
                    <a:lstStyle/>
                    <a:p>
                      <a:pPr algn="ctr"/>
                      <a:r>
                        <a:rPr lang="en-CA" sz="1100"/>
                        <a:t>0</a:t>
                      </a:r>
                    </a:p>
                  </a:txBody>
                  <a:tcPr anchor="ctr"/>
                </a:tc>
                <a:tc>
                  <a:txBody>
                    <a:bodyPr/>
                    <a:lstStyle/>
                    <a:p>
                      <a:r>
                        <a:rPr lang="en-US" sz="1100"/>
                        <a:t>None – The option does not meet the expectations defined by the criterion. </a:t>
                      </a:r>
                      <a:endParaRPr lang="en-CA" sz="1100"/>
                    </a:p>
                  </a:txBody>
                  <a:tcPr/>
                </a:tc>
                <a:extLst>
                  <a:ext uri="{0D108BD9-81ED-4DB2-BD59-A6C34878D82A}">
                    <a16:rowId xmlns:a16="http://schemas.microsoft.com/office/drawing/2014/main" val="1484286667"/>
                  </a:ext>
                </a:extLst>
              </a:tr>
              <a:tr h="257171">
                <a:tc>
                  <a:txBody>
                    <a:bodyPr/>
                    <a:lstStyle/>
                    <a:p>
                      <a:pPr algn="ctr"/>
                      <a:r>
                        <a:rPr lang="en-CA" sz="1100"/>
                        <a:t>X</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Non-Compliant – The option is non-compliant regarding a given mandatory criterion. </a:t>
                      </a:r>
                      <a:endParaRPr lang="en-CA" sz="1100"/>
                    </a:p>
                  </a:txBody>
                  <a:tcPr/>
                </a:tc>
                <a:extLst>
                  <a:ext uri="{0D108BD9-81ED-4DB2-BD59-A6C34878D82A}">
                    <a16:rowId xmlns:a16="http://schemas.microsoft.com/office/drawing/2014/main" val="1367580810"/>
                  </a:ext>
                </a:extLst>
              </a:tr>
            </a:tbl>
          </a:graphicData>
        </a:graphic>
      </p:graphicFrame>
      <p:sp>
        <p:nvSpPr>
          <p:cNvPr id="16" name="Rectangle 15">
            <a:extLst>
              <a:ext uri="{FF2B5EF4-FFF2-40B4-BE49-F238E27FC236}">
                <a16:creationId xmlns:a16="http://schemas.microsoft.com/office/drawing/2014/main" id="{7F2D13B6-50B3-B02B-46DF-DB787A070291}"/>
              </a:ext>
            </a:extLst>
          </p:cNvPr>
          <p:cNvSpPr/>
          <p:nvPr/>
        </p:nvSpPr>
        <p:spPr>
          <a:xfrm rot="19236687">
            <a:off x="3304923" y="2262092"/>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4" name="Slide Number Placeholder 3">
            <a:extLst>
              <a:ext uri="{FF2B5EF4-FFF2-40B4-BE49-F238E27FC236}">
                <a16:creationId xmlns:a16="http://schemas.microsoft.com/office/drawing/2014/main" id="{6E493FE1-A272-2FF8-43A1-B4E9BC37CACD}"/>
              </a:ext>
            </a:extLst>
          </p:cNvPr>
          <p:cNvSpPr>
            <a:spLocks noGrp="1"/>
          </p:cNvSpPr>
          <p:nvPr>
            <p:ph type="sldNum" sz="quarter" idx="12"/>
          </p:nvPr>
        </p:nvSpPr>
        <p:spPr/>
        <p:txBody>
          <a:bodyPr/>
          <a:lstStyle/>
          <a:p>
            <a:fld id="{32D4B517-E49B-41B6-9DBC-23634E0F1CDC}" type="slidenum">
              <a:rPr lang="en-CA" smtClean="0"/>
              <a:pPr/>
              <a:t>18</a:t>
            </a:fld>
            <a:endParaRPr lang="en-CA"/>
          </a:p>
        </p:txBody>
      </p:sp>
      <p:sp>
        <p:nvSpPr>
          <p:cNvPr id="2" name="TextBox 1">
            <a:extLst>
              <a:ext uri="{FF2B5EF4-FFF2-40B4-BE49-F238E27FC236}">
                <a16:creationId xmlns:a16="http://schemas.microsoft.com/office/drawing/2014/main" id="{3B4924DD-A275-2318-0615-48AF5D40D9B9}"/>
              </a:ext>
            </a:extLst>
          </p:cNvPr>
          <p:cNvSpPr txBox="1"/>
          <p:nvPr/>
        </p:nvSpPr>
        <p:spPr>
          <a:xfrm>
            <a:off x="10272642" y="283824"/>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2</a:t>
            </a:r>
          </a:p>
        </p:txBody>
      </p:sp>
      <p:sp>
        <p:nvSpPr>
          <p:cNvPr id="7" name="TextBox 6">
            <a:extLst>
              <a:ext uri="{FF2B5EF4-FFF2-40B4-BE49-F238E27FC236}">
                <a16:creationId xmlns:a16="http://schemas.microsoft.com/office/drawing/2014/main" id="{A5FDBA38-C4BE-0CEF-D987-EC76B2F26C7D}"/>
              </a:ext>
            </a:extLst>
          </p:cNvPr>
          <p:cNvSpPr txBox="1"/>
          <p:nvPr/>
        </p:nvSpPr>
        <p:spPr>
          <a:xfrm>
            <a:off x="6996100" y="4855800"/>
            <a:ext cx="4511457" cy="923330"/>
          </a:xfrm>
          <a:prstGeom prst="rect">
            <a:avLst/>
          </a:prstGeom>
          <a:noFill/>
        </p:spPr>
        <p:txBody>
          <a:bodyPr wrap="square" rtlCol="0">
            <a:spAutoFit/>
          </a:bodyPr>
          <a:lstStyle/>
          <a:p>
            <a:r>
              <a:rPr lang="en-CA" b="1"/>
              <a:t>TPO Recommendations:</a:t>
            </a:r>
          </a:p>
          <a:p>
            <a:endParaRPr lang="en-CA"/>
          </a:p>
          <a:p>
            <a:endParaRPr lang="en-CA"/>
          </a:p>
        </p:txBody>
      </p:sp>
    </p:spTree>
    <p:extLst>
      <p:ext uri="{BB962C8B-B14F-4D97-AF65-F5344CB8AC3E}">
        <p14:creationId xmlns:p14="http://schemas.microsoft.com/office/powerpoint/2010/main" val="3232227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4BFD4-D7E1-131F-3228-49F7DAC8BD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E947D7-A5A3-AF10-56D3-90237443A20F}"/>
              </a:ext>
            </a:extLst>
          </p:cNvPr>
          <p:cNvSpPr>
            <a:spLocks noGrp="1"/>
          </p:cNvSpPr>
          <p:nvPr>
            <p:ph type="sldNum" sz="quarter" idx="12"/>
          </p:nvPr>
        </p:nvSpPr>
        <p:spPr/>
        <p:txBody>
          <a:bodyPr/>
          <a:lstStyle/>
          <a:p>
            <a:fld id="{32D4B517-E49B-41B6-9DBC-23634E0F1CDC}" type="slidenum">
              <a:rPr lang="en-CA" smtClean="0"/>
              <a:pPr/>
              <a:t>19</a:t>
            </a:fld>
            <a:endParaRPr lang="en-CA"/>
          </a:p>
        </p:txBody>
      </p:sp>
      <p:sp>
        <p:nvSpPr>
          <p:cNvPr id="4" name="Title 3">
            <a:extLst>
              <a:ext uri="{FF2B5EF4-FFF2-40B4-BE49-F238E27FC236}">
                <a16:creationId xmlns:a16="http://schemas.microsoft.com/office/drawing/2014/main" id="{3F2EF2DA-42B8-A928-4092-3178C41D501C}"/>
              </a:ext>
            </a:extLst>
          </p:cNvPr>
          <p:cNvSpPr>
            <a:spLocks noGrp="1"/>
          </p:cNvSpPr>
          <p:nvPr>
            <p:ph type="title"/>
          </p:nvPr>
        </p:nvSpPr>
        <p:spPr>
          <a:xfrm>
            <a:off x="652432" y="138062"/>
            <a:ext cx="7243976" cy="878670"/>
          </a:xfrm>
        </p:spPr>
        <p:txBody>
          <a:bodyPr/>
          <a:lstStyle/>
          <a:p>
            <a:r>
              <a:rPr lang="en-CA">
                <a:latin typeface="Calibri"/>
                <a:cs typeface="Calibri"/>
              </a:rPr>
              <a:t>TCO, Funding, Procurement and FinOps Summary</a:t>
            </a:r>
            <a:endParaRPr lang="en-CA"/>
          </a:p>
        </p:txBody>
      </p:sp>
      <p:graphicFrame>
        <p:nvGraphicFramePr>
          <p:cNvPr id="6" name="Table 5">
            <a:extLst>
              <a:ext uri="{FF2B5EF4-FFF2-40B4-BE49-F238E27FC236}">
                <a16:creationId xmlns:a16="http://schemas.microsoft.com/office/drawing/2014/main" id="{048DEE38-4CB0-5993-8676-51757596F08A}"/>
              </a:ext>
            </a:extLst>
          </p:cNvPr>
          <p:cNvGraphicFramePr>
            <a:graphicFrameLocks noGrp="1"/>
          </p:cNvGraphicFramePr>
          <p:nvPr/>
        </p:nvGraphicFramePr>
        <p:xfrm>
          <a:off x="691595" y="1076545"/>
          <a:ext cx="10541641" cy="4869539"/>
        </p:xfrm>
        <a:graphic>
          <a:graphicData uri="http://schemas.openxmlformats.org/drawingml/2006/table">
            <a:tbl>
              <a:tblPr firstRow="1" bandRow="1">
                <a:tableStyleId>{5C22544A-7EE6-4342-B048-85BDC9FD1C3A}</a:tableStyleId>
              </a:tblPr>
              <a:tblGrid>
                <a:gridCol w="4497946">
                  <a:extLst>
                    <a:ext uri="{9D8B030D-6E8A-4147-A177-3AD203B41FA5}">
                      <a16:colId xmlns:a16="http://schemas.microsoft.com/office/drawing/2014/main" val="1864282735"/>
                    </a:ext>
                  </a:extLst>
                </a:gridCol>
                <a:gridCol w="6043695">
                  <a:extLst>
                    <a:ext uri="{9D8B030D-6E8A-4147-A177-3AD203B41FA5}">
                      <a16:colId xmlns:a16="http://schemas.microsoft.com/office/drawing/2014/main" val="1869587552"/>
                    </a:ext>
                  </a:extLst>
                </a:gridCol>
              </a:tblGrid>
              <a:tr h="365974">
                <a:tc>
                  <a:txBody>
                    <a:bodyPr/>
                    <a:lstStyle/>
                    <a:p>
                      <a:r>
                        <a:rPr lang="en-US"/>
                        <a:t>Criteria</a:t>
                      </a:r>
                    </a:p>
                  </a:txBody>
                  <a:tcPr/>
                </a:tc>
                <a:tc>
                  <a:txBody>
                    <a:bodyPr/>
                    <a:lstStyle/>
                    <a:p>
                      <a:r>
                        <a:rPr lang="en-US"/>
                        <a:t>Response</a:t>
                      </a:r>
                    </a:p>
                  </a:txBody>
                  <a:tcPr/>
                </a:tc>
                <a:extLst>
                  <a:ext uri="{0D108BD9-81ED-4DB2-BD59-A6C34878D82A}">
                    <a16:rowId xmlns:a16="http://schemas.microsoft.com/office/drawing/2014/main" val="3790992723"/>
                  </a:ext>
                </a:extLst>
              </a:tr>
              <a:tr h="557099">
                <a:tc>
                  <a:txBody>
                    <a:bodyPr/>
                    <a:lstStyle/>
                    <a:p>
                      <a:r>
                        <a:rPr lang="en-US"/>
                        <a:t>Estimated Life span of the target state architecture</a:t>
                      </a:r>
                    </a:p>
                  </a:txBody>
                  <a:tcPr/>
                </a:tc>
                <a:tc>
                  <a:txBody>
                    <a:bodyPr/>
                    <a:lstStyle/>
                    <a:p>
                      <a:r>
                        <a:rPr lang="en-US"/>
                        <a:t>Number of years that the organization plans to utilize the solution.</a:t>
                      </a:r>
                    </a:p>
                  </a:txBody>
                  <a:tcPr/>
                </a:tc>
                <a:extLst>
                  <a:ext uri="{0D108BD9-81ED-4DB2-BD59-A6C34878D82A}">
                    <a16:rowId xmlns:a16="http://schemas.microsoft.com/office/drawing/2014/main" val="2268503914"/>
                  </a:ext>
                </a:extLst>
              </a:tr>
              <a:tr h="794382">
                <a:tc>
                  <a:txBody>
                    <a:bodyPr/>
                    <a:lstStyle/>
                    <a:p>
                      <a:r>
                        <a:rPr lang="en-US"/>
                        <a:t>Total Cost of Ownership (TCO), </a:t>
                      </a:r>
                      <a:r>
                        <a:rPr lang="en-US" err="1"/>
                        <a:t>CapEx</a:t>
                      </a:r>
                      <a:r>
                        <a:rPr lang="en-US"/>
                        <a:t>, </a:t>
                      </a:r>
                      <a:r>
                        <a:rPr lang="en-US" err="1"/>
                        <a:t>OpEX</a:t>
                      </a:r>
                      <a:r>
                        <a:rPr lang="en-US"/>
                        <a:t> and other expenses over the lifespan including planning, acquisition, operations and disposal*</a:t>
                      </a:r>
                    </a:p>
                  </a:txBody>
                  <a:tcPr/>
                </a:tc>
                <a:tc>
                  <a:txBody>
                    <a:bodyPr/>
                    <a:lstStyle/>
                    <a:p>
                      <a:r>
                        <a:rPr lang="en-US"/>
                        <a:t>$ value </a:t>
                      </a:r>
                    </a:p>
                    <a:p>
                      <a:pPr lvl="0">
                        <a:buNone/>
                      </a:pPr>
                      <a:r>
                        <a:rPr lang="en-US"/>
                        <a:t>Indicative or Substantive estimate?</a:t>
                      </a:r>
                    </a:p>
                  </a:txBody>
                  <a:tcPr/>
                </a:tc>
                <a:extLst>
                  <a:ext uri="{0D108BD9-81ED-4DB2-BD59-A6C34878D82A}">
                    <a16:rowId xmlns:a16="http://schemas.microsoft.com/office/drawing/2014/main" val="3927387072"/>
                  </a:ext>
                </a:extLst>
              </a:tr>
              <a:tr h="1031666">
                <a:tc>
                  <a:txBody>
                    <a:bodyPr/>
                    <a:lstStyle/>
                    <a:p>
                      <a:pPr lvl="0">
                        <a:buNone/>
                      </a:pPr>
                      <a:r>
                        <a:rPr lang="en-US"/>
                        <a:t>What are the sources of funds for the digital initiative.</a:t>
                      </a:r>
                      <a:endParaRPr lang="en-US" err="1"/>
                    </a:p>
                  </a:txBody>
                  <a:tcPr/>
                </a:tc>
                <a:tc>
                  <a:txBody>
                    <a:bodyPr/>
                    <a:lstStyle/>
                    <a:p>
                      <a:pPr lvl="0">
                        <a:buNone/>
                      </a:pPr>
                      <a:r>
                        <a:rPr lang="en-US" sz="1800" b="0" i="0" u="none" strike="noStrike" noProof="0">
                          <a:solidFill>
                            <a:srgbClr val="000000"/>
                          </a:solidFill>
                          <a:latin typeface="Calibri"/>
                        </a:rPr>
                        <a:t>life span funding source for:</a:t>
                      </a:r>
                    </a:p>
                    <a:p>
                      <a:pPr lvl="0">
                        <a:buNone/>
                      </a:pPr>
                      <a:r>
                        <a:rPr lang="en-US" sz="1800" b="0" i="0" u="none" strike="noStrike" noProof="0">
                          <a:solidFill>
                            <a:srgbClr val="000000"/>
                          </a:solidFill>
                          <a:latin typeface="Calibri"/>
                        </a:rPr>
                        <a:t>Planning;</a:t>
                      </a:r>
                    </a:p>
                    <a:p>
                      <a:pPr lvl="0">
                        <a:buNone/>
                      </a:pPr>
                      <a:r>
                        <a:rPr lang="en-US" sz="1800" b="0" i="0" u="none" strike="noStrike" noProof="0">
                          <a:solidFill>
                            <a:srgbClr val="000000"/>
                          </a:solidFill>
                          <a:latin typeface="Calibri"/>
                        </a:rPr>
                        <a:t>Acquisition</a:t>
                      </a:r>
                    </a:p>
                    <a:p>
                      <a:pPr lvl="0">
                        <a:buNone/>
                      </a:pPr>
                      <a:r>
                        <a:rPr lang="en-US" sz="1800" b="0" i="0" u="none" strike="noStrike" noProof="0">
                          <a:solidFill>
                            <a:srgbClr val="000000"/>
                          </a:solidFill>
                          <a:latin typeface="Calibri"/>
                        </a:rPr>
                        <a:t>Operations/Disposal</a:t>
                      </a:r>
                    </a:p>
                  </a:txBody>
                  <a:tcPr/>
                </a:tc>
                <a:extLst>
                  <a:ext uri="{0D108BD9-81ED-4DB2-BD59-A6C34878D82A}">
                    <a16:rowId xmlns:a16="http://schemas.microsoft.com/office/drawing/2014/main" val="644387459"/>
                  </a:ext>
                </a:extLst>
              </a:tr>
              <a:tr h="557099">
                <a:tc>
                  <a:txBody>
                    <a:bodyPr/>
                    <a:lstStyle/>
                    <a:p>
                      <a:pPr marL="0" marR="0" lvl="0" indent="0" algn="l">
                        <a:lnSpc>
                          <a:spcPct val="100000"/>
                        </a:lnSpc>
                        <a:spcBef>
                          <a:spcPct val="20000"/>
                        </a:spcBef>
                        <a:spcAft>
                          <a:spcPts val="0"/>
                        </a:spcAft>
                        <a:buNone/>
                      </a:pPr>
                      <a:r>
                        <a:rPr lang="en-US" sz="1800" b="0" i="0" u="none" strike="noStrike" noProof="0">
                          <a:solidFill>
                            <a:srgbClr val="000000"/>
                          </a:solidFill>
                          <a:latin typeface="Calibri"/>
                        </a:rPr>
                        <a:t>How are operational costs (FinOps*) being managed and remediated? </a:t>
                      </a:r>
                    </a:p>
                  </a:txBody>
                  <a:tcPr/>
                </a:tc>
                <a:tc>
                  <a:txBody>
                    <a:bodyPr/>
                    <a:lstStyle/>
                    <a:p>
                      <a:r>
                        <a:rPr lang="en-US"/>
                        <a:t>Frequency and nature of operational costs reviews, governance oversight and remediation process.</a:t>
                      </a:r>
                    </a:p>
                  </a:txBody>
                  <a:tcPr/>
                </a:tc>
                <a:extLst>
                  <a:ext uri="{0D108BD9-81ED-4DB2-BD59-A6C34878D82A}">
                    <a16:rowId xmlns:a16="http://schemas.microsoft.com/office/drawing/2014/main" val="3822971356"/>
                  </a:ext>
                </a:extLst>
              </a:tr>
              <a:tr h="845965">
                <a:tc>
                  <a:txBody>
                    <a:bodyPr/>
                    <a:lstStyle/>
                    <a:p>
                      <a:pPr lvl="0" algn="l">
                        <a:lnSpc>
                          <a:spcPct val="100000"/>
                        </a:lnSpc>
                        <a:spcBef>
                          <a:spcPts val="0"/>
                        </a:spcBef>
                        <a:spcAft>
                          <a:spcPts val="0"/>
                        </a:spcAft>
                        <a:buNone/>
                      </a:pPr>
                      <a:r>
                        <a:rPr lang="en-CA" sz="1800" b="0" i="0" u="none" strike="noStrike" noProof="0"/>
                        <a:t>Describe the procurement strategy for the digital initiative.</a:t>
                      </a:r>
                    </a:p>
                  </a:txBody>
                  <a:tcPr/>
                </a:tc>
                <a:tc>
                  <a:txBody>
                    <a:bodyPr/>
                    <a:lstStyle/>
                    <a:p>
                      <a:pPr lvl="0" algn="l">
                        <a:lnSpc>
                          <a:spcPct val="100000"/>
                        </a:lnSpc>
                        <a:spcBef>
                          <a:spcPts val="0"/>
                        </a:spcBef>
                        <a:spcAft>
                          <a:spcPts val="0"/>
                        </a:spcAft>
                        <a:buNone/>
                      </a:pPr>
                      <a:r>
                        <a:rPr lang="en-CA" sz="1800" b="0" i="0" u="none" strike="noStrike" noProof="0">
                          <a:solidFill>
                            <a:srgbClr val="000000"/>
                          </a:solidFill>
                          <a:latin typeface="Calibri"/>
                        </a:rPr>
                        <a:t>Contract vehicle</a:t>
                      </a:r>
                      <a:endParaRPr lang="en-US"/>
                    </a:p>
                    <a:p>
                      <a:pPr lvl="0" algn="l">
                        <a:lnSpc>
                          <a:spcPct val="100000"/>
                        </a:lnSpc>
                        <a:spcBef>
                          <a:spcPts val="0"/>
                        </a:spcBef>
                        <a:spcAft>
                          <a:spcPts val="0"/>
                        </a:spcAft>
                        <a:buNone/>
                      </a:pPr>
                      <a:r>
                        <a:rPr lang="en-CA" sz="1800" b="0" i="0" u="none" strike="noStrike" noProof="0">
                          <a:solidFill>
                            <a:srgbClr val="000000"/>
                          </a:solidFill>
                          <a:latin typeface="Calibri"/>
                        </a:rPr>
                        <a:t>Contract capacity for the life span of the digital initiative.</a:t>
                      </a:r>
                      <a:endParaRPr lang="en-US" sz="1800" b="0" i="0" u="none" strike="noStrike" noProof="0">
                        <a:solidFill>
                          <a:srgbClr val="000000"/>
                        </a:solidFill>
                        <a:latin typeface="Calibri"/>
                      </a:endParaRPr>
                    </a:p>
                  </a:txBody>
                  <a:tcPr/>
                </a:tc>
                <a:extLst>
                  <a:ext uri="{0D108BD9-81ED-4DB2-BD59-A6C34878D82A}">
                    <a16:rowId xmlns:a16="http://schemas.microsoft.com/office/drawing/2014/main" val="3608357271"/>
                  </a:ext>
                </a:extLst>
              </a:tr>
            </a:tbl>
          </a:graphicData>
        </a:graphic>
      </p:graphicFrame>
      <p:sp>
        <p:nvSpPr>
          <p:cNvPr id="7" name="TextBox 6">
            <a:extLst>
              <a:ext uri="{FF2B5EF4-FFF2-40B4-BE49-F238E27FC236}">
                <a16:creationId xmlns:a16="http://schemas.microsoft.com/office/drawing/2014/main" id="{B058FEFE-F005-D1FE-6E69-AB63F3C8D344}"/>
              </a:ext>
            </a:extLst>
          </p:cNvPr>
          <p:cNvSpPr txBox="1"/>
          <p:nvPr/>
        </p:nvSpPr>
        <p:spPr>
          <a:xfrm>
            <a:off x="689020" y="5990822"/>
            <a:ext cx="687517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*Total Cost of Ownership tool results or other</a:t>
            </a:r>
          </a:p>
          <a:p>
            <a:r>
              <a:rPr lang="en-US">
                <a:cs typeface="Calibri"/>
              </a:rPr>
              <a:t>*Financial Operations, reference GC Cloud Cost Management playbook</a:t>
            </a:r>
          </a:p>
          <a:p>
            <a:endParaRPr lang="en-US">
              <a:cs typeface="Calibri"/>
            </a:endParaRPr>
          </a:p>
        </p:txBody>
      </p:sp>
      <p:sp>
        <p:nvSpPr>
          <p:cNvPr id="8" name="Rectangle 7">
            <a:extLst>
              <a:ext uri="{FF2B5EF4-FFF2-40B4-BE49-F238E27FC236}">
                <a16:creationId xmlns:a16="http://schemas.microsoft.com/office/drawing/2014/main" id="{67FCBCF9-2890-9A93-DA73-B11098D4D015}"/>
              </a:ext>
            </a:extLst>
          </p:cNvPr>
          <p:cNvSpPr/>
          <p:nvPr/>
        </p:nvSpPr>
        <p:spPr>
          <a:xfrm rot="19236687">
            <a:off x="6766799" y="2823141"/>
            <a:ext cx="4168660" cy="92333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54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3" name="TextBox 2">
            <a:extLst>
              <a:ext uri="{FF2B5EF4-FFF2-40B4-BE49-F238E27FC236}">
                <a16:creationId xmlns:a16="http://schemas.microsoft.com/office/drawing/2014/main" id="{18E00622-86CE-1BD1-2CDD-A63571142215}"/>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GC EARB</a:t>
            </a:r>
          </a:p>
          <a:p>
            <a:r>
              <a:rPr lang="en-US"/>
              <a:t>Gate 0, Gate 2</a:t>
            </a:r>
          </a:p>
        </p:txBody>
      </p:sp>
    </p:spTree>
    <p:extLst>
      <p:ext uri="{BB962C8B-B14F-4D97-AF65-F5344CB8AC3E}">
        <p14:creationId xmlns:p14="http://schemas.microsoft.com/office/powerpoint/2010/main" val="4085023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2"/>
          <p:cNvSpPr txBox="1">
            <a:spLocks noGrp="1"/>
          </p:cNvSpPr>
          <p:nvPr>
            <p:ph type="title" idx="4294967295"/>
          </p:nvPr>
        </p:nvSpPr>
        <p:spPr bwMode="auto">
          <a:xfrm>
            <a:off x="551384" y="195834"/>
            <a:ext cx="2486088" cy="431270"/>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457200" indent="-457200" algn="l" rtl="0" eaLnBrk="0" fontAlgn="base" hangingPunct="0">
              <a:spcBef>
                <a:spcPct val="0"/>
              </a:spcBef>
              <a:spcAft>
                <a:spcPct val="0"/>
              </a:spcAft>
              <a:buFont typeface="Arial" panose="020B0604020202020204" pitchFamily="34" charset="0"/>
              <a:buNone/>
              <a:defRPr lang="en-CA" sz="2800" kern="1200" baseline="0">
                <a:solidFill>
                  <a:schemeClr val="accent1"/>
                </a:solidFill>
                <a:latin typeface="Calibri" panose="020F0502020204030204" pitchFamily="34" charset="0"/>
                <a:ea typeface="+mn-ea"/>
                <a:cs typeface="+mn-cs"/>
              </a:defRPr>
            </a:lvl1pPr>
            <a:lvl2pPr algn="l" rtl="0" eaLnBrk="0" fontAlgn="base" hangingPunct="0">
              <a:spcBef>
                <a:spcPct val="0"/>
              </a:spcBef>
              <a:spcAft>
                <a:spcPct val="0"/>
              </a:spcAft>
              <a:defRPr sz="4400">
                <a:solidFill>
                  <a:schemeClr val="tx1"/>
                </a:solidFill>
                <a:latin typeface="Calibri" panose="020F0502020204030204" pitchFamily="34" charset="0"/>
              </a:defRPr>
            </a:lvl2pPr>
            <a:lvl3pPr algn="l" rtl="0" eaLnBrk="0" fontAlgn="base" hangingPunct="0">
              <a:spcBef>
                <a:spcPct val="0"/>
              </a:spcBef>
              <a:spcAft>
                <a:spcPct val="0"/>
              </a:spcAft>
              <a:defRPr sz="4400">
                <a:solidFill>
                  <a:schemeClr val="tx1"/>
                </a:solidFill>
                <a:latin typeface="Calibri" panose="020F0502020204030204" pitchFamily="34" charset="0"/>
              </a:defRPr>
            </a:lvl3pPr>
            <a:lvl4pPr algn="l" rtl="0" eaLnBrk="0" fontAlgn="base" hangingPunct="0">
              <a:spcBef>
                <a:spcPct val="0"/>
              </a:spcBef>
              <a:spcAft>
                <a:spcPct val="0"/>
              </a:spcAft>
              <a:defRPr sz="4400">
                <a:solidFill>
                  <a:schemeClr val="tx1"/>
                </a:solidFill>
                <a:latin typeface="Calibri" panose="020F0502020204030204" pitchFamily="34" charset="0"/>
              </a:defRPr>
            </a:lvl4pPr>
            <a:lvl5pPr algn="l" rtl="0" eaLnBrk="0" fontAlgn="base" hangingPunct="0">
              <a:spcBef>
                <a:spcPct val="0"/>
              </a:spcBef>
              <a:spcAft>
                <a:spcPct val="0"/>
              </a:spcAft>
              <a:defRPr sz="4400">
                <a:solidFill>
                  <a:schemeClr val="tx1"/>
                </a:solidFill>
                <a:latin typeface="Calibri" panose="020F0502020204030204" pitchFamily="34" charset="0"/>
              </a:defRPr>
            </a:lvl5pPr>
            <a:lvl6pPr marL="457200" algn="l" rtl="0" fontAlgn="base">
              <a:spcBef>
                <a:spcPct val="0"/>
              </a:spcBef>
              <a:spcAft>
                <a:spcPct val="0"/>
              </a:spcAft>
              <a:defRPr sz="4400">
                <a:solidFill>
                  <a:schemeClr val="tx1"/>
                </a:solidFill>
                <a:latin typeface="Calibri" panose="020F0502020204030204" pitchFamily="34" charset="0"/>
              </a:defRPr>
            </a:lvl6pPr>
            <a:lvl7pPr marL="914400" algn="l" rtl="0" fontAlgn="base">
              <a:spcBef>
                <a:spcPct val="0"/>
              </a:spcBef>
              <a:spcAft>
                <a:spcPct val="0"/>
              </a:spcAft>
              <a:defRPr sz="4400">
                <a:solidFill>
                  <a:schemeClr val="tx1"/>
                </a:solidFill>
                <a:latin typeface="Calibri" panose="020F0502020204030204" pitchFamily="34" charset="0"/>
              </a:defRPr>
            </a:lvl7pPr>
            <a:lvl8pPr marL="1371600" algn="l" rtl="0" fontAlgn="base">
              <a:spcBef>
                <a:spcPct val="0"/>
              </a:spcBef>
              <a:spcAft>
                <a:spcPct val="0"/>
              </a:spcAft>
              <a:defRPr sz="4400">
                <a:solidFill>
                  <a:schemeClr val="tx1"/>
                </a:solidFill>
                <a:latin typeface="Calibri" panose="020F0502020204030204" pitchFamily="34" charset="0"/>
              </a:defRPr>
            </a:lvl8pPr>
            <a:lvl9pPr marL="1828800" algn="l" rtl="0" fontAlgn="base">
              <a:spcBef>
                <a:spcPct val="0"/>
              </a:spcBef>
              <a:spcAft>
                <a:spcPct val="0"/>
              </a:spcAft>
              <a:defRPr sz="4400">
                <a:solidFill>
                  <a:schemeClr val="tx1"/>
                </a:solidFill>
                <a:latin typeface="Calibri" panose="020F0502020204030204" pitchFamily="34" charset="0"/>
              </a:defRPr>
            </a:lvl9pPr>
          </a:lstStyle>
          <a:p>
            <a:pPr marL="0" indent="0">
              <a:defRPr/>
            </a:pPr>
            <a:r>
              <a:rPr lang="en-CA"/>
              <a:t>EA Summary </a:t>
            </a:r>
          </a:p>
        </p:txBody>
      </p:sp>
      <p:graphicFrame>
        <p:nvGraphicFramePr>
          <p:cNvPr id="29" name="Table 28" descr="BIATS Alignment">
            <a:extLs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977592012"/>
              </p:ext>
            </p:extLst>
          </p:nvPr>
        </p:nvGraphicFramePr>
        <p:xfrm>
          <a:off x="501708" y="1016731"/>
          <a:ext cx="11246921" cy="4493733"/>
        </p:xfrm>
        <a:graphic>
          <a:graphicData uri="http://schemas.openxmlformats.org/drawingml/2006/table">
            <a:tbl>
              <a:tblPr firstRow="1" firstCol="1">
                <a:tableStyleId>{5C22544A-7EE6-4342-B048-85BDC9FD1C3A}</a:tableStyleId>
              </a:tblPr>
              <a:tblGrid>
                <a:gridCol w="1034301">
                  <a:extLst>
                    <a:ext uri="{9D8B030D-6E8A-4147-A177-3AD203B41FA5}">
                      <a16:colId xmlns:a16="http://schemas.microsoft.com/office/drawing/2014/main" val="20001"/>
                    </a:ext>
                  </a:extLst>
                </a:gridCol>
                <a:gridCol w="9240511">
                  <a:extLst>
                    <a:ext uri="{9D8B030D-6E8A-4147-A177-3AD203B41FA5}">
                      <a16:colId xmlns:a16="http://schemas.microsoft.com/office/drawing/2014/main" val="20002"/>
                    </a:ext>
                  </a:extLst>
                </a:gridCol>
                <a:gridCol w="972109">
                  <a:extLst>
                    <a:ext uri="{9D8B030D-6E8A-4147-A177-3AD203B41FA5}">
                      <a16:colId xmlns:a16="http://schemas.microsoft.com/office/drawing/2014/main" val="2905974876"/>
                    </a:ext>
                  </a:extLst>
                </a:gridCol>
              </a:tblGrid>
              <a:tr h="324037">
                <a:tc>
                  <a:txBody>
                    <a:bodyPr/>
                    <a:lstStyle/>
                    <a:p>
                      <a:r>
                        <a:rPr lang="en-CA" sz="1400">
                          <a:latin typeface="+mj-lt"/>
                        </a:rPr>
                        <a:t>EA Layer</a:t>
                      </a:r>
                    </a:p>
                  </a:txBody>
                  <a:tcPr/>
                </a:tc>
                <a:tc>
                  <a:txBody>
                    <a:bodyPr/>
                    <a:lstStyle/>
                    <a:p>
                      <a:pPr marL="0" indent="0">
                        <a:buFont typeface="Arial" panose="020B0604020202020204" pitchFamily="34" charset="0"/>
                        <a:buNone/>
                      </a:pPr>
                      <a:r>
                        <a:rPr lang="en-CA" sz="1400">
                          <a:latin typeface="+mj-lt"/>
                        </a:rPr>
                        <a:t>Summary Assessment of each layer</a:t>
                      </a:r>
                    </a:p>
                  </a:txBody>
                  <a:tcPr/>
                </a:tc>
                <a:tc>
                  <a:txBody>
                    <a:bodyPr/>
                    <a:lstStyle/>
                    <a:p>
                      <a:pPr marL="0" indent="0">
                        <a:buFont typeface="Arial" panose="020B0604020202020204" pitchFamily="34" charset="0"/>
                        <a:buNone/>
                      </a:pPr>
                      <a:r>
                        <a:rPr lang="en-CA" sz="1400">
                          <a:latin typeface="+mj-lt"/>
                        </a:rPr>
                        <a:t>Alignment</a:t>
                      </a:r>
                    </a:p>
                  </a:txBody>
                  <a:tcPr/>
                </a:tc>
                <a:extLst>
                  <a:ext uri="{0D108BD9-81ED-4DB2-BD59-A6C34878D82A}">
                    <a16:rowId xmlns:a16="http://schemas.microsoft.com/office/drawing/2014/main" val="399739402"/>
                  </a:ext>
                </a:extLst>
              </a:tr>
              <a:tr h="790964">
                <a:tc>
                  <a:txBody>
                    <a:bodyPr/>
                    <a:lstStyle/>
                    <a:p>
                      <a:r>
                        <a:rPr lang="en-CA" sz="1200"/>
                        <a:t>Business</a:t>
                      </a:r>
                    </a:p>
                  </a:txBody>
                  <a:tcPr/>
                </a:tc>
                <a:tc>
                  <a:txBody>
                    <a:bodyPr/>
                    <a:lstStyle/>
                    <a:p>
                      <a:pPr marL="171450" indent="-171450">
                        <a:buFont typeface="Arial" panose="020B0604020202020204" pitchFamily="34" charset="0"/>
                        <a:buChar char="•"/>
                      </a:pPr>
                      <a:endParaRPr lang="en-CA" sz="1000"/>
                    </a:p>
                  </a:txBody>
                  <a:tcPr/>
                </a:tc>
                <a:tc>
                  <a:txBody>
                    <a:bodyPr/>
                    <a:lstStyle/>
                    <a:p>
                      <a:pPr marL="0" indent="0" algn="ctr">
                        <a:buFont typeface="Arial" panose="020B0604020202020204" pitchFamily="34" charset="0"/>
                        <a:buNone/>
                      </a:pPr>
                      <a:r>
                        <a:rPr lang="en-CA" sz="1200"/>
                        <a:t>Fully</a:t>
                      </a:r>
                    </a:p>
                  </a:txBody>
                  <a:tcPr anchor="ctr">
                    <a:solidFill>
                      <a:srgbClr val="00B050"/>
                    </a:solidFill>
                  </a:tcPr>
                </a:tc>
                <a:extLst>
                  <a:ext uri="{0D108BD9-81ED-4DB2-BD59-A6C34878D82A}">
                    <a16:rowId xmlns:a16="http://schemas.microsoft.com/office/drawing/2014/main" val="10000"/>
                  </a:ext>
                </a:extLst>
              </a:tr>
              <a:tr h="790964">
                <a:tc>
                  <a:txBody>
                    <a:bodyPr/>
                    <a:lstStyle/>
                    <a:p>
                      <a:r>
                        <a:rPr lang="en-CA" sz="1200"/>
                        <a:t>Information</a:t>
                      </a:r>
                      <a:r>
                        <a:rPr lang="en-CA" sz="1200" baseline="0"/>
                        <a:t> </a:t>
                      </a:r>
                      <a:endParaRPr lang="en-CA" sz="1200"/>
                    </a:p>
                  </a:txBody>
                  <a:tcPr/>
                </a:tc>
                <a:tc>
                  <a:txBody>
                    <a:bodyPr/>
                    <a:lstStyle/>
                    <a:p>
                      <a:r>
                        <a:rPr lang="en-CA" sz="1000" i="1"/>
                        <a:t>SharePoint is the sole </a:t>
                      </a:r>
                      <a:r>
                        <a:rPr lang="en-CA" sz="1000" i="1">
                          <a:solidFill>
                            <a:srgbClr val="0563C1"/>
                          </a:solidFill>
                        </a:rPr>
                        <a:t>official corporate repository </a:t>
                      </a:r>
                      <a:r>
                        <a:rPr lang="en-CA" sz="1000" i="1"/>
                        <a:t>in use across all HC and PHAC branches. SACR is designed to manage a division's day-to-day end-user created documents. SACR may not be a suitable replacement for custom applications used in existing processes. Extending the use of SharePoint to support business solutions and applications will be assessed on a case-by-case basis.</a:t>
                      </a:r>
                      <a:endParaRPr lang="en-CA" sz="1000">
                        <a:solidFill>
                          <a:srgbClr val="444444"/>
                        </a:solidFill>
                      </a:endParaRPr>
                    </a:p>
                    <a:p>
                      <a:r>
                        <a:rPr lang="en-CA" sz="1000"/>
                        <a:t> </a:t>
                      </a:r>
                      <a:endParaRPr lang="en-US" sz="1000">
                        <a:solidFill>
                          <a:srgbClr val="444444"/>
                        </a:solidFill>
                      </a:endParaRPr>
                    </a:p>
                    <a:p>
                      <a:r>
                        <a:rPr lang="en-CA" sz="1000">
                          <a:solidFill>
                            <a:srgbClr val="444444"/>
                          </a:solidFill>
                          <a:hlinkClick r:id="rId3"/>
                        </a:rPr>
                        <a:t>https://mysource.hc-sc.gc.ca/sites/default/files/2024-06/IM%20Standard%20-%20SACR%20Rules.pdf</a:t>
                      </a:r>
                      <a:endParaRPr lang="en-CA" sz="1000"/>
                    </a:p>
                    <a:p>
                      <a:pPr marL="0" indent="0">
                        <a:buFont typeface="Arial" panose="020B0604020202020204" pitchFamily="34" charset="0"/>
                        <a:buNone/>
                      </a:pPr>
                      <a:endParaRPr lang="en-CA" sz="1000"/>
                    </a:p>
                  </a:txBody>
                  <a:tcPr/>
                </a:tc>
                <a:tc>
                  <a:txBody>
                    <a:bodyPr/>
                    <a:lstStyle/>
                    <a:p>
                      <a:pPr marL="0" indent="0" algn="ctr">
                        <a:buFont typeface="Arial" panose="020B0604020202020204" pitchFamily="34" charset="0"/>
                        <a:buNone/>
                      </a:pPr>
                      <a:r>
                        <a:rPr lang="en-CA" sz="1200"/>
                        <a:t>Fully</a:t>
                      </a:r>
                    </a:p>
                  </a:txBody>
                  <a:tcPr anchor="ctr">
                    <a:solidFill>
                      <a:srgbClr val="00B050"/>
                    </a:solidFill>
                  </a:tcPr>
                </a:tc>
                <a:extLst>
                  <a:ext uri="{0D108BD9-81ED-4DB2-BD59-A6C34878D82A}">
                    <a16:rowId xmlns:a16="http://schemas.microsoft.com/office/drawing/2014/main" val="10001"/>
                  </a:ext>
                </a:extLst>
              </a:tr>
              <a:tr h="790964">
                <a:tc>
                  <a:txBody>
                    <a:bodyPr/>
                    <a:lstStyle/>
                    <a:p>
                      <a:r>
                        <a:rPr lang="en-CA" sz="1200"/>
                        <a:t>Application</a:t>
                      </a:r>
                    </a:p>
                  </a:txBody>
                  <a:tcPr/>
                </a:tc>
                <a:tc>
                  <a:txBody>
                    <a:bodyPr/>
                    <a:lstStyle/>
                    <a:p>
                      <a:pPr marL="171450" indent="-171450">
                        <a:buFont typeface="Arial" panose="020B0604020202020204" pitchFamily="34" charset="0"/>
                        <a:buChar char="•"/>
                      </a:pPr>
                      <a:endParaRPr lang="en-CA" sz="1000"/>
                    </a:p>
                  </a:txBody>
                  <a:tcPr/>
                </a:tc>
                <a:tc>
                  <a:txBody>
                    <a:bodyPr/>
                    <a:lstStyle/>
                    <a:p>
                      <a:pPr marL="0" indent="0" algn="ctr">
                        <a:buFont typeface="Arial" panose="020B0604020202020204" pitchFamily="34" charset="0"/>
                        <a:buNone/>
                      </a:pPr>
                      <a:r>
                        <a:rPr lang="en-CA" sz="1200"/>
                        <a:t>Partially</a:t>
                      </a:r>
                    </a:p>
                  </a:txBody>
                  <a:tcPr anchor="ctr">
                    <a:solidFill>
                      <a:srgbClr val="FFFF00"/>
                    </a:solidFill>
                  </a:tcPr>
                </a:tc>
                <a:extLst>
                  <a:ext uri="{0D108BD9-81ED-4DB2-BD59-A6C34878D82A}">
                    <a16:rowId xmlns:a16="http://schemas.microsoft.com/office/drawing/2014/main" val="10002"/>
                  </a:ext>
                </a:extLst>
              </a:tr>
              <a:tr h="790964">
                <a:tc>
                  <a:txBody>
                    <a:bodyPr/>
                    <a:lstStyle/>
                    <a:p>
                      <a:r>
                        <a:rPr lang="en-CA" sz="1200"/>
                        <a:t>Technology</a:t>
                      </a:r>
                    </a:p>
                  </a:txBody>
                  <a:tcPr/>
                </a:tc>
                <a:tc>
                  <a:txBody>
                    <a:bodyPr/>
                    <a:lstStyle/>
                    <a:p>
                      <a:pPr marL="171450" indent="-171450">
                        <a:buFont typeface="Arial" panose="020B0604020202020204" pitchFamily="34" charset="0"/>
                        <a:buChar char="•"/>
                      </a:pPr>
                      <a:endParaRPr lang="en-CA" sz="1000"/>
                    </a:p>
                  </a:txBody>
                  <a:tcPr/>
                </a:tc>
                <a:tc>
                  <a:txBody>
                    <a:bodyPr/>
                    <a:lstStyle/>
                    <a:p>
                      <a:pPr marL="0" indent="0" algn="ctr">
                        <a:buFont typeface="Arial" panose="020B0604020202020204" pitchFamily="34" charset="0"/>
                        <a:buNone/>
                      </a:pPr>
                      <a:r>
                        <a:rPr lang="en-CA" sz="1200"/>
                        <a:t>Partially</a:t>
                      </a:r>
                    </a:p>
                  </a:txBody>
                  <a:tcPr anchor="ctr">
                    <a:solidFill>
                      <a:srgbClr val="FFFF00"/>
                    </a:solidFill>
                  </a:tcPr>
                </a:tc>
                <a:extLst>
                  <a:ext uri="{0D108BD9-81ED-4DB2-BD59-A6C34878D82A}">
                    <a16:rowId xmlns:a16="http://schemas.microsoft.com/office/drawing/2014/main" val="10003"/>
                  </a:ext>
                </a:extLst>
              </a:tr>
              <a:tr h="790964">
                <a:tc>
                  <a:txBody>
                    <a:bodyPr/>
                    <a:lstStyle/>
                    <a:p>
                      <a:r>
                        <a:rPr lang="en-CA" sz="1200"/>
                        <a:t>Security</a:t>
                      </a:r>
                    </a:p>
                  </a:txBody>
                  <a:tcPr/>
                </a:tc>
                <a:tc>
                  <a:txBody>
                    <a:bodyPr/>
                    <a:lstStyle/>
                    <a:p>
                      <a:pPr marL="171450" indent="-171450">
                        <a:buFont typeface="Arial" panose="020B0604020202020204" pitchFamily="34" charset="0"/>
                        <a:buChar char="•"/>
                      </a:pPr>
                      <a:endParaRPr lang="en-CA" sz="1000"/>
                    </a:p>
                  </a:txBody>
                  <a:tcPr/>
                </a:tc>
                <a:tc>
                  <a:txBody>
                    <a:bodyPr/>
                    <a:lstStyle/>
                    <a:p>
                      <a:pPr marL="0" indent="0" algn="ctr">
                        <a:buFont typeface="Arial" panose="020B0604020202020204" pitchFamily="34" charset="0"/>
                        <a:buNone/>
                      </a:pPr>
                      <a:r>
                        <a:rPr lang="en-CA" sz="1200"/>
                        <a:t>Not</a:t>
                      </a:r>
                    </a:p>
                  </a:txBody>
                  <a:tcPr anchor="ctr">
                    <a:solidFill>
                      <a:srgbClr val="FF0000"/>
                    </a:solidFill>
                  </a:tcPr>
                </a:tc>
                <a:extLst>
                  <a:ext uri="{0D108BD9-81ED-4DB2-BD59-A6C34878D82A}">
                    <a16:rowId xmlns:a16="http://schemas.microsoft.com/office/drawing/2014/main" val="10004"/>
                  </a:ext>
                </a:extLst>
              </a:tr>
            </a:tbl>
          </a:graphicData>
        </a:graphic>
      </p:graphicFrame>
      <p:graphicFrame>
        <p:nvGraphicFramePr>
          <p:cNvPr id="40" name="Table 39" descr="EA Recommendation">
            <a:extLst>
              <a:ext uri="{FF2B5EF4-FFF2-40B4-BE49-F238E27FC236}">
                <a16:creationId xmlns:a16="http://schemas.microsoft.com/office/drawing/2014/main" id="{EFC18634-16A8-4D41-845E-2D867CC9BA11}"/>
              </a:ext>
            </a:extLst>
          </p:cNvPr>
          <p:cNvGraphicFramePr>
            <a:graphicFrameLocks noGrp="1"/>
          </p:cNvGraphicFramePr>
          <p:nvPr>
            <p:extLst>
              <p:ext uri="{D42A27DB-BD31-4B8C-83A1-F6EECF244321}">
                <p14:modId xmlns:p14="http://schemas.microsoft.com/office/powerpoint/2010/main" val="1412052480"/>
              </p:ext>
            </p:extLst>
          </p:nvPr>
        </p:nvGraphicFramePr>
        <p:xfrm>
          <a:off x="501708" y="5435081"/>
          <a:ext cx="11236082" cy="1045494"/>
        </p:xfrm>
        <a:graphic>
          <a:graphicData uri="http://schemas.openxmlformats.org/drawingml/2006/table">
            <a:tbl>
              <a:tblPr firstRow="1">
                <a:tableStyleId>{5C22544A-7EE6-4342-B048-85BDC9FD1C3A}</a:tableStyleId>
              </a:tblPr>
              <a:tblGrid>
                <a:gridCol w="11236082">
                  <a:extLst>
                    <a:ext uri="{9D8B030D-6E8A-4147-A177-3AD203B41FA5}">
                      <a16:colId xmlns:a16="http://schemas.microsoft.com/office/drawing/2014/main" val="20001"/>
                    </a:ext>
                  </a:extLst>
                </a:gridCol>
              </a:tblGrid>
              <a:tr h="3014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b="1" baseline="0">
                          <a:solidFill>
                            <a:schemeClr val="bg2"/>
                          </a:solidFill>
                          <a:latin typeface="+mj-lt"/>
                        </a:rPr>
                        <a:t>EA Recommendation </a:t>
                      </a:r>
                      <a:r>
                        <a:rPr lang="en-CA" sz="1400" b="1" kern="1200">
                          <a:solidFill>
                            <a:schemeClr val="bg2"/>
                          </a:solidFill>
                          <a:latin typeface="+mj-lt"/>
                          <a:ea typeface="+mn-ea"/>
                          <a:cs typeface="+mn-cs"/>
                        </a:rPr>
                        <a:t>and Proposed Conditions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172"/>
                    </a:solidFill>
                  </a:tcPr>
                </a:tc>
                <a:extLst>
                  <a:ext uri="{0D108BD9-81ED-4DB2-BD59-A6C34878D82A}">
                    <a16:rowId xmlns:a16="http://schemas.microsoft.com/office/drawing/2014/main" val="10000"/>
                  </a:ext>
                </a:extLst>
              </a:tr>
              <a:tr h="740694">
                <a:tc>
                  <a:txBody>
                    <a:bodyPr/>
                    <a:lstStyle/>
                    <a:p>
                      <a:endParaRPr lang="en-CA" sz="1800" kern="1200" baseline="0">
                        <a:solidFill>
                          <a:schemeClr val="tx1"/>
                        </a:solidFill>
                        <a:latin typeface="+mn-lt"/>
                        <a:ea typeface="+mn-ea"/>
                        <a:cs typeface="+mn-cs"/>
                      </a:endParaRPr>
                    </a:p>
                    <a:p>
                      <a:endParaRPr lang="en-CA" sz="1800" kern="1200" baseline="0">
                        <a:solidFill>
                          <a:schemeClr val="tx1"/>
                        </a:solidFill>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300966A-9B56-4ECC-9115-46F66B160E8E}"/>
              </a:ext>
            </a:extLst>
          </p:cNvPr>
          <p:cNvSpPr txBox="1"/>
          <p:nvPr/>
        </p:nvSpPr>
        <p:spPr>
          <a:xfrm>
            <a:off x="7680176" y="334583"/>
            <a:ext cx="4140460" cy="369332"/>
          </a:xfrm>
          <a:prstGeom prst="rect">
            <a:avLst/>
          </a:prstGeom>
          <a:noFill/>
        </p:spPr>
        <p:txBody>
          <a:bodyPr wrap="square" rtlCol="0">
            <a:spAutoFit/>
          </a:bodyPr>
          <a:lstStyle/>
          <a:p>
            <a:r>
              <a:rPr lang="en-CA"/>
              <a:t>EA Assessor:</a:t>
            </a:r>
          </a:p>
        </p:txBody>
      </p:sp>
      <p:sp>
        <p:nvSpPr>
          <p:cNvPr id="4" name="Rectangle 3">
            <a:extLst>
              <a:ext uri="{FF2B5EF4-FFF2-40B4-BE49-F238E27FC236}">
                <a16:creationId xmlns:a16="http://schemas.microsoft.com/office/drawing/2014/main" id="{A366401F-C724-7DD7-CFDF-00840498E08C}"/>
              </a:ext>
            </a:extLst>
          </p:cNvPr>
          <p:cNvSpPr/>
          <p:nvPr/>
        </p:nvSpPr>
        <p:spPr>
          <a:xfrm rot="19236687">
            <a:off x="3304924" y="1885592"/>
            <a:ext cx="5184576" cy="2308324"/>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48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To be completed by HC/PHAC or TBS EA Assessor</a:t>
            </a:r>
          </a:p>
        </p:txBody>
      </p:sp>
      <p:sp>
        <p:nvSpPr>
          <p:cNvPr id="6" name="Slide Number Placeholder 5">
            <a:extLst>
              <a:ext uri="{FF2B5EF4-FFF2-40B4-BE49-F238E27FC236}">
                <a16:creationId xmlns:a16="http://schemas.microsoft.com/office/drawing/2014/main" id="{DBC12D94-5ED8-10A7-A056-46B8BF0E79D8}"/>
              </a:ext>
            </a:extLst>
          </p:cNvPr>
          <p:cNvSpPr>
            <a:spLocks noGrp="1"/>
          </p:cNvSpPr>
          <p:nvPr>
            <p:ph type="sldNum" sz="quarter" idx="12"/>
          </p:nvPr>
        </p:nvSpPr>
        <p:spPr/>
        <p:txBody>
          <a:bodyPr/>
          <a:lstStyle/>
          <a:p>
            <a:fld id="{32D4B517-E49B-41B6-9DBC-23634E0F1CDC}" type="slidenum">
              <a:rPr lang="en-CA" smtClean="0"/>
              <a:pPr/>
              <a:t>20</a:t>
            </a:fld>
            <a:endParaRPr lang="en-CA"/>
          </a:p>
        </p:txBody>
      </p:sp>
      <p:sp>
        <p:nvSpPr>
          <p:cNvPr id="3" name="TextBox 2">
            <a:extLst>
              <a:ext uri="{FF2B5EF4-FFF2-40B4-BE49-F238E27FC236}">
                <a16:creationId xmlns:a16="http://schemas.microsoft.com/office/drawing/2014/main" id="{5F8C8AA6-6A7B-9407-83F1-BFE521B4556E}"/>
              </a:ext>
            </a:extLst>
          </p:cNvPr>
          <p:cNvSpPr txBox="1"/>
          <p:nvPr/>
        </p:nvSpPr>
        <p:spPr>
          <a:xfrm>
            <a:off x="10272642" y="283824"/>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118236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1A1E38-2B2D-4B18-B02E-2AD70A0B3D1A}"/>
              </a:ext>
            </a:extLst>
          </p:cNvPr>
          <p:cNvSpPr>
            <a:spLocks noGrp="1"/>
          </p:cNvSpPr>
          <p:nvPr>
            <p:ph type="title"/>
          </p:nvPr>
        </p:nvSpPr>
        <p:spPr>
          <a:xfrm>
            <a:off x="555007" y="80628"/>
            <a:ext cx="6621113" cy="734654"/>
          </a:xfrm>
        </p:spPr>
        <p:txBody>
          <a:bodyPr/>
          <a:lstStyle/>
          <a:p>
            <a:r>
              <a:rPr lang="en-US"/>
              <a:t>Enterprise Solution – EA Recommendation</a:t>
            </a:r>
            <a:endParaRPr lang="en-CA"/>
          </a:p>
        </p:txBody>
      </p:sp>
      <p:graphicFrame>
        <p:nvGraphicFramePr>
          <p:cNvPr id="5" name="Table 4">
            <a:extLst>
              <a:ext uri="{FF2B5EF4-FFF2-40B4-BE49-F238E27FC236}">
                <a16:creationId xmlns:a16="http://schemas.microsoft.com/office/drawing/2014/main" id="{C1D40543-7323-4E04-A38A-43A2C8A9F2FB}"/>
              </a:ext>
            </a:extLst>
          </p:cNvPr>
          <p:cNvGraphicFramePr>
            <a:graphicFrameLocks noGrp="1"/>
          </p:cNvGraphicFramePr>
          <p:nvPr>
            <p:extLst>
              <p:ext uri="{D42A27DB-BD31-4B8C-83A1-F6EECF244321}">
                <p14:modId xmlns:p14="http://schemas.microsoft.com/office/powerpoint/2010/main" val="2135940012"/>
              </p:ext>
            </p:extLst>
          </p:nvPr>
        </p:nvGraphicFramePr>
        <p:xfrm>
          <a:off x="515380" y="1016730"/>
          <a:ext cx="11197245" cy="3195316"/>
        </p:xfrm>
        <a:graphic>
          <a:graphicData uri="http://schemas.openxmlformats.org/drawingml/2006/table">
            <a:tbl>
              <a:tblPr firstRow="1">
                <a:tableStyleId>{5C22544A-7EE6-4342-B048-85BDC9FD1C3A}</a:tableStyleId>
              </a:tblPr>
              <a:tblGrid>
                <a:gridCol w="1152128">
                  <a:extLst>
                    <a:ext uri="{9D8B030D-6E8A-4147-A177-3AD203B41FA5}">
                      <a16:colId xmlns:a16="http://schemas.microsoft.com/office/drawing/2014/main" val="1183984564"/>
                    </a:ext>
                  </a:extLst>
                </a:gridCol>
                <a:gridCol w="8784976">
                  <a:extLst>
                    <a:ext uri="{9D8B030D-6E8A-4147-A177-3AD203B41FA5}">
                      <a16:colId xmlns:a16="http://schemas.microsoft.com/office/drawing/2014/main" val="2185511286"/>
                    </a:ext>
                  </a:extLst>
                </a:gridCol>
                <a:gridCol w="1260141">
                  <a:extLst>
                    <a:ext uri="{9D8B030D-6E8A-4147-A177-3AD203B41FA5}">
                      <a16:colId xmlns:a16="http://schemas.microsoft.com/office/drawing/2014/main" val="1487803032"/>
                    </a:ext>
                  </a:extLst>
                </a:gridCol>
              </a:tblGrid>
              <a:tr h="396046">
                <a:tc>
                  <a:txBody>
                    <a:bodyPr/>
                    <a:lstStyle/>
                    <a:p>
                      <a:pPr lvl="0"/>
                      <a:r>
                        <a:rPr lang="en-US" sz="1800" b="1" kern="1200" spc="-3">
                          <a:solidFill>
                            <a:schemeClr val="bg1"/>
                          </a:solidFill>
                          <a:latin typeface="+mj-lt"/>
                          <a:ea typeface="+mn-ea"/>
                          <a:cs typeface="Calibri"/>
                        </a:rPr>
                        <a:t>Facet  </a:t>
                      </a: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US" sz="1800" b="1" spc="-3">
                          <a:solidFill>
                            <a:schemeClr val="bg1"/>
                          </a:solidFill>
                          <a:latin typeface="+mj-lt"/>
                          <a:cs typeface="Calibri"/>
                        </a:rPr>
                        <a:t>Summary</a:t>
                      </a:r>
                      <a:endParaRPr lang="en-US" sz="1800" i="1">
                        <a:solidFill>
                          <a:schemeClr val="tx2"/>
                        </a:solidFill>
                        <a:latin typeface="+mj-lt"/>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800" b="1" kern="1200">
                          <a:solidFill>
                            <a:schemeClr val="lt1"/>
                          </a:solidFill>
                          <a:latin typeface="+mj-lt"/>
                          <a:ea typeface="+mn-ea"/>
                          <a:cs typeface="+mn-cs"/>
                        </a:rPr>
                        <a:t>Alignment</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81126647"/>
                  </a:ext>
                </a:extLst>
              </a:tr>
              <a:tr h="92875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1" kern="1200" spc="-3">
                          <a:solidFill>
                            <a:prstClr val="black"/>
                          </a:solidFill>
                          <a:latin typeface="+mn-lt"/>
                          <a:ea typeface="+mn-ea"/>
                          <a:cs typeface="Calibri"/>
                        </a:rPr>
                        <a:t>Governance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r>
                        <a:rPr lang="en-US" sz="1200" i="1">
                          <a:solidFill>
                            <a:schemeClr val="tx2"/>
                          </a:solidFill>
                          <a:cs typeface="Calibri"/>
                        </a:rPr>
                        <a:t>(Please identify what is ready – what is not) </a:t>
                      </a:r>
                    </a:p>
                    <a:p>
                      <a:pPr marL="0" marR="2988" lvl="1" indent="0">
                        <a:buFont typeface="Wingdings" panose="05000000000000000000" pitchFamily="2" charset="2"/>
                        <a:buNone/>
                      </a:pPr>
                      <a:endParaRPr lang="en-US" sz="1200" i="1">
                        <a:solidFill>
                          <a:schemeClr val="tx2"/>
                        </a:solidFill>
                        <a:cs typeface="Calibri"/>
                      </a:endParaRPr>
                    </a:p>
                    <a:p>
                      <a:pPr marL="0" marR="2988" lvl="1" indent="0">
                        <a:buFont typeface="Wingdings" panose="05000000000000000000" pitchFamily="2" charset="2"/>
                        <a:buNone/>
                      </a:pPr>
                      <a:endParaRPr lang="en-US" sz="1200" i="1">
                        <a:solidFill>
                          <a:schemeClr val="tx2"/>
                        </a:solidFill>
                        <a:cs typeface="Calibri"/>
                      </a:endParaRPr>
                    </a:p>
                    <a:p>
                      <a:pPr marL="0" marR="2988" lvl="1" indent="0">
                        <a:buFont typeface="Wingdings" panose="05000000000000000000" pitchFamily="2" charset="2"/>
                        <a:buNone/>
                      </a:pPr>
                      <a:endParaRPr lang="en-CA" sz="1200" i="1">
                        <a:solidFill>
                          <a:schemeClr val="tx2"/>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pPr>
                      <a:r>
                        <a:rPr lang="en-CA" sz="1200"/>
                        <a:t>Fully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791532813"/>
                  </a:ext>
                </a:extLst>
              </a:tr>
              <a:tr h="935258">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1" kern="1200" spc="-3">
                          <a:solidFill>
                            <a:prstClr val="black"/>
                          </a:solidFill>
                          <a:latin typeface="+mn-lt"/>
                          <a:ea typeface="+mn-ea"/>
                          <a:cs typeface="Calibri"/>
                        </a:rPr>
                        <a:t>Culture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200">
                        <a:solidFill>
                          <a:prstClr val="black"/>
                        </a:solidFill>
                        <a:cs typeface="Calibri"/>
                      </a:endParaRPr>
                    </a:p>
                    <a:p>
                      <a:pPr marL="0" marR="2988" lvl="1" indent="0">
                        <a:buFont typeface="Wingdings" panose="05000000000000000000" pitchFamily="2" charset="2"/>
                        <a:buNone/>
                      </a:pPr>
                      <a:endParaRPr lang="en-CA" sz="1200">
                        <a:solidFill>
                          <a:prstClr val="black"/>
                        </a:solidFill>
                        <a:cs typeface="Calibri"/>
                      </a:endParaRPr>
                    </a:p>
                    <a:p>
                      <a:pPr marL="0" marR="2988" lvl="1" indent="0">
                        <a:buFont typeface="Wingdings" panose="05000000000000000000" pitchFamily="2" charset="2"/>
                        <a:buNone/>
                      </a:pPr>
                      <a:endParaRPr lang="en-CA" sz="12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pPr>
                      <a:r>
                        <a:rPr lang="en-CA" sz="1200"/>
                        <a:t>Partially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00"/>
                    </a:solidFill>
                  </a:tcPr>
                </a:tc>
                <a:extLst>
                  <a:ext uri="{0D108BD9-81ED-4DB2-BD59-A6C34878D82A}">
                    <a16:rowId xmlns:a16="http://schemas.microsoft.com/office/drawing/2014/main" val="619253789"/>
                  </a:ext>
                </a:extLst>
              </a:tr>
              <a:tr h="935258">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1" kern="1200" spc="-3">
                          <a:solidFill>
                            <a:prstClr val="black"/>
                          </a:solidFill>
                          <a:latin typeface="+mn-lt"/>
                          <a:ea typeface="+mn-ea"/>
                          <a:cs typeface="Calibri"/>
                        </a:rPr>
                        <a:t>Solution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US" sz="1200">
                        <a:solidFill>
                          <a:prstClr val="black"/>
                        </a:solidFill>
                        <a:cs typeface="Calibri"/>
                      </a:endParaRPr>
                    </a:p>
                    <a:p>
                      <a:pPr marL="0" marR="2988" lvl="1" indent="0">
                        <a:buFont typeface="Wingdings" panose="05000000000000000000" pitchFamily="2" charset="2"/>
                        <a:buNone/>
                      </a:pPr>
                      <a:endParaRPr lang="en-US" sz="1200">
                        <a:solidFill>
                          <a:prstClr val="black"/>
                        </a:solidFill>
                        <a:cs typeface="Calibri"/>
                      </a:endParaRPr>
                    </a:p>
                    <a:p>
                      <a:pPr marL="0" marR="2988" lvl="1" indent="0">
                        <a:buFont typeface="Wingdings" panose="05000000000000000000" pitchFamily="2" charset="2"/>
                        <a:buNone/>
                      </a:pPr>
                      <a:endParaRPr lang="en-CA" sz="12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1200"/>
                        <a:t>Not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1528559871"/>
                  </a:ext>
                </a:extLst>
              </a:tr>
            </a:tbl>
          </a:graphicData>
        </a:graphic>
      </p:graphicFrame>
      <p:graphicFrame>
        <p:nvGraphicFramePr>
          <p:cNvPr id="7" name="Table 6" descr="EA Recommendation">
            <a:extLst>
              <a:ext uri="{FF2B5EF4-FFF2-40B4-BE49-F238E27FC236}">
                <a16:creationId xmlns:a16="http://schemas.microsoft.com/office/drawing/2014/main" id="{1E22CEF1-EFFE-4982-9858-1883C277F95C}"/>
              </a:ext>
            </a:extLst>
          </p:cNvPr>
          <p:cNvGraphicFramePr>
            <a:graphicFrameLocks noGrp="1"/>
          </p:cNvGraphicFramePr>
          <p:nvPr>
            <p:extLst>
              <p:ext uri="{D42A27DB-BD31-4B8C-83A1-F6EECF244321}">
                <p14:modId xmlns:p14="http://schemas.microsoft.com/office/powerpoint/2010/main" val="4240828101"/>
              </p:ext>
            </p:extLst>
          </p:nvPr>
        </p:nvGraphicFramePr>
        <p:xfrm>
          <a:off x="515380" y="4300500"/>
          <a:ext cx="11197244" cy="1972816"/>
        </p:xfrm>
        <a:graphic>
          <a:graphicData uri="http://schemas.openxmlformats.org/drawingml/2006/table">
            <a:tbl>
              <a:tblPr firstRow="1">
                <a:tableStyleId>{5C22544A-7EE6-4342-B048-85BDC9FD1C3A}</a:tableStyleId>
              </a:tblPr>
              <a:tblGrid>
                <a:gridCol w="11197244">
                  <a:extLst>
                    <a:ext uri="{9D8B030D-6E8A-4147-A177-3AD203B41FA5}">
                      <a16:colId xmlns:a16="http://schemas.microsoft.com/office/drawing/2014/main" val="20000"/>
                    </a:ext>
                  </a:extLst>
                </a:gridCol>
              </a:tblGrid>
              <a:tr h="316632">
                <a:tc>
                  <a:txBody>
                    <a:bodyPr/>
                    <a:lstStyle/>
                    <a:p>
                      <a:r>
                        <a:rPr lang="en-CA" sz="1800" b="1" baseline="0">
                          <a:solidFill>
                            <a:schemeClr val="bg2"/>
                          </a:solidFill>
                          <a:latin typeface="+mj-lt"/>
                        </a:rPr>
                        <a:t>EA Recommendation</a:t>
                      </a:r>
                      <a:endParaRPr lang="en-CA" sz="1800" b="1">
                        <a:solidFill>
                          <a:schemeClr val="bg2"/>
                        </a:solidFill>
                        <a:latin typeface="+mj-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5172"/>
                    </a:solidFill>
                  </a:tcPr>
                </a:tc>
                <a:extLst>
                  <a:ext uri="{0D108BD9-81ED-4DB2-BD59-A6C34878D82A}">
                    <a16:rowId xmlns:a16="http://schemas.microsoft.com/office/drawing/2014/main" val="10000"/>
                  </a:ext>
                </a:extLst>
              </a:tr>
              <a:tr h="1607056">
                <a:tc>
                  <a:txBody>
                    <a:bodyPr/>
                    <a:lstStyle/>
                    <a:p>
                      <a:endParaRPr lang="en-US"/>
                    </a:p>
                    <a:p>
                      <a:endParaRPr lang="en-US"/>
                    </a:p>
                    <a:p>
                      <a:endParaRPr lang="en-US"/>
                    </a:p>
                    <a:p>
                      <a:endParaRPr lang="en-US"/>
                    </a:p>
                    <a:p>
                      <a:endParaRPr lang="en-CA"/>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bl>
          </a:graphicData>
        </a:graphic>
      </p:graphicFrame>
      <p:sp>
        <p:nvSpPr>
          <p:cNvPr id="12" name="TextBox 11">
            <a:extLst>
              <a:ext uri="{FF2B5EF4-FFF2-40B4-BE49-F238E27FC236}">
                <a16:creationId xmlns:a16="http://schemas.microsoft.com/office/drawing/2014/main" id="{D1EE7B0C-A2E9-6FA7-30C0-EA2AEDE261CE}"/>
              </a:ext>
            </a:extLst>
          </p:cNvPr>
          <p:cNvSpPr txBox="1"/>
          <p:nvPr/>
        </p:nvSpPr>
        <p:spPr>
          <a:xfrm>
            <a:off x="7680176" y="334583"/>
            <a:ext cx="4140460" cy="369332"/>
          </a:xfrm>
          <a:prstGeom prst="rect">
            <a:avLst/>
          </a:prstGeom>
          <a:noFill/>
        </p:spPr>
        <p:txBody>
          <a:bodyPr wrap="square" rtlCol="0">
            <a:spAutoFit/>
          </a:bodyPr>
          <a:lstStyle/>
          <a:p>
            <a:r>
              <a:rPr lang="en-CA"/>
              <a:t>EA Assessor:</a:t>
            </a:r>
          </a:p>
        </p:txBody>
      </p:sp>
      <p:sp>
        <p:nvSpPr>
          <p:cNvPr id="6" name="Rectangle 5">
            <a:extLst>
              <a:ext uri="{FF2B5EF4-FFF2-40B4-BE49-F238E27FC236}">
                <a16:creationId xmlns:a16="http://schemas.microsoft.com/office/drawing/2014/main" id="{B3F27735-BB59-5F35-E26C-A7DD134E1C0F}"/>
              </a:ext>
            </a:extLst>
          </p:cNvPr>
          <p:cNvSpPr/>
          <p:nvPr/>
        </p:nvSpPr>
        <p:spPr>
          <a:xfrm rot="19236687">
            <a:off x="3304924" y="2254924"/>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48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To be completed by TBS EA Assessor</a:t>
            </a:r>
          </a:p>
        </p:txBody>
      </p:sp>
      <p:sp>
        <p:nvSpPr>
          <p:cNvPr id="8" name="Slide Number Placeholder 7">
            <a:extLst>
              <a:ext uri="{FF2B5EF4-FFF2-40B4-BE49-F238E27FC236}">
                <a16:creationId xmlns:a16="http://schemas.microsoft.com/office/drawing/2014/main" id="{73DA426B-225A-5304-027F-8288114B8577}"/>
              </a:ext>
            </a:extLst>
          </p:cNvPr>
          <p:cNvSpPr>
            <a:spLocks noGrp="1"/>
          </p:cNvSpPr>
          <p:nvPr>
            <p:ph type="sldNum" sz="quarter" idx="12"/>
          </p:nvPr>
        </p:nvSpPr>
        <p:spPr/>
        <p:txBody>
          <a:bodyPr/>
          <a:lstStyle/>
          <a:p>
            <a:fld id="{32D4B517-E49B-41B6-9DBC-23634E0F1CDC}" type="slidenum">
              <a:rPr lang="en-CA" smtClean="0"/>
              <a:pPr/>
              <a:t>21</a:t>
            </a:fld>
            <a:endParaRPr lang="en-CA"/>
          </a:p>
        </p:txBody>
      </p:sp>
      <p:sp>
        <p:nvSpPr>
          <p:cNvPr id="2" name="TextBox 1">
            <a:extLst>
              <a:ext uri="{FF2B5EF4-FFF2-40B4-BE49-F238E27FC236}">
                <a16:creationId xmlns:a16="http://schemas.microsoft.com/office/drawing/2014/main" id="{3C8A6618-1AA2-8B34-51BF-C193CB0BF194}"/>
              </a:ext>
            </a:extLst>
          </p:cNvPr>
          <p:cNvSpPr txBox="1"/>
          <p:nvPr/>
        </p:nvSpPr>
        <p:spPr>
          <a:xfrm>
            <a:off x="10272642" y="283824"/>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26253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551384" y="116632"/>
            <a:ext cx="8100900" cy="644563"/>
          </a:xfrm>
        </p:spPr>
        <p:txBody>
          <a:bodyPr>
            <a:normAutofit/>
          </a:bodyPr>
          <a:lstStyle/>
          <a:p>
            <a:pPr marL="9525" indent="-9525"/>
            <a:r>
              <a:rPr lang="en-US"/>
              <a:t>Glossary </a:t>
            </a:r>
            <a:r>
              <a:rPr lang="en-US" sz="2000"/>
              <a:t>– List of Acronyms Used In This Presentation</a:t>
            </a:r>
            <a:endParaRPr lang="en-CA"/>
          </a:p>
        </p:txBody>
      </p:sp>
      <p:graphicFrame>
        <p:nvGraphicFramePr>
          <p:cNvPr id="3" name="Table 3">
            <a:extLst>
              <a:ext uri="{FF2B5EF4-FFF2-40B4-BE49-F238E27FC236}">
                <a16:creationId xmlns:a16="http://schemas.microsoft.com/office/drawing/2014/main" id="{B4AA935F-FBAA-41E3-A3C3-0B7977D32E60}"/>
              </a:ext>
            </a:extLst>
          </p:cNvPr>
          <p:cNvGraphicFramePr>
            <a:graphicFrameLocks noGrp="1"/>
          </p:cNvGraphicFramePr>
          <p:nvPr>
            <p:extLst>
              <p:ext uri="{D42A27DB-BD31-4B8C-83A1-F6EECF244321}">
                <p14:modId xmlns:p14="http://schemas.microsoft.com/office/powerpoint/2010/main" val="178439010"/>
              </p:ext>
            </p:extLst>
          </p:nvPr>
        </p:nvGraphicFramePr>
        <p:xfrm>
          <a:off x="551384" y="1160748"/>
          <a:ext cx="10837204" cy="5191760"/>
        </p:xfrm>
        <a:graphic>
          <a:graphicData uri="http://schemas.openxmlformats.org/drawingml/2006/table">
            <a:tbl>
              <a:tblPr firstRow="1" bandRow="1">
                <a:tableStyleId>{5C22544A-7EE6-4342-B048-85BDC9FD1C3A}</a:tableStyleId>
              </a:tblPr>
              <a:tblGrid>
                <a:gridCol w="2712864">
                  <a:extLst>
                    <a:ext uri="{9D8B030D-6E8A-4147-A177-3AD203B41FA5}">
                      <a16:colId xmlns:a16="http://schemas.microsoft.com/office/drawing/2014/main" val="658724787"/>
                    </a:ext>
                  </a:extLst>
                </a:gridCol>
                <a:gridCol w="8124340">
                  <a:extLst>
                    <a:ext uri="{9D8B030D-6E8A-4147-A177-3AD203B41FA5}">
                      <a16:colId xmlns:a16="http://schemas.microsoft.com/office/drawing/2014/main" val="2571627625"/>
                    </a:ext>
                  </a:extLst>
                </a:gridCol>
              </a:tblGrid>
              <a:tr h="370840">
                <a:tc>
                  <a:txBody>
                    <a:bodyPr/>
                    <a:lstStyle/>
                    <a:p>
                      <a:r>
                        <a:rPr lang="en-CA" sz="1800"/>
                        <a:t>Acronym</a:t>
                      </a:r>
                      <a:endParaRPr lang="en-CA"/>
                    </a:p>
                  </a:txBody>
                  <a:tcPr/>
                </a:tc>
                <a:tc>
                  <a:txBody>
                    <a:bodyPr/>
                    <a:lstStyle/>
                    <a:p>
                      <a:r>
                        <a:rPr lang="en-CA"/>
                        <a:t>Definition</a:t>
                      </a:r>
                    </a:p>
                  </a:txBody>
                  <a:tcPr/>
                </a:tc>
                <a:extLst>
                  <a:ext uri="{0D108BD9-81ED-4DB2-BD59-A6C34878D82A}">
                    <a16:rowId xmlns:a16="http://schemas.microsoft.com/office/drawing/2014/main" val="1113657796"/>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1531737397"/>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765522351"/>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399580653"/>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358058191"/>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2654454501"/>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422872545"/>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3324657545"/>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2405657406"/>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2092250666"/>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1252610540"/>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1422564073"/>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4138029284"/>
                  </a:ext>
                </a:extLst>
              </a:tr>
              <a:tr h="370840">
                <a:tc>
                  <a:txBody>
                    <a:bodyPr/>
                    <a:lstStyle/>
                    <a:p>
                      <a:endParaRPr lang="en-CA"/>
                    </a:p>
                  </a:txBody>
                  <a:tcPr/>
                </a:tc>
                <a:tc>
                  <a:txBody>
                    <a:bodyPr/>
                    <a:lstStyle/>
                    <a:p>
                      <a:endParaRPr lang="en-CA"/>
                    </a:p>
                  </a:txBody>
                  <a:tcPr/>
                </a:tc>
                <a:extLst>
                  <a:ext uri="{0D108BD9-81ED-4DB2-BD59-A6C34878D82A}">
                    <a16:rowId xmlns:a16="http://schemas.microsoft.com/office/drawing/2014/main" val="2707036672"/>
                  </a:ext>
                </a:extLst>
              </a:tr>
            </a:tbl>
          </a:graphicData>
        </a:graphic>
      </p:graphicFrame>
      <p:sp>
        <p:nvSpPr>
          <p:cNvPr id="2" name="Slide Number Placeholder 1">
            <a:extLst>
              <a:ext uri="{FF2B5EF4-FFF2-40B4-BE49-F238E27FC236}">
                <a16:creationId xmlns:a16="http://schemas.microsoft.com/office/drawing/2014/main" id="{ADACA423-FC38-FA23-2414-41D08A043464}"/>
              </a:ext>
            </a:extLst>
          </p:cNvPr>
          <p:cNvSpPr>
            <a:spLocks noGrp="1"/>
          </p:cNvSpPr>
          <p:nvPr>
            <p:ph type="sldNum" sz="quarter" idx="12"/>
          </p:nvPr>
        </p:nvSpPr>
        <p:spPr/>
        <p:txBody>
          <a:bodyPr/>
          <a:lstStyle/>
          <a:p>
            <a:fld id="{32D4B517-E49B-41B6-9DBC-23634E0F1CDC}" type="slidenum">
              <a:rPr lang="en-CA" smtClean="0"/>
              <a:pPr/>
              <a:t>22</a:t>
            </a:fld>
            <a:endParaRPr lang="en-CA"/>
          </a:p>
        </p:txBody>
      </p:sp>
      <p:sp>
        <p:nvSpPr>
          <p:cNvPr id="4" name="TextBox 3">
            <a:extLst>
              <a:ext uri="{FF2B5EF4-FFF2-40B4-BE49-F238E27FC236}">
                <a16:creationId xmlns:a16="http://schemas.microsoft.com/office/drawing/2014/main" id="{07348640-B77D-4C55-B3FB-C0A2288C2548}"/>
              </a:ext>
            </a:extLst>
          </p:cNvPr>
          <p:cNvSpPr txBox="1"/>
          <p:nvPr/>
        </p:nvSpPr>
        <p:spPr>
          <a:xfrm>
            <a:off x="10314176" y="201527"/>
            <a:ext cx="17247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ARB, DASH, GC EARB</a:t>
            </a:r>
          </a:p>
          <a:p>
            <a:r>
              <a:rPr lang="en-US"/>
              <a:t>Gate 0, Gate 2</a:t>
            </a:r>
          </a:p>
        </p:txBody>
      </p:sp>
    </p:spTree>
    <p:extLst>
      <p:ext uri="{BB962C8B-B14F-4D97-AF65-F5344CB8AC3E}">
        <p14:creationId xmlns:p14="http://schemas.microsoft.com/office/powerpoint/2010/main" val="2301161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457200" y="66054"/>
            <a:ext cx="6723235" cy="878670"/>
          </a:xfrm>
        </p:spPr>
        <p:txBody>
          <a:bodyPr/>
          <a:lstStyle/>
          <a:p>
            <a:r>
              <a:rPr lang="en-CA"/>
              <a:t>Business Capabilities Addressed</a:t>
            </a:r>
          </a:p>
        </p:txBody>
      </p:sp>
      <p:graphicFrame>
        <p:nvGraphicFramePr>
          <p:cNvPr id="13" name="Table 12">
            <a:extLst>
              <a:ext uri="{FF2B5EF4-FFF2-40B4-BE49-F238E27FC236}">
                <a16:creationId xmlns:a16="http://schemas.microsoft.com/office/drawing/2014/main" id="{4F2ED8C1-0F7E-4337-BFAE-D3A7A71A2155}"/>
              </a:ext>
            </a:extLst>
          </p:cNvPr>
          <p:cNvGraphicFramePr>
            <a:graphicFrameLocks noGrp="1"/>
          </p:cNvGraphicFramePr>
          <p:nvPr>
            <p:extLst>
              <p:ext uri="{D42A27DB-BD31-4B8C-83A1-F6EECF244321}">
                <p14:modId xmlns:p14="http://schemas.microsoft.com/office/powerpoint/2010/main" val="303229805"/>
              </p:ext>
            </p:extLst>
          </p:nvPr>
        </p:nvGraphicFramePr>
        <p:xfrm>
          <a:off x="1057543" y="1030285"/>
          <a:ext cx="10076913" cy="5650605"/>
        </p:xfrm>
        <a:graphic>
          <a:graphicData uri="http://schemas.openxmlformats.org/drawingml/2006/table">
            <a:tbl>
              <a:tblPr firstRow="1" bandRow="1">
                <a:tableStyleId>{5C22544A-7EE6-4342-B048-85BDC9FD1C3A}</a:tableStyleId>
              </a:tblPr>
              <a:tblGrid>
                <a:gridCol w="1827752">
                  <a:extLst>
                    <a:ext uri="{9D8B030D-6E8A-4147-A177-3AD203B41FA5}">
                      <a16:colId xmlns:a16="http://schemas.microsoft.com/office/drawing/2014/main" val="20000"/>
                    </a:ext>
                  </a:extLst>
                </a:gridCol>
                <a:gridCol w="3955975">
                  <a:extLst>
                    <a:ext uri="{9D8B030D-6E8A-4147-A177-3AD203B41FA5}">
                      <a16:colId xmlns:a16="http://schemas.microsoft.com/office/drawing/2014/main" val="20002"/>
                    </a:ext>
                  </a:extLst>
                </a:gridCol>
                <a:gridCol w="4293186">
                  <a:extLst>
                    <a:ext uri="{9D8B030D-6E8A-4147-A177-3AD203B41FA5}">
                      <a16:colId xmlns:a16="http://schemas.microsoft.com/office/drawing/2014/main" val="528021995"/>
                    </a:ext>
                  </a:extLst>
                </a:gridCol>
              </a:tblGrid>
              <a:tr h="408045">
                <a:tc>
                  <a:txBody>
                    <a:bodyPr/>
                    <a:lstStyle/>
                    <a:p>
                      <a:r>
                        <a:rPr lang="en-CA" sz="1100"/>
                        <a:t>Business Capabilities</a:t>
                      </a:r>
                    </a:p>
                  </a:txBody>
                  <a:tcPr/>
                </a:tc>
                <a:tc>
                  <a:txBody>
                    <a:bodyPr/>
                    <a:lstStyle/>
                    <a:p>
                      <a:r>
                        <a:rPr lang="en-CA" sz="1100"/>
                        <a:t>List the GC Business capabilities addressed (Level 2)</a:t>
                      </a:r>
                    </a:p>
                  </a:txBody>
                  <a:tcPr/>
                </a:tc>
                <a:tc>
                  <a:txBody>
                    <a:bodyPr/>
                    <a:lstStyle/>
                    <a:p>
                      <a:pPr lvl="0">
                        <a:buNone/>
                      </a:pPr>
                      <a:r>
                        <a:rPr lang="en-CA" sz="1100"/>
                        <a:t>List of  Departmental Business capabilities addressed (if applicable)</a:t>
                      </a:r>
                    </a:p>
                  </a:txBody>
                  <a:tcPr/>
                </a:tc>
                <a:extLst>
                  <a:ext uri="{0D108BD9-81ED-4DB2-BD59-A6C34878D82A}">
                    <a16:rowId xmlns:a16="http://schemas.microsoft.com/office/drawing/2014/main" val="10000"/>
                  </a:ext>
                </a:extLst>
              </a:tr>
              <a:tr h="370035">
                <a:tc>
                  <a:txBody>
                    <a:bodyPr/>
                    <a:lstStyle/>
                    <a:p>
                      <a:r>
                        <a:rPr lang="en-CA" sz="1000" kern="1200">
                          <a:solidFill>
                            <a:schemeClr val="dk1"/>
                          </a:solidFill>
                          <a:effectLst/>
                          <a:latin typeface="+mn-lt"/>
                          <a:ea typeface="+mn-ea"/>
                          <a:cs typeface="+mn-cs"/>
                        </a:rPr>
                        <a:t>1. Legislation, Regulation and Policy Management</a:t>
                      </a:r>
                      <a:endParaRPr lang="en-CA" sz="1000"/>
                    </a:p>
                  </a:txBody>
                  <a:tcPr/>
                </a:tc>
                <a:tc>
                  <a:txBody>
                    <a:bodyPr/>
                    <a:lstStyle/>
                    <a:p>
                      <a:r>
                        <a:rPr lang="en-CA" sz="1000"/>
                        <a:t>1.3 Policy Management</a:t>
                      </a:r>
                    </a:p>
                  </a:txBody>
                  <a:tcPr/>
                </a:tc>
                <a:tc>
                  <a:txBody>
                    <a:bodyPr/>
                    <a:lstStyle/>
                    <a:p>
                      <a:pPr lvl="0">
                        <a:buNone/>
                      </a:pPr>
                      <a:r>
                        <a:rPr lang="en-CA" sz="1000"/>
                        <a:t>3.1 Strategic Policy Management</a:t>
                      </a:r>
                    </a:p>
                  </a:txBody>
                  <a:tcPr/>
                </a:tc>
                <a:extLst>
                  <a:ext uri="{0D108BD9-81ED-4DB2-BD59-A6C34878D82A}">
                    <a16:rowId xmlns:a16="http://schemas.microsoft.com/office/drawing/2014/main" val="10001"/>
                  </a:ext>
                </a:extLst>
              </a:tr>
              <a:tr h="230244">
                <a:tc>
                  <a:txBody>
                    <a:bodyPr/>
                    <a:lstStyle/>
                    <a:p>
                      <a:r>
                        <a:rPr lang="en-CA" sz="1000" kern="1200">
                          <a:solidFill>
                            <a:schemeClr val="dk1"/>
                          </a:solidFill>
                          <a:effectLst/>
                          <a:latin typeface="+mn-lt"/>
                          <a:ea typeface="+mn-ea"/>
                          <a:cs typeface="+mn-cs"/>
                        </a:rPr>
                        <a:t>2. Enterprise Planning</a:t>
                      </a:r>
                      <a:endParaRPr lang="en-CA" sz="1000"/>
                    </a:p>
                  </a:txBody>
                  <a:tcPr/>
                </a:tc>
                <a:tc>
                  <a:txBody>
                    <a:bodyPr/>
                    <a:lstStyle/>
                    <a:p>
                      <a:r>
                        <a:rPr lang="en-CA" sz="1000"/>
                        <a:t>2.3 Program and Service Planning</a:t>
                      </a:r>
                    </a:p>
                  </a:txBody>
                  <a:tcPr/>
                </a:tc>
                <a:tc>
                  <a:txBody>
                    <a:bodyPr/>
                    <a:lstStyle/>
                    <a:p>
                      <a:pPr lvl="0">
                        <a:buNone/>
                      </a:pPr>
                      <a:r>
                        <a:rPr lang="en-CA" sz="1000"/>
                        <a:t>3.2 Program Management</a:t>
                      </a:r>
                    </a:p>
                  </a:txBody>
                  <a:tcPr/>
                </a:tc>
                <a:extLst>
                  <a:ext uri="{0D108BD9-81ED-4DB2-BD59-A6C34878D82A}">
                    <a16:rowId xmlns:a16="http://schemas.microsoft.com/office/drawing/2014/main" val="10002"/>
                  </a:ext>
                </a:extLst>
              </a:tr>
              <a:tr h="396044">
                <a:tc>
                  <a:txBody>
                    <a:bodyPr/>
                    <a:lstStyle/>
                    <a:p>
                      <a:r>
                        <a:rPr lang="en-CA" sz="1000" kern="1200">
                          <a:solidFill>
                            <a:schemeClr val="dk1"/>
                          </a:solidFill>
                          <a:effectLst/>
                          <a:latin typeface="+mn-lt"/>
                          <a:ea typeface="+mn-ea"/>
                          <a:cs typeface="+mn-cs"/>
                        </a:rPr>
                        <a:t>3. Outcomes Management</a:t>
                      </a:r>
                      <a:endParaRPr lang="en-CA" sz="1000"/>
                    </a:p>
                  </a:txBody>
                  <a:tcPr/>
                </a:tc>
                <a:tc>
                  <a:txBody>
                    <a:bodyPr/>
                    <a:lstStyle/>
                    <a:p>
                      <a:r>
                        <a:rPr lang="en-CA" sz="1000"/>
                        <a:t>3.2 </a:t>
                      </a:r>
                      <a:r>
                        <a:rPr lang="en-CA" sz="1000" kern="1200">
                          <a:solidFill>
                            <a:schemeClr val="dk1"/>
                          </a:solidFill>
                          <a:effectLst/>
                          <a:latin typeface="+mn-lt"/>
                          <a:ea typeface="+mn-ea"/>
                          <a:cs typeface="+mn-cs"/>
                        </a:rPr>
                        <a:t>Performance Management</a:t>
                      </a:r>
                    </a:p>
                    <a:p>
                      <a:pPr lvl="0">
                        <a:buNone/>
                      </a:pPr>
                      <a:r>
                        <a:rPr lang="en-CA" sz="1000" b="0" i="0" u="none" strike="noStrike" kern="1200" noProof="0">
                          <a:effectLst/>
                        </a:rPr>
                        <a:t>3.3 Reporting Framework Management </a:t>
                      </a:r>
                      <a:endParaRPr lang="en-CA"/>
                    </a:p>
                  </a:txBody>
                  <a:tcPr/>
                </a:tc>
                <a:tc>
                  <a:txBody>
                    <a:bodyPr/>
                    <a:lstStyle/>
                    <a:p>
                      <a:pPr lvl="0">
                        <a:buNone/>
                      </a:pPr>
                      <a:r>
                        <a:rPr lang="en-CA" sz="1000" b="0" i="0" u="none" strike="noStrike" kern="1200" noProof="0">
                          <a:effectLst/>
                        </a:rPr>
                        <a:t>2.5 Departmental Performance Management</a:t>
                      </a:r>
                    </a:p>
                    <a:p>
                      <a:pPr lvl="0">
                        <a:buNone/>
                      </a:pPr>
                      <a:r>
                        <a:rPr lang="en-CA" sz="1000" b="0" i="0" u="none" strike="noStrike" kern="1200" noProof="0">
                          <a:effectLst/>
                        </a:rPr>
                        <a:t>8.1 Service Quality Assurance</a:t>
                      </a:r>
                    </a:p>
                    <a:p>
                      <a:pPr lvl="0">
                        <a:buNone/>
                      </a:pPr>
                      <a:r>
                        <a:rPr lang="en-CA" sz="1000" b="0" i="0" u="none" strike="noStrike" kern="1200" noProof="0">
                          <a:effectLst/>
                        </a:rPr>
                        <a:t>8.2 Service Efficiency Assurance</a:t>
                      </a:r>
                    </a:p>
                    <a:p>
                      <a:pPr lvl="0">
                        <a:buNone/>
                      </a:pPr>
                      <a:r>
                        <a:rPr lang="en-CA" sz="1000" b="0" i="0" u="none" strike="noStrike" kern="1200" noProof="0">
                          <a:effectLst/>
                        </a:rPr>
                        <a:t>11.7 Corporate Reporting</a:t>
                      </a:r>
                    </a:p>
                  </a:txBody>
                  <a:tcPr/>
                </a:tc>
                <a:extLst>
                  <a:ext uri="{0D108BD9-81ED-4DB2-BD59-A6C34878D82A}">
                    <a16:rowId xmlns:a16="http://schemas.microsoft.com/office/drawing/2014/main" val="10003"/>
                  </a:ext>
                </a:extLst>
              </a:tr>
              <a:tr h="0">
                <a:tc>
                  <a:txBody>
                    <a:bodyPr/>
                    <a:lstStyle/>
                    <a:p>
                      <a:r>
                        <a:rPr lang="en-CA" sz="1000" kern="1200">
                          <a:solidFill>
                            <a:schemeClr val="dk1"/>
                          </a:solidFill>
                          <a:effectLst/>
                          <a:latin typeface="+mn-lt"/>
                          <a:ea typeface="+mn-ea"/>
                          <a:cs typeface="+mn-cs"/>
                        </a:rPr>
                        <a:t>4. Relationship Management</a:t>
                      </a:r>
                      <a:endParaRPr lang="en-CA" sz="1000"/>
                    </a:p>
                  </a:txBody>
                  <a:tcPr/>
                </a:tc>
                <a:tc>
                  <a:txBody>
                    <a:bodyPr/>
                    <a:lstStyle/>
                    <a:p>
                      <a:r>
                        <a:rPr lang="en-CA" sz="1000"/>
                        <a:t>4.1 Stakeholder Awareness Management</a:t>
                      </a:r>
                      <a:endParaRPr lang="en-US" sz="1000"/>
                    </a:p>
                    <a:p>
                      <a:pPr lvl="0">
                        <a:buNone/>
                      </a:pPr>
                      <a:r>
                        <a:rPr lang="en-CA" sz="1000"/>
                        <a:t>4.2 Stakeholder Information Management</a:t>
                      </a:r>
                    </a:p>
                    <a:p>
                      <a:pPr lvl="0">
                        <a:buNone/>
                      </a:pPr>
                      <a:r>
                        <a:rPr lang="en-CA" sz="1000"/>
                        <a:t>4.3 </a:t>
                      </a:r>
                      <a:r>
                        <a:rPr lang="en-CA" sz="1000" kern="1200">
                          <a:solidFill>
                            <a:schemeClr val="dk1"/>
                          </a:solidFill>
                          <a:effectLst/>
                          <a:latin typeface="+mn-lt"/>
                          <a:ea typeface="+mn-ea"/>
                          <a:cs typeface="+mn-cs"/>
                        </a:rPr>
                        <a:t>Stakeholder Interaction Management</a:t>
                      </a:r>
                      <a:endParaRPr lang="en-CA" sz="1000"/>
                    </a:p>
                  </a:txBody>
                  <a:tcPr/>
                </a:tc>
                <a:tc>
                  <a:txBody>
                    <a:bodyPr/>
                    <a:lstStyle/>
                    <a:p>
                      <a:pPr lvl="0">
                        <a:buNone/>
                      </a:pPr>
                      <a:r>
                        <a:rPr lang="en-CA" sz="1000" kern="1200">
                          <a:solidFill>
                            <a:schemeClr val="dk1"/>
                          </a:solidFill>
                          <a:effectLst/>
                          <a:latin typeface="+mn-lt"/>
                          <a:ea typeface="+mn-ea"/>
                          <a:cs typeface="+mn-cs"/>
                        </a:rPr>
                        <a:t>5.1 Client Intelligence Management</a:t>
                      </a:r>
                    </a:p>
                    <a:p>
                      <a:pPr lvl="0">
                        <a:buNone/>
                      </a:pPr>
                      <a:r>
                        <a:rPr lang="en-CA" sz="1000" kern="1200">
                          <a:solidFill>
                            <a:schemeClr val="dk1"/>
                          </a:solidFill>
                          <a:effectLst/>
                          <a:latin typeface="+mn-lt"/>
                          <a:ea typeface="+mn-ea"/>
                          <a:cs typeface="+mn-cs"/>
                        </a:rPr>
                        <a:t>5.2 Client Awareness Management</a:t>
                      </a:r>
                    </a:p>
                    <a:p>
                      <a:pPr lvl="0">
                        <a:buNone/>
                      </a:pPr>
                      <a:r>
                        <a:rPr lang="en-CA" sz="1000" kern="1200">
                          <a:solidFill>
                            <a:schemeClr val="dk1"/>
                          </a:solidFill>
                          <a:effectLst/>
                          <a:latin typeface="+mn-lt"/>
                          <a:ea typeface="+mn-ea"/>
                          <a:cs typeface="+mn-cs"/>
                        </a:rPr>
                        <a:t>5.3 Client Engagement Management</a:t>
                      </a:r>
                    </a:p>
                    <a:p>
                      <a:pPr lvl="0">
                        <a:buNone/>
                      </a:pPr>
                      <a:r>
                        <a:rPr lang="en-CA" sz="1000" kern="1200">
                          <a:solidFill>
                            <a:schemeClr val="dk1"/>
                          </a:solidFill>
                          <a:effectLst/>
                          <a:latin typeface="+mn-lt"/>
                          <a:ea typeface="+mn-ea"/>
                          <a:cs typeface="+mn-cs"/>
                        </a:rPr>
                        <a:t>5.4 Client Management</a:t>
                      </a:r>
                    </a:p>
                    <a:p>
                      <a:pPr lvl="0">
                        <a:buNone/>
                      </a:pPr>
                      <a:r>
                        <a:rPr lang="en-CA" sz="1000" kern="1200">
                          <a:solidFill>
                            <a:schemeClr val="dk1"/>
                          </a:solidFill>
                          <a:effectLst/>
                          <a:latin typeface="+mn-lt"/>
                          <a:ea typeface="+mn-ea"/>
                          <a:cs typeface="+mn-cs"/>
                        </a:rPr>
                        <a:t>5.5 Client Communications Management</a:t>
                      </a:r>
                    </a:p>
                    <a:p>
                      <a:pPr lvl="0">
                        <a:buNone/>
                      </a:pPr>
                      <a:r>
                        <a:rPr lang="en-CA" sz="1000" kern="1200">
                          <a:solidFill>
                            <a:schemeClr val="dk1"/>
                          </a:solidFill>
                          <a:effectLst/>
                          <a:latin typeface="+mn-lt"/>
                          <a:ea typeface="+mn-ea"/>
                          <a:cs typeface="+mn-cs"/>
                        </a:rPr>
                        <a:t>7.2 Partner Relationship Management</a:t>
                      </a:r>
                    </a:p>
                  </a:txBody>
                  <a:tcPr/>
                </a:tc>
                <a:extLst>
                  <a:ext uri="{0D108BD9-81ED-4DB2-BD59-A6C34878D82A}">
                    <a16:rowId xmlns:a16="http://schemas.microsoft.com/office/drawing/2014/main" val="10004"/>
                  </a:ext>
                </a:extLst>
              </a:tr>
              <a:tr h="370035">
                <a:tc>
                  <a:txBody>
                    <a:bodyPr/>
                    <a:lstStyle/>
                    <a:p>
                      <a:r>
                        <a:rPr lang="en-CA" sz="1000" kern="1200">
                          <a:solidFill>
                            <a:schemeClr val="dk1"/>
                          </a:solidFill>
                          <a:effectLst/>
                          <a:latin typeface="+mn-lt"/>
                          <a:ea typeface="+mn-ea"/>
                          <a:cs typeface="+mn-cs"/>
                        </a:rPr>
                        <a:t>5. Compliance Management</a:t>
                      </a:r>
                      <a:endParaRPr lang="en-CA" sz="1000"/>
                    </a:p>
                  </a:txBody>
                  <a:tcPr/>
                </a:tc>
                <a:tc>
                  <a:txBody>
                    <a:bodyPr/>
                    <a:lstStyle/>
                    <a:p>
                      <a:r>
                        <a:rPr lang="en-CA" sz="1000"/>
                        <a:t>5.1 Compliance and Investigation Management</a:t>
                      </a:r>
                    </a:p>
                  </a:txBody>
                  <a:tcPr/>
                </a:tc>
                <a:tc>
                  <a:txBody>
                    <a:bodyPr/>
                    <a:lstStyle/>
                    <a:p>
                      <a:pPr lvl="0">
                        <a:buNone/>
                      </a:pPr>
                      <a:r>
                        <a:rPr lang="en-CA" sz="1000"/>
                        <a:t>9.1 Client Compliance</a:t>
                      </a:r>
                    </a:p>
                    <a:p>
                      <a:pPr lvl="0">
                        <a:buNone/>
                      </a:pPr>
                      <a:r>
                        <a:rPr lang="en-CA" sz="1000"/>
                        <a:t>9.3 Investigation Management</a:t>
                      </a:r>
                    </a:p>
                  </a:txBody>
                  <a:tcPr/>
                </a:tc>
                <a:extLst>
                  <a:ext uri="{0D108BD9-81ED-4DB2-BD59-A6C34878D82A}">
                    <a16:rowId xmlns:a16="http://schemas.microsoft.com/office/drawing/2014/main" val="2279398372"/>
                  </a:ext>
                </a:extLst>
              </a:tr>
              <a:tr h="457200">
                <a:tc>
                  <a:txBody>
                    <a:bodyPr/>
                    <a:lstStyle/>
                    <a:p>
                      <a:r>
                        <a:rPr lang="en-CA" sz="1000" kern="1200">
                          <a:solidFill>
                            <a:schemeClr val="dk1"/>
                          </a:solidFill>
                          <a:effectLst/>
                          <a:latin typeface="+mn-lt"/>
                          <a:ea typeface="+mn-ea"/>
                          <a:cs typeface="+mn-cs"/>
                        </a:rPr>
                        <a:t>6. Program and Service Delivery</a:t>
                      </a:r>
                      <a:endParaRPr lang="en-CA" sz="1000"/>
                    </a:p>
                  </a:txBody>
                  <a:tcPr/>
                </a:tc>
                <a:tc>
                  <a:txBody>
                    <a:bodyPr/>
                    <a:lstStyle/>
                    <a:p>
                      <a:r>
                        <a:rPr lang="en-CA" sz="1000"/>
                        <a:t>6.1 Agreements Management</a:t>
                      </a:r>
                    </a:p>
                    <a:p>
                      <a:pPr lvl="0">
                        <a:buNone/>
                      </a:pPr>
                      <a:r>
                        <a:rPr lang="en-CA" sz="1000" b="0" i="0" u="none" strike="noStrike" noProof="0">
                          <a:latin typeface="Calibri"/>
                        </a:rPr>
                        <a:t>6.4 Dispute Resolution Management </a:t>
                      </a:r>
                      <a:endParaRPr lang="en-CA"/>
                    </a:p>
                    <a:p>
                      <a:pPr lvl="0">
                        <a:buNone/>
                      </a:pPr>
                      <a:r>
                        <a:rPr lang="en-CA" sz="1000"/>
                        <a:t>6.7 Authorization Management</a:t>
                      </a:r>
                    </a:p>
                    <a:p>
                      <a:pPr lvl="0">
                        <a:buNone/>
                      </a:pPr>
                      <a:r>
                        <a:rPr lang="en-CA" sz="1000"/>
                        <a:t>6.8 Payment Management</a:t>
                      </a:r>
                    </a:p>
                  </a:txBody>
                  <a:tcPr/>
                </a:tc>
                <a:tc>
                  <a:txBody>
                    <a:bodyPr/>
                    <a:lstStyle/>
                    <a:p>
                      <a:pPr lvl="0">
                        <a:buNone/>
                      </a:pPr>
                      <a:r>
                        <a:rPr lang="en-CA" sz="1000"/>
                        <a:t>6.1 Service Enrollment Management</a:t>
                      </a:r>
                    </a:p>
                    <a:p>
                      <a:pPr lvl="0">
                        <a:buNone/>
                      </a:pPr>
                      <a:r>
                        <a:rPr lang="en-CA" sz="1000"/>
                        <a:t>6.3 Payment Management</a:t>
                      </a:r>
                    </a:p>
                    <a:p>
                      <a:pPr lvl="0">
                        <a:buNone/>
                      </a:pPr>
                      <a:r>
                        <a:rPr lang="en-CA" sz="1000"/>
                        <a:t>6.4 Credential Management</a:t>
                      </a:r>
                    </a:p>
                    <a:p>
                      <a:pPr lvl="0">
                        <a:buNone/>
                      </a:pPr>
                      <a:r>
                        <a:rPr lang="en-CA" sz="1000"/>
                        <a:t>6.6 Knowledge Discovery Management</a:t>
                      </a:r>
                    </a:p>
                    <a:p>
                      <a:pPr lvl="0">
                        <a:buNone/>
                      </a:pPr>
                      <a:r>
                        <a:rPr lang="en-CA" sz="1000"/>
                        <a:t>6.9 Appeals &amp; Dispute Resolution Management</a:t>
                      </a:r>
                    </a:p>
                  </a:txBody>
                  <a:tcPr/>
                </a:tc>
                <a:extLst>
                  <a:ext uri="{0D108BD9-81ED-4DB2-BD59-A6C34878D82A}">
                    <a16:rowId xmlns:a16="http://schemas.microsoft.com/office/drawing/2014/main" val="128106008"/>
                  </a:ext>
                </a:extLst>
              </a:tr>
              <a:tr h="365760">
                <a:tc>
                  <a:txBody>
                    <a:bodyPr/>
                    <a:lstStyle/>
                    <a:p>
                      <a:r>
                        <a:rPr lang="en-CA" sz="1000" kern="1200">
                          <a:solidFill>
                            <a:schemeClr val="dk1"/>
                          </a:solidFill>
                          <a:effectLst/>
                          <a:latin typeface="+mn-lt"/>
                          <a:ea typeface="+mn-ea"/>
                          <a:cs typeface="+mn-cs"/>
                        </a:rPr>
                        <a:t>7. Information Management</a:t>
                      </a:r>
                      <a:endParaRPr lang="en-CA" sz="1000"/>
                    </a:p>
                  </a:txBody>
                  <a:tcPr/>
                </a:tc>
                <a:tc>
                  <a:txBody>
                    <a:bodyPr/>
                    <a:lstStyle/>
                    <a:p>
                      <a:r>
                        <a:rPr lang="en-CA" sz="1000"/>
                        <a:t>7.1 Information Lifecycle Management</a:t>
                      </a:r>
                    </a:p>
                    <a:p>
                      <a:pPr lvl="0">
                        <a:buNone/>
                      </a:pPr>
                      <a:r>
                        <a:rPr lang="en-CA" sz="1000"/>
                        <a:t>7.3 Research and Knowledge Management</a:t>
                      </a:r>
                    </a:p>
                  </a:txBody>
                  <a:tcPr/>
                </a:tc>
                <a:tc>
                  <a:txBody>
                    <a:bodyPr/>
                    <a:lstStyle/>
                    <a:p>
                      <a:pPr lvl="0">
                        <a:buNone/>
                      </a:pPr>
                      <a:r>
                        <a:rPr lang="en-CA" sz="1000"/>
                        <a:t>10.5 Information Management</a:t>
                      </a:r>
                    </a:p>
                  </a:txBody>
                  <a:tcPr/>
                </a:tc>
                <a:extLst>
                  <a:ext uri="{0D108BD9-81ED-4DB2-BD59-A6C34878D82A}">
                    <a16:rowId xmlns:a16="http://schemas.microsoft.com/office/drawing/2014/main" val="3852639844"/>
                  </a:ext>
                </a:extLst>
              </a:tr>
              <a:tr h="274320">
                <a:tc>
                  <a:txBody>
                    <a:bodyPr/>
                    <a:lstStyle/>
                    <a:p>
                      <a:r>
                        <a:rPr lang="en-CA" sz="1000" kern="1200">
                          <a:solidFill>
                            <a:schemeClr val="dk1"/>
                          </a:solidFill>
                          <a:effectLst/>
                          <a:latin typeface="+mn-lt"/>
                          <a:ea typeface="+mn-ea"/>
                          <a:cs typeface="+mn-cs"/>
                        </a:rPr>
                        <a:t>8. Government Resources Management</a:t>
                      </a:r>
                      <a:endParaRPr lang="en-CA" sz="1000"/>
                    </a:p>
                  </a:txBody>
                  <a:tcPr/>
                </a:tc>
                <a:tc>
                  <a:txBody>
                    <a:bodyPr/>
                    <a:lstStyle/>
                    <a:p>
                      <a:r>
                        <a:rPr lang="en-CA" sz="1000"/>
                        <a:t>8.2 Financial Management</a:t>
                      </a:r>
                    </a:p>
                    <a:p>
                      <a:pPr lvl="0">
                        <a:buNone/>
                      </a:pPr>
                      <a:r>
                        <a:rPr lang="en-CA" sz="1000"/>
                        <a:t>8.3 Human Resources Management</a:t>
                      </a:r>
                    </a:p>
                    <a:p>
                      <a:pPr lvl="0">
                        <a:buNone/>
                      </a:pPr>
                      <a:r>
                        <a:rPr lang="en-CA" sz="1000"/>
                        <a:t>8.5 Technology Management</a:t>
                      </a:r>
                    </a:p>
                    <a:p>
                      <a:pPr lvl="0">
                        <a:buNone/>
                      </a:pPr>
                      <a:r>
                        <a:rPr lang="en-CA" sz="1000"/>
                        <a:t>8.6 Work Management</a:t>
                      </a:r>
                    </a:p>
                  </a:txBody>
                  <a:tcPr/>
                </a:tc>
                <a:tc>
                  <a:txBody>
                    <a:bodyPr/>
                    <a:lstStyle/>
                    <a:p>
                      <a:pPr lvl="0">
                        <a:buNone/>
                      </a:pPr>
                      <a:r>
                        <a:rPr lang="en-CA" sz="1000"/>
                        <a:t>10.1 Financial Management</a:t>
                      </a:r>
                    </a:p>
                    <a:p>
                      <a:pPr lvl="0">
                        <a:buNone/>
                      </a:pPr>
                      <a:r>
                        <a:rPr lang="en-CA" sz="1000"/>
                        <a:t>10.4 Human Resources Management</a:t>
                      </a:r>
                    </a:p>
                    <a:p>
                      <a:pPr lvl="0">
                        <a:buNone/>
                      </a:pPr>
                      <a:r>
                        <a:rPr lang="en-CA" sz="1000"/>
                        <a:t>10.6 Technology Management</a:t>
                      </a:r>
                    </a:p>
                    <a:p>
                      <a:pPr lvl="0">
                        <a:buNone/>
                      </a:pPr>
                      <a:r>
                        <a:rPr lang="en-CA" sz="1000"/>
                        <a:t>6.2 Service Workflow &amp; Workload Management</a:t>
                      </a:r>
                    </a:p>
                  </a:txBody>
                  <a:tcPr/>
                </a:tc>
                <a:extLst>
                  <a:ext uri="{0D108BD9-81ED-4DB2-BD59-A6C34878D82A}">
                    <a16:rowId xmlns:a16="http://schemas.microsoft.com/office/drawing/2014/main" val="2266534699"/>
                  </a:ext>
                </a:extLst>
              </a:tr>
              <a:tr h="182880">
                <a:tc>
                  <a:txBody>
                    <a:bodyPr/>
                    <a:lstStyle/>
                    <a:p>
                      <a:r>
                        <a:rPr lang="en-CA" sz="1000" kern="1200">
                          <a:solidFill>
                            <a:schemeClr val="dk1"/>
                          </a:solidFill>
                          <a:effectLst/>
                          <a:latin typeface="+mn-lt"/>
                          <a:ea typeface="+mn-ea"/>
                          <a:cs typeface="+mn-cs"/>
                        </a:rPr>
                        <a:t>9. Corporate Management</a:t>
                      </a:r>
                      <a:endParaRPr lang="en-CA" sz="1000"/>
                    </a:p>
                  </a:txBody>
                  <a:tcPr/>
                </a:tc>
                <a:tc>
                  <a:txBody>
                    <a:bodyPr/>
                    <a:lstStyle/>
                    <a:p>
                      <a:r>
                        <a:rPr lang="en-CA" sz="1000"/>
                        <a:t>9.1 Security Management</a:t>
                      </a:r>
                    </a:p>
                    <a:p>
                      <a:pPr lvl="0">
                        <a:buNone/>
                      </a:pPr>
                      <a:r>
                        <a:rPr lang="en-CA" sz="1000"/>
                        <a:t>9.3 Business Transformation Management</a:t>
                      </a:r>
                    </a:p>
                  </a:txBody>
                  <a:tcPr/>
                </a:tc>
                <a:tc>
                  <a:txBody>
                    <a:bodyPr/>
                    <a:lstStyle/>
                    <a:p>
                      <a:pPr lvl="0">
                        <a:buNone/>
                      </a:pPr>
                      <a:r>
                        <a:rPr lang="en-CA" sz="1000"/>
                        <a:t>4.2 Change Design Management</a:t>
                      </a:r>
                    </a:p>
                    <a:p>
                      <a:pPr lvl="0">
                        <a:buNone/>
                      </a:pPr>
                      <a:r>
                        <a:rPr lang="en-CA" sz="1000"/>
                        <a:t>4.3 Change Implementation Management</a:t>
                      </a:r>
                    </a:p>
                    <a:p>
                      <a:pPr lvl="0">
                        <a:buNone/>
                      </a:pPr>
                      <a:r>
                        <a:rPr lang="en-CA" sz="1000"/>
                        <a:t>11.1 Security Management</a:t>
                      </a:r>
                    </a:p>
                  </a:txBody>
                  <a:tcPr/>
                </a:tc>
                <a:extLst>
                  <a:ext uri="{0D108BD9-81ED-4DB2-BD59-A6C34878D82A}">
                    <a16:rowId xmlns:a16="http://schemas.microsoft.com/office/drawing/2014/main" val="2551105539"/>
                  </a:ext>
                </a:extLst>
              </a:tr>
            </a:tbl>
          </a:graphicData>
        </a:graphic>
      </p:graphicFrame>
      <p:sp>
        <p:nvSpPr>
          <p:cNvPr id="21" name="Rectangle 20">
            <a:extLst>
              <a:ext uri="{FF2B5EF4-FFF2-40B4-BE49-F238E27FC236}">
                <a16:creationId xmlns:a16="http://schemas.microsoft.com/office/drawing/2014/main" id="{BDE276F3-B390-9462-B4E5-A083165CD42B}"/>
              </a:ext>
            </a:extLst>
          </p:cNvPr>
          <p:cNvSpPr/>
          <p:nvPr/>
        </p:nvSpPr>
        <p:spPr>
          <a:xfrm rot="19236687">
            <a:off x="3304923" y="2267446"/>
            <a:ext cx="5184576" cy="1569660"/>
          </a:xfrm>
          <a:prstGeom prst="rect">
            <a:avLst/>
          </a:prstGeom>
          <a:noFill/>
          <a:effectLst>
            <a:outerShdw blurRad="50800" dist="50800" dir="5400000" algn="ctr" rotWithShape="0">
              <a:srgbClr val="000000"/>
            </a:outerShdw>
          </a:effectLst>
        </p:spPr>
        <p:txBody>
          <a:bodyPr wrap="square" lIns="91440" tIns="45720" rIns="91440" bIns="45720">
            <a:spAutoFit/>
          </a:bodyPr>
          <a:lstStyle/>
          <a:p>
            <a:pPr algn="ctr"/>
            <a:r>
              <a:rPr lang="en-US" sz="9600" b="1" cap="none" spc="0">
                <a:ln w="9525">
                  <a:solidFill>
                    <a:schemeClr val="bg1"/>
                  </a:solidFill>
                  <a:prstDash val="solid"/>
                </a:ln>
                <a:solidFill>
                  <a:schemeClr val="accent5">
                    <a:alpha val="10000"/>
                  </a:schemeClr>
                </a:solidFill>
                <a:effectLst>
                  <a:outerShdw blurRad="12700" dist="38100" dir="2700000" algn="tl" rotWithShape="0">
                    <a:schemeClr val="accent5">
                      <a:lumMod val="60000"/>
                      <a:lumOff val="40000"/>
                      <a:alpha val="50000"/>
                    </a:schemeClr>
                  </a:outerShdw>
                </a:effectLst>
              </a:rPr>
              <a:t>Example</a:t>
            </a:r>
          </a:p>
        </p:txBody>
      </p:sp>
      <p:sp>
        <p:nvSpPr>
          <p:cNvPr id="3" name="Slide Number Placeholder 2">
            <a:extLst>
              <a:ext uri="{FF2B5EF4-FFF2-40B4-BE49-F238E27FC236}">
                <a16:creationId xmlns:a16="http://schemas.microsoft.com/office/drawing/2014/main" id="{013AC475-C688-A435-C2CD-3ACBD263D4D3}"/>
              </a:ext>
            </a:extLst>
          </p:cNvPr>
          <p:cNvSpPr>
            <a:spLocks noGrp="1"/>
          </p:cNvSpPr>
          <p:nvPr>
            <p:ph type="sldNum" sz="quarter" idx="12"/>
          </p:nvPr>
        </p:nvSpPr>
        <p:spPr/>
        <p:txBody>
          <a:bodyPr/>
          <a:lstStyle/>
          <a:p>
            <a:fld id="{32D4B517-E49B-41B6-9DBC-23634E0F1CDC}" type="slidenum">
              <a:rPr lang="en-CA" smtClean="0"/>
              <a:pPr/>
              <a:t>23</a:t>
            </a:fld>
            <a:endParaRPr lang="en-CA"/>
          </a:p>
        </p:txBody>
      </p:sp>
      <p:sp>
        <p:nvSpPr>
          <p:cNvPr id="4" name="TextBox 3">
            <a:extLst>
              <a:ext uri="{FF2B5EF4-FFF2-40B4-BE49-F238E27FC236}">
                <a16:creationId xmlns:a16="http://schemas.microsoft.com/office/drawing/2014/main" id="{2159A802-A106-9BCE-FEBE-748BE37B0692}"/>
              </a:ext>
            </a:extLst>
          </p:cNvPr>
          <p:cNvSpPr txBox="1"/>
          <p:nvPr/>
        </p:nvSpPr>
        <p:spPr>
          <a:xfrm>
            <a:off x="10679349" y="188640"/>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3108385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5FB7511F-398E-4B57-8A01-C7275F25D2B4}"/>
              </a:ext>
            </a:extLst>
          </p:cNvPr>
          <p:cNvSpPr>
            <a:spLocks noGrp="1"/>
          </p:cNvSpPr>
          <p:nvPr>
            <p:ph type="title"/>
          </p:nvPr>
        </p:nvSpPr>
        <p:spPr>
          <a:xfrm>
            <a:off x="515380" y="0"/>
            <a:ext cx="5432982" cy="878670"/>
          </a:xfrm>
        </p:spPr>
        <p:txBody>
          <a:bodyPr>
            <a:normAutofit/>
          </a:bodyPr>
          <a:lstStyle/>
          <a:p>
            <a:pPr marL="0"/>
            <a:r>
              <a:rPr lang="en-CA" sz="2000" b="1">
                <a:solidFill>
                  <a:schemeClr val="tx1">
                    <a:lumMod val="65000"/>
                    <a:lumOff val="35000"/>
                  </a:schemeClr>
                </a:solidFill>
                <a:latin typeface="+mj-lt"/>
              </a:rPr>
              <a:t>Appendix 1: GC EA Framework</a:t>
            </a:r>
            <a:br>
              <a:rPr lang="en-CA" sz="2000" b="1">
                <a:solidFill>
                  <a:schemeClr val="tx1">
                    <a:lumMod val="65000"/>
                    <a:lumOff val="35000"/>
                  </a:schemeClr>
                </a:solidFill>
                <a:latin typeface="+mj-lt"/>
              </a:rPr>
            </a:br>
            <a:r>
              <a:rPr lang="en-CA" sz="2000">
                <a:latin typeface="+mj-lt"/>
              </a:rPr>
              <a:t>Business Architecture</a:t>
            </a:r>
          </a:p>
        </p:txBody>
      </p:sp>
      <p:pic>
        <p:nvPicPr>
          <p:cNvPr id="10" name="Picture 9">
            <a:extLs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875992" y="244140"/>
            <a:ext cx="616068" cy="467016"/>
          </a:xfrm>
          <a:prstGeom prst="rect">
            <a:avLst/>
          </a:prstGeom>
        </p:spPr>
      </p:pic>
      <p:sp>
        <p:nvSpPr>
          <p:cNvPr id="11" name="Content Placeholder 2">
            <a:extLst>
              <a:ext uri="{FF2B5EF4-FFF2-40B4-BE49-F238E27FC236}">
                <a16:creationId xmlns:a16="http://schemas.microsoft.com/office/drawing/2014/main" id="{337E2BC7-4E5C-4F37-81B4-43843AB0FF0E}"/>
              </a:ext>
            </a:extLst>
          </p:cNvPr>
          <p:cNvSpPr>
            <a:spLocks noGrp="1"/>
          </p:cNvSpPr>
          <p:nvPr>
            <p:ph idx="10"/>
          </p:nvPr>
        </p:nvSpPr>
        <p:spPr>
          <a:xfrm>
            <a:off x="457200" y="1122810"/>
            <a:ext cx="11201400" cy="1190066"/>
          </a:xfrm>
        </p:spPr>
        <p:txBody>
          <a:bodyPr/>
          <a:lstStyle/>
          <a:p>
            <a:r>
              <a:rPr lang="en-US" sz="1400"/>
              <a:t>Business architecture is a critical aspect for the successful implementation of the GC Enterprise Ecosystem Target Architecture. The architectural strategy advocates whole of government approach where IT is aligned to business services and solutions are based on re useable components implementing business capabilities in order to deliver a cohesive user experience. As such, it is essential that business services, stakeholder needs, opportunities to improve cohesion and opportunities for reuse across government be clearly understood. In the past these elements have not been a priority. It is expected that the IT culture and practices will have to change to make business architecture, in general, and these elements a primary focus.</a:t>
            </a:r>
            <a:endParaRPr lang="en-CA" sz="1400"/>
          </a:p>
        </p:txBody>
      </p:sp>
      <p:graphicFrame>
        <p:nvGraphicFramePr>
          <p:cNvPr id="3" name="Table 2"/>
          <p:cNvGraphicFramePr>
            <a:graphicFrameLocks noGrp="1"/>
          </p:cNvGraphicFramePr>
          <p:nvPr/>
        </p:nvGraphicFramePr>
        <p:xfrm>
          <a:off x="457200" y="2389428"/>
          <a:ext cx="11201400" cy="3451842"/>
        </p:xfrm>
        <a:graphic>
          <a:graphicData uri="http://schemas.openxmlformats.org/drawingml/2006/table">
            <a:tbl>
              <a:tblPr firstRow="1">
                <a:tableStyleId>{5C22544A-7EE6-4342-B048-85BDC9FD1C3A}</a:tableStyleId>
              </a:tblPr>
              <a:tblGrid>
                <a:gridCol w="4960244">
                  <a:extLst>
                    <a:ext uri="{9D8B030D-6E8A-4147-A177-3AD203B41FA5}">
                      <a16:colId xmlns:a16="http://schemas.microsoft.com/office/drawing/2014/main" val="20000"/>
                    </a:ext>
                  </a:extLst>
                </a:gridCol>
                <a:gridCol w="6241156">
                  <a:extLst>
                    <a:ext uri="{9D8B030D-6E8A-4147-A177-3AD203B41FA5}">
                      <a16:colId xmlns:a16="http://schemas.microsoft.com/office/drawing/2014/main" val="20001"/>
                    </a:ext>
                  </a:extLst>
                </a:gridCol>
              </a:tblGrid>
              <a:tr h="441066">
                <a:tc>
                  <a:txBody>
                    <a:bodyPr/>
                    <a:lstStyle/>
                    <a:p>
                      <a:pPr marL="0" indent="0">
                        <a:tabLst>
                          <a:tab pos="228600" algn="l"/>
                        </a:tabLst>
                      </a:pPr>
                      <a:r>
                        <a:rPr lang="en-US" sz="1100" b="1">
                          <a:cs typeface="Calibri"/>
                        </a:rPr>
                        <a:t>B-1. Design services digitally from end to end to meet the Government of Canada users and other stakeholders’ needs</a:t>
                      </a:r>
                      <a:endParaRPr lang="en-CA" sz="1100" b="1">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752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Clearly identify internal and external users and other stakeholders and their needs for each policy, program and business service</a:t>
                      </a: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a:buFont typeface="Wingdings" panose="05000000000000000000" pitchFamily="2" charset="2"/>
                        <a:buNone/>
                        <a:tabLst/>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752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Include policy requirement applying to specific users and other stakeholder groups, such as accessibility, gender-based plus analysis, and official languages in the creation of the service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buFont typeface="Wingdings" panose="05000000000000000000" pitchFamily="2" charset="2"/>
                        <a:buNone/>
                        <a:tabLst/>
                      </a:pPr>
                      <a:r>
                        <a:rPr lang="en-CA" sz="1100" kern="1200">
                          <a:solidFill>
                            <a:prstClr val="black"/>
                          </a:solidFill>
                          <a:latin typeface="+mn-lt"/>
                          <a:ea typeface="+mn-ea"/>
                          <a:cs typeface="Calibri"/>
                        </a:rPr>
                        <a:t> </a:t>
                      </a:r>
                      <a:endParaRPr lang="en-US" sz="1100" kern="120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52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dk1"/>
                          </a:solidFill>
                          <a:effectLst/>
                          <a:latin typeface="+mn-lt"/>
                          <a:ea typeface="+mn-ea"/>
                          <a:cs typeface="+mn-cs"/>
                        </a:rPr>
                        <a:t>Perform Algorithmic Impact Assessment (AIA) to support risk mitigation activities when deploying an automated decision system as per </a:t>
                      </a:r>
                      <a:r>
                        <a:rPr lang="en-US" sz="1100" i="1" kern="1200">
                          <a:solidFill>
                            <a:schemeClr val="dk1"/>
                          </a:solidFill>
                          <a:effectLst/>
                          <a:latin typeface="+mn-lt"/>
                          <a:ea typeface="+mn-ea"/>
                          <a:cs typeface="+mn-cs"/>
                        </a:rPr>
                        <a:t>Directive on Automated Decision-Making</a:t>
                      </a:r>
                      <a:endParaRPr lang="en-CA" sz="1100" i="1" kern="1200">
                        <a:solidFill>
                          <a:schemeClr val="dk1"/>
                        </a:solidFill>
                        <a:effectLst/>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buFont typeface="Wingdings" panose="05000000000000000000" pitchFamily="2" charset="2"/>
                        <a:buNone/>
                        <a:tabLst/>
                      </a:pPr>
                      <a:r>
                        <a:rPr lang="en-CA" sz="1100" kern="1200">
                          <a:solidFill>
                            <a:prstClr val="black"/>
                          </a:solidFill>
                          <a:latin typeface="+mn-lt"/>
                          <a:ea typeface="+mn-ea"/>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752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Model end to end business service delivery to provide quality, maximize effectiveness and optimize efficiencies across all channels (for example, lean process)</a:t>
                      </a:r>
                      <a:endParaRPr lang="en-CA" sz="1100" kern="120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1100" kern="1200">
                          <a:solidFill>
                            <a:prstClr val="black"/>
                          </a:solidFill>
                          <a:latin typeface="+mn-lt"/>
                          <a:ea typeface="+mn-ea"/>
                          <a:cs typeface="Calibri"/>
                        </a:rPr>
                        <a:t> </a:t>
                      </a:r>
                      <a:endParaRPr lang="en-US" sz="1100" kern="120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1255984"/>
                  </a:ext>
                </a:extLst>
              </a:tr>
            </a:tbl>
          </a:graphicData>
        </a:graphic>
      </p:graphicFrame>
      <p:sp>
        <p:nvSpPr>
          <p:cNvPr id="4" name="Slide Number Placeholder 3">
            <a:extLst>
              <a:ext uri="{FF2B5EF4-FFF2-40B4-BE49-F238E27FC236}">
                <a16:creationId xmlns:a16="http://schemas.microsoft.com/office/drawing/2014/main" id="{DB75AF85-36E3-6CBD-9171-A065CCC2D3CA}"/>
              </a:ext>
            </a:extLst>
          </p:cNvPr>
          <p:cNvSpPr>
            <a:spLocks noGrp="1"/>
          </p:cNvSpPr>
          <p:nvPr>
            <p:ph type="sldNum" sz="quarter" idx="12"/>
          </p:nvPr>
        </p:nvSpPr>
        <p:spPr/>
        <p:txBody>
          <a:bodyPr/>
          <a:lstStyle/>
          <a:p>
            <a:fld id="{32D4B517-E49B-41B6-9DBC-23634E0F1CDC}" type="slidenum">
              <a:rPr lang="en-CA" smtClean="0"/>
              <a:pPr/>
              <a:t>24</a:t>
            </a:fld>
            <a:endParaRPr lang="en-CA"/>
          </a:p>
        </p:txBody>
      </p:sp>
      <p:sp>
        <p:nvSpPr>
          <p:cNvPr id="5" name="TextBox 4">
            <a:extLst>
              <a:ext uri="{FF2B5EF4-FFF2-40B4-BE49-F238E27FC236}">
                <a16:creationId xmlns:a16="http://schemas.microsoft.com/office/drawing/2014/main" id="{4B20C6A4-6424-BA9A-25E0-F171FEEDECE5}"/>
              </a:ext>
            </a:extLst>
          </p:cNvPr>
          <p:cNvSpPr txBox="1"/>
          <p:nvPr/>
        </p:nvSpPr>
        <p:spPr>
          <a:xfrm>
            <a:off x="10679349" y="188640"/>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942763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9BD5A0B8-3878-4F66-8C7C-86BAF248D464}"/>
              </a:ext>
            </a:extLst>
          </p:cNvPr>
          <p:cNvSpPr>
            <a:spLocks noGrp="1"/>
          </p:cNvSpPr>
          <p:nvPr>
            <p:ph type="title"/>
          </p:nvPr>
        </p:nvSpPr>
        <p:spPr>
          <a:xfrm>
            <a:off x="515380" y="8620"/>
            <a:ext cx="6922074" cy="897752"/>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Business Architecture - continued</a:t>
            </a:r>
          </a:p>
        </p:txBody>
      </p:sp>
      <p:graphicFrame>
        <p:nvGraphicFramePr>
          <p:cNvPr id="12" name="Table 11">
            <a:extLst>
              <a:ext uri="{FF2B5EF4-FFF2-40B4-BE49-F238E27FC236}">
                <a16:creationId xmlns:a16="http://schemas.microsoft.com/office/drawing/2014/main" id="{1A64DC08-48C4-40BB-B4EC-930F76012571}"/>
              </a:ext>
            </a:extLst>
          </p:cNvPr>
          <p:cNvGraphicFramePr>
            <a:graphicFrameLocks noGrp="1"/>
          </p:cNvGraphicFramePr>
          <p:nvPr/>
        </p:nvGraphicFramePr>
        <p:xfrm>
          <a:off x="457200" y="1210268"/>
          <a:ext cx="11206218" cy="5135054"/>
        </p:xfrm>
        <a:graphic>
          <a:graphicData uri="http://schemas.openxmlformats.org/drawingml/2006/table">
            <a:tbl>
              <a:tblPr firstRow="1">
                <a:tableStyleId>{5C22544A-7EE6-4342-B048-85BDC9FD1C3A}</a:tableStyleId>
              </a:tblPr>
              <a:tblGrid>
                <a:gridCol w="4936790">
                  <a:extLst>
                    <a:ext uri="{9D8B030D-6E8A-4147-A177-3AD203B41FA5}">
                      <a16:colId xmlns:a16="http://schemas.microsoft.com/office/drawing/2014/main" val="20000"/>
                    </a:ext>
                  </a:extLst>
                </a:gridCol>
                <a:gridCol w="6269428">
                  <a:extLst>
                    <a:ext uri="{9D8B030D-6E8A-4147-A177-3AD203B41FA5}">
                      <a16:colId xmlns:a16="http://schemas.microsoft.com/office/drawing/2014/main" val="20001"/>
                    </a:ext>
                  </a:extLst>
                </a:gridCol>
              </a:tblGrid>
              <a:tr h="501928">
                <a:tc>
                  <a:txBody>
                    <a:bodyPr/>
                    <a:lstStyle/>
                    <a:p>
                      <a:pPr marL="0" indent="0">
                        <a:tabLst>
                          <a:tab pos="228600" algn="l"/>
                        </a:tabLst>
                      </a:pPr>
                      <a:r>
                        <a:rPr lang="en-US" sz="1100" b="1" spc="0">
                          <a:solidFill>
                            <a:schemeClr val="bg1"/>
                          </a:solidFill>
                          <a:cs typeface="Calibri"/>
                        </a:rPr>
                        <a:t>B-2. Architect to be outcome driven and strategically aligned to the department and to the Government of Canada</a:t>
                      </a:r>
                      <a:endParaRPr lang="en-CA" sz="1100" b="1">
                        <a:solidFill>
                          <a:schemeClr val="bg1"/>
                        </a:solidFill>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625612">
                <a:tc>
                  <a:txBody>
                    <a:bodyPr/>
                    <a:lstStyle/>
                    <a:p>
                      <a:pPr marL="0" marR="7851"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latin typeface="+mn-lt"/>
                          <a:ea typeface="+mn-ea"/>
                          <a:cs typeface="+mn-cs"/>
                        </a:rPr>
                        <a:t>Identify which departmental/GC business services, outcomes and strategies will be addressed</a:t>
                      </a:r>
                      <a:endParaRPr lang="en-CA" sz="1100" kern="1200">
                        <a:solidFill>
                          <a:schemeClr val="dk1"/>
                        </a:solidFill>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buFont typeface="Wingdings" panose="05000000000000000000" pitchFamily="2" charset="2"/>
                        <a:buNone/>
                        <a:tabLst/>
                      </a:pPr>
                      <a:r>
                        <a:rPr lang="en-CA" sz="1100">
                          <a:solidFill>
                            <a:schemeClr val="tx1"/>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34512">
                <a:tc>
                  <a:txBody>
                    <a:bodyPr/>
                    <a:lstStyle/>
                    <a:p>
                      <a:pPr marL="0" marR="7851"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latin typeface="+mn-lt"/>
                          <a:ea typeface="+mn-ea"/>
                          <a:cs typeface="+mn-cs"/>
                        </a:rPr>
                        <a:t>Establish metrics for identified business outcomes throughout the life cycle of an investment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buFont typeface="Wingdings" panose="05000000000000000000" pitchFamily="2" charset="2"/>
                        <a:buNone/>
                        <a:tabLst/>
                      </a:pPr>
                      <a:r>
                        <a:rPr lang="en-CA" sz="1100" kern="1200">
                          <a:solidFill>
                            <a:schemeClr val="tx1"/>
                          </a:solidFill>
                          <a:latin typeface="+mn-lt"/>
                          <a:ea typeface="+mn-ea"/>
                          <a:cs typeface="Calibri"/>
                        </a:rPr>
                        <a:t> </a:t>
                      </a:r>
                      <a:endParaRPr lang="en-US" sz="1100" kern="1200">
                        <a:solidFill>
                          <a:schemeClr val="tx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62453">
                <a:tc>
                  <a:txBody>
                    <a:bodyPr/>
                    <a:lstStyle/>
                    <a:p>
                      <a:pPr marL="0" marR="7851"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latin typeface="+mn-lt"/>
                          <a:ea typeface="+mn-ea"/>
                          <a:cs typeface="+mn-cs"/>
                        </a:rPr>
                        <a:t>Translate business outcomes and strategy into business capability implications in the GC Business Capability Model to establish a common vocabulary between business, development, and operation</a:t>
                      </a:r>
                      <a:endParaRPr lang="en-CA" sz="1100" kern="1200">
                        <a:solidFill>
                          <a:schemeClr val="dk1"/>
                        </a:solidFill>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buFont typeface="Wingdings" panose="05000000000000000000" pitchFamily="2" charset="2"/>
                        <a:buNone/>
                        <a:tabLst/>
                      </a:pPr>
                      <a:r>
                        <a:rPr lang="en-CA" sz="1100" kern="1200">
                          <a:solidFill>
                            <a:schemeClr val="tx1"/>
                          </a:solidFill>
                          <a:latin typeface="+mn-lt"/>
                          <a:ea typeface="+mn-ea"/>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22667">
                <a:tc>
                  <a:txBody>
                    <a:bodyPr/>
                    <a:lstStyle/>
                    <a:p>
                      <a:pPr marL="0" indent="0">
                        <a:tabLst>
                          <a:tab pos="228600" algn="l"/>
                        </a:tabLst>
                      </a:pPr>
                      <a:r>
                        <a:rPr lang="en-US" sz="1100" b="1" kern="1200">
                          <a:solidFill>
                            <a:schemeClr val="bg1"/>
                          </a:solidFill>
                          <a:latin typeface="+mn-lt"/>
                          <a:ea typeface="+mn-ea"/>
                          <a:cs typeface="Calibri"/>
                        </a:rPr>
                        <a:t>B-3. Promote horizontal enablement of the enterprise</a:t>
                      </a:r>
                      <a:endParaRPr lang="en-CA" sz="1100" b="1" kern="1200">
                        <a:solidFill>
                          <a:schemeClr val="bg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484276973"/>
                  </a:ext>
                </a:extLst>
              </a:tr>
              <a:tr h="729294">
                <a:tc>
                  <a:txBody>
                    <a:bodyPr/>
                    <a:lstStyle/>
                    <a:p>
                      <a:pPr marL="0" marR="7851"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latin typeface="+mn-lt"/>
                          <a:ea typeface="+mn-ea"/>
                          <a:cs typeface="+mn-cs"/>
                        </a:rPr>
                        <a:t>Identify opportunities to enable business services horizontally across the GC enterprise and to provide cohesive experience to users and other stakeholders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2379017"/>
                  </a:ext>
                </a:extLst>
              </a:tr>
              <a:tr h="729294">
                <a:tc>
                  <a:txBody>
                    <a:bodyPr/>
                    <a:lstStyle/>
                    <a:p>
                      <a:pPr marL="0" marR="7851"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latin typeface="+mn-lt"/>
                          <a:ea typeface="+mn-ea"/>
                          <a:cs typeface="+mn-cs"/>
                        </a:rPr>
                        <a:t>Reuse common business capabilities, processes and enterprise solutions from across government and private sector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0274553"/>
                  </a:ext>
                </a:extLst>
              </a:tr>
              <a:tr h="729294">
                <a:tc>
                  <a:txBody>
                    <a:bodyPr/>
                    <a:lstStyle/>
                    <a:p>
                      <a:pPr marL="0" marR="7851"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latin typeface="+mn-lt"/>
                          <a:ea typeface="+mn-ea"/>
                          <a:cs typeface="+mn-cs"/>
                        </a:rPr>
                        <a:t>Publish in the open all reusable common business capabilities, processes and enterprise solutions for others to develop and leverage cohesive horizontal enterprise services</a:t>
                      </a:r>
                      <a:endParaRPr lang="en-CA" sz="1100" kern="1200">
                        <a:solidFill>
                          <a:schemeClr val="dk1"/>
                        </a:solidFill>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9834003"/>
                  </a:ext>
                </a:extLst>
              </a:tr>
            </a:tbl>
          </a:graphicData>
        </a:graphic>
      </p:graphicFrame>
      <p:pic>
        <p:nvPicPr>
          <p:cNvPr id="8" name="Picture 7">
            <a:extLst>
              <a:ext uri="{FF2B5EF4-FFF2-40B4-BE49-F238E27FC236}">
                <a16:creationId xmlns:a16="http://schemas.microsoft.com/office/drawing/2014/main" id="{058E5D80-EF63-4DE8-8C4E-97756BBFD1E9}"/>
              </a:ex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875992" y="244140"/>
            <a:ext cx="616068" cy="467016"/>
          </a:xfrm>
          <a:prstGeom prst="rect">
            <a:avLst/>
          </a:prstGeom>
        </p:spPr>
      </p:pic>
      <p:sp>
        <p:nvSpPr>
          <p:cNvPr id="3" name="Slide Number Placeholder 2">
            <a:extLst>
              <a:ext uri="{FF2B5EF4-FFF2-40B4-BE49-F238E27FC236}">
                <a16:creationId xmlns:a16="http://schemas.microsoft.com/office/drawing/2014/main" id="{3F825F1D-7405-8B03-FB3E-4AD0D4D9EF3A}"/>
              </a:ext>
            </a:extLst>
          </p:cNvPr>
          <p:cNvSpPr>
            <a:spLocks noGrp="1"/>
          </p:cNvSpPr>
          <p:nvPr>
            <p:ph type="sldNum" sz="quarter" idx="12"/>
          </p:nvPr>
        </p:nvSpPr>
        <p:spPr/>
        <p:txBody>
          <a:bodyPr/>
          <a:lstStyle/>
          <a:p>
            <a:fld id="{32D4B517-E49B-41B6-9DBC-23634E0F1CDC}" type="slidenum">
              <a:rPr lang="en-CA" smtClean="0"/>
              <a:pPr/>
              <a:t>25</a:t>
            </a:fld>
            <a:endParaRPr lang="en-CA"/>
          </a:p>
        </p:txBody>
      </p:sp>
      <p:sp>
        <p:nvSpPr>
          <p:cNvPr id="2" name="TextBox 1">
            <a:extLst>
              <a:ext uri="{FF2B5EF4-FFF2-40B4-BE49-F238E27FC236}">
                <a16:creationId xmlns:a16="http://schemas.microsoft.com/office/drawing/2014/main" id="{6513CEFB-C0B2-E97A-C8B3-2026983AC392}"/>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880348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3">
            <a:extLst>
              <a:ext uri="{FF2B5EF4-FFF2-40B4-BE49-F238E27FC236}">
                <a16:creationId xmlns:a16="http://schemas.microsoft.com/office/drawing/2014/main" id="{142CDE53-F64C-4F56-956B-4DFD3BD90D86}"/>
              </a:ext>
            </a:extLst>
          </p:cNvPr>
          <p:cNvSpPr>
            <a:spLocks noGrp="1"/>
          </p:cNvSpPr>
          <p:nvPr>
            <p:ph type="title"/>
          </p:nvPr>
        </p:nvSpPr>
        <p:spPr>
          <a:xfrm>
            <a:off x="515380" y="30833"/>
            <a:ext cx="6982187" cy="877887"/>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Information Architecture</a:t>
            </a:r>
          </a:p>
        </p:txBody>
      </p:sp>
      <p:sp>
        <p:nvSpPr>
          <p:cNvPr id="12" name="Content Placeholder 2">
            <a:extLst>
              <a:ext uri="{FF2B5EF4-FFF2-40B4-BE49-F238E27FC236}">
                <a16:creationId xmlns:a16="http://schemas.microsoft.com/office/drawing/2014/main" id="{5297E7E4-ABA7-4DA0-BC5A-5AC2ACC2FA4D}"/>
              </a:ext>
            </a:extLst>
          </p:cNvPr>
          <p:cNvSpPr>
            <a:spLocks noGrp="1"/>
          </p:cNvSpPr>
          <p:nvPr>
            <p:ph idx="10"/>
          </p:nvPr>
        </p:nvSpPr>
        <p:spPr>
          <a:xfrm>
            <a:off x="457200" y="1088763"/>
            <a:ext cx="11201400" cy="1656162"/>
          </a:xfrm>
        </p:spPr>
        <p:txBody>
          <a:bodyPr/>
          <a:lstStyle/>
          <a:p>
            <a:r>
              <a:rPr lang="en-US" sz="1400"/>
              <a:t>Information architecture includes both structured and unstructured data. The best practices and principles aim to support the needs of a business service and business capability orientation. To facilitate effective sharing of data and information across government, information architectures should be designed to reflect a consistent approach to data, such as the adoption of federal and international standards. Information architecture should also reflect responsible data management, information management and governance practices, including the source, quality, interoperability, and associated legal and policy obligations related to the data assets. Information architectures should also distinguish between personal and non personal data and information as the collection, use, sharing (disclosure), and management of personal information must respect the requirements of the </a:t>
            </a:r>
            <a:r>
              <a:rPr lang="en-US" sz="1400" i="1"/>
              <a:t>Privacy Act </a:t>
            </a:r>
            <a:r>
              <a:rPr lang="en-US" sz="1400"/>
              <a:t>and its related policies.</a:t>
            </a:r>
            <a:endParaRPr lang="en-CA" sz="1400"/>
          </a:p>
        </p:txBody>
      </p:sp>
      <p:graphicFrame>
        <p:nvGraphicFramePr>
          <p:cNvPr id="9" name="Table 8"/>
          <p:cNvGraphicFramePr>
            <a:graphicFrameLocks noGrp="1"/>
          </p:cNvGraphicFramePr>
          <p:nvPr/>
        </p:nvGraphicFramePr>
        <p:xfrm>
          <a:off x="457200" y="2888940"/>
          <a:ext cx="11201400" cy="3168352"/>
        </p:xfrm>
        <a:graphic>
          <a:graphicData uri="http://schemas.openxmlformats.org/drawingml/2006/table">
            <a:tbl>
              <a:tblPr firstRow="1">
                <a:tableStyleId>{5C22544A-7EE6-4342-B048-85BDC9FD1C3A}</a:tableStyleId>
              </a:tblPr>
              <a:tblGrid>
                <a:gridCol w="4998670">
                  <a:extLst>
                    <a:ext uri="{9D8B030D-6E8A-4147-A177-3AD203B41FA5}">
                      <a16:colId xmlns:a16="http://schemas.microsoft.com/office/drawing/2014/main" val="20000"/>
                    </a:ext>
                  </a:extLst>
                </a:gridCol>
                <a:gridCol w="6202730">
                  <a:extLst>
                    <a:ext uri="{9D8B030D-6E8A-4147-A177-3AD203B41FA5}">
                      <a16:colId xmlns:a16="http://schemas.microsoft.com/office/drawing/2014/main" val="20001"/>
                    </a:ext>
                  </a:extLst>
                </a:gridCol>
              </a:tblGrid>
              <a:tr h="403581">
                <a:tc>
                  <a:txBody>
                    <a:bodyPr/>
                    <a:lstStyle/>
                    <a:p>
                      <a:pPr marL="114300" indent="-114300">
                        <a:tabLst>
                          <a:tab pos="114300" algn="l"/>
                        </a:tabLst>
                      </a:pPr>
                      <a:r>
                        <a:rPr lang="en-US" sz="1200" b="1" kern="1200">
                          <a:solidFill>
                            <a:schemeClr val="bg1"/>
                          </a:solidFill>
                          <a:latin typeface="+mn-lt"/>
                          <a:ea typeface="+mn-ea"/>
                          <a:cs typeface="Calibri"/>
                        </a:rPr>
                        <a:t>I-1. Collect data to address the needs of the users and other stakeholders</a:t>
                      </a:r>
                      <a:endParaRPr lang="en-CA" sz="1200" b="1" kern="1200">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531913">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Assess data requirements based program objectives, as well users, business and stakeholder needs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4360">
                <a:tc>
                  <a:txBody>
                    <a:bodyPr/>
                    <a:lstStyle/>
                    <a:p>
                      <a:pPr marL="0" lvl="1" indent="0" algn="l" defTabSz="914400" rtl="0" eaLnBrk="1" latinLnBrk="0" hangingPunct="1">
                        <a:buFont typeface="Wingdings" panose="05000000000000000000" pitchFamily="2" charset="2"/>
                        <a:buNone/>
                        <a:tabLst>
                          <a:tab pos="114300" algn="l"/>
                        </a:tabLst>
                      </a:pPr>
                      <a:r>
                        <a:rPr lang="en-US" sz="1100" kern="1200">
                          <a:solidFill>
                            <a:schemeClr val="dk1"/>
                          </a:solidFill>
                          <a:latin typeface="+mn-lt"/>
                          <a:ea typeface="+mn-ea"/>
                          <a:cs typeface="Calibri"/>
                        </a:rPr>
                        <a:t>Collect only the minimum set of data needed to support a policy, program, or service</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highlight>
                            <a:srgbClr val="FFFF00"/>
                          </a:highlight>
                          <a:cs typeface="Calibri"/>
                        </a:rPr>
                        <a:t> </a:t>
                      </a: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1913">
                <a:tc>
                  <a:txBody>
                    <a:bodyPr/>
                    <a:lstStyle/>
                    <a:p>
                      <a:pPr marL="0" lvl="1" indent="0" algn="l" defTabSz="914400" rtl="0" eaLnBrk="1" latinLnBrk="0" hangingPunct="1">
                        <a:buFont typeface="Wingdings" panose="05000000000000000000" pitchFamily="2" charset="2"/>
                        <a:buNone/>
                        <a:tabLst>
                          <a:tab pos="114300" algn="l"/>
                        </a:tabLst>
                      </a:pPr>
                      <a:r>
                        <a:rPr lang="en-US" sz="1100" kern="1200">
                          <a:solidFill>
                            <a:schemeClr val="dk1"/>
                          </a:solidFill>
                          <a:latin typeface="+mn-lt"/>
                          <a:ea typeface="+mn-ea"/>
                          <a:cs typeface="Calibri"/>
                        </a:rPr>
                        <a:t>Reuse existing data assets where permissible and only acquire new data if required</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36585">
                <a:tc>
                  <a:txBody>
                    <a:bodyPr/>
                    <a:lstStyle/>
                    <a:p>
                      <a:pPr marL="0" indent="0">
                        <a:buFont typeface="Wingdings" panose="05000000000000000000" pitchFamily="2" charset="2"/>
                        <a:buNone/>
                      </a:pPr>
                      <a:r>
                        <a:rPr lang="en-US" sz="1100" kern="1200">
                          <a:solidFill>
                            <a:schemeClr val="dk1"/>
                          </a:solidFill>
                          <a:latin typeface="+mn-lt"/>
                          <a:ea typeface="+mn-ea"/>
                          <a:cs typeface="Calibri"/>
                        </a:rPr>
                        <a:t>Ensure data collected, including from third-party sources, are of high quality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10" name="Picture 9">
            <a:extLst>
              <a:ext uri="{FF2B5EF4-FFF2-40B4-BE49-F238E27FC236}">
                <a16:creationId xmlns:a16="http://schemas.microsoft.com/office/drawing/2014/main" id="{B4C359E2-BCA0-449D-95E2-CCEA19C98AFD}"/>
              </a:ex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708068" y="224644"/>
            <a:ext cx="623496" cy="439192"/>
          </a:xfrm>
          <a:prstGeom prst="rect">
            <a:avLst/>
          </a:prstGeom>
        </p:spPr>
      </p:pic>
      <p:sp>
        <p:nvSpPr>
          <p:cNvPr id="3" name="Slide Number Placeholder 2">
            <a:extLst>
              <a:ext uri="{FF2B5EF4-FFF2-40B4-BE49-F238E27FC236}">
                <a16:creationId xmlns:a16="http://schemas.microsoft.com/office/drawing/2014/main" id="{6D7EC7E4-4660-2DEA-73BA-A854CF5FE6E9}"/>
              </a:ext>
            </a:extLst>
          </p:cNvPr>
          <p:cNvSpPr>
            <a:spLocks noGrp="1"/>
          </p:cNvSpPr>
          <p:nvPr>
            <p:ph type="sldNum" sz="quarter" idx="12"/>
          </p:nvPr>
        </p:nvSpPr>
        <p:spPr/>
        <p:txBody>
          <a:bodyPr/>
          <a:lstStyle/>
          <a:p>
            <a:fld id="{32D4B517-E49B-41B6-9DBC-23634E0F1CDC}" type="slidenum">
              <a:rPr lang="en-CA" smtClean="0"/>
              <a:pPr/>
              <a:t>26</a:t>
            </a:fld>
            <a:endParaRPr lang="en-CA"/>
          </a:p>
        </p:txBody>
      </p:sp>
      <p:sp>
        <p:nvSpPr>
          <p:cNvPr id="2" name="TextBox 1">
            <a:extLst>
              <a:ext uri="{FF2B5EF4-FFF2-40B4-BE49-F238E27FC236}">
                <a16:creationId xmlns:a16="http://schemas.microsoft.com/office/drawing/2014/main" id="{2F05EBB3-18CC-8719-9681-80EA0315E84A}"/>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all ARB visits</a:t>
            </a:r>
          </a:p>
        </p:txBody>
      </p:sp>
    </p:spTree>
    <p:extLst>
      <p:ext uri="{BB962C8B-B14F-4D97-AF65-F5344CB8AC3E}">
        <p14:creationId xmlns:p14="http://schemas.microsoft.com/office/powerpoint/2010/main" val="4254095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121AFA60-BD73-4ABB-8C2B-29367FAE5EB0}"/>
              </a:ext>
            </a:extLst>
          </p:cNvPr>
          <p:cNvSpPr>
            <a:spLocks noGrp="1"/>
          </p:cNvSpPr>
          <p:nvPr>
            <p:ph type="title"/>
          </p:nvPr>
        </p:nvSpPr>
        <p:spPr>
          <a:xfrm>
            <a:off x="515380" y="17191"/>
            <a:ext cx="6958078" cy="879475"/>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Information Architecture – continued 1</a:t>
            </a:r>
          </a:p>
        </p:txBody>
      </p:sp>
      <p:pic>
        <p:nvPicPr>
          <p:cNvPr id="11" name="Picture 10">
            <a:extLs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708068" y="224644"/>
            <a:ext cx="623496" cy="439192"/>
          </a:xfrm>
          <a:prstGeom prst="rect">
            <a:avLst/>
          </a:prstGeom>
        </p:spPr>
      </p:pic>
      <p:graphicFrame>
        <p:nvGraphicFramePr>
          <p:cNvPr id="8" name="Table 7">
            <a:extLst>
              <a:ext uri="{FF2B5EF4-FFF2-40B4-BE49-F238E27FC236}">
                <a16:creationId xmlns:a16="http://schemas.microsoft.com/office/drawing/2014/main" id="{302B7242-2300-4CC5-9EA6-A5EBE6695E50}"/>
              </a:ext>
            </a:extLst>
          </p:cNvPr>
          <p:cNvGraphicFramePr>
            <a:graphicFrameLocks noGrp="1"/>
          </p:cNvGraphicFramePr>
          <p:nvPr/>
        </p:nvGraphicFramePr>
        <p:xfrm>
          <a:off x="457200" y="1052736"/>
          <a:ext cx="11191517" cy="5504915"/>
        </p:xfrm>
        <a:graphic>
          <a:graphicData uri="http://schemas.openxmlformats.org/drawingml/2006/table">
            <a:tbl>
              <a:tblPr firstRow="1">
                <a:tableStyleId>{5C22544A-7EE6-4342-B048-85BDC9FD1C3A}</a:tableStyleId>
              </a:tblPr>
              <a:tblGrid>
                <a:gridCol w="4981573">
                  <a:extLst>
                    <a:ext uri="{9D8B030D-6E8A-4147-A177-3AD203B41FA5}">
                      <a16:colId xmlns:a16="http://schemas.microsoft.com/office/drawing/2014/main" val="20000"/>
                    </a:ext>
                  </a:extLst>
                </a:gridCol>
                <a:gridCol w="6209944">
                  <a:extLst>
                    <a:ext uri="{9D8B030D-6E8A-4147-A177-3AD203B41FA5}">
                      <a16:colId xmlns:a16="http://schemas.microsoft.com/office/drawing/2014/main" val="20001"/>
                    </a:ext>
                  </a:extLst>
                </a:gridCol>
              </a:tblGrid>
              <a:tr h="356404">
                <a:tc>
                  <a:txBody>
                    <a:bodyPr/>
                    <a:lstStyle/>
                    <a:p>
                      <a:pPr marL="19628">
                        <a:tabLst>
                          <a:tab pos="228600" algn="l"/>
                        </a:tabLst>
                      </a:pPr>
                      <a:r>
                        <a:rPr lang="en-US" sz="1200" b="1" kern="1200">
                          <a:solidFill>
                            <a:schemeClr val="bg1"/>
                          </a:solidFill>
                          <a:latin typeface="+mn-lt"/>
                          <a:ea typeface="+mn-ea"/>
                          <a:cs typeface="Calibri"/>
                        </a:rPr>
                        <a:t>I-2. Manage and reuse data strategically and responsibly</a:t>
                      </a:r>
                      <a:endParaRPr lang="en-CA" sz="1200" b="1" kern="1200">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385675">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Define and establish clear roles, responsibilities, and accountabilities for data management</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5675">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Identify and document the lineage of data assets</a:t>
                      </a:r>
                      <a:r>
                        <a:rPr lang="en-CA" sz="1100" kern="1200" baseline="0">
                          <a:solidFill>
                            <a:schemeClr val="dk1"/>
                          </a:solidFill>
                          <a:latin typeface="+mn-lt"/>
                          <a:ea typeface="+mn-ea"/>
                          <a:cs typeface="Calibri"/>
                        </a:rPr>
                        <a:t> </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l" defTabSz="914400" rtl="0" eaLnBrk="1" latinLnBrk="0" hangingPunct="1">
                        <a:buFont typeface="Wingdings" panose="05000000000000000000" pitchFamily="2" charset="2"/>
                        <a:buNone/>
                        <a:tabLst/>
                      </a:pPr>
                      <a:r>
                        <a:rPr lang="en-CA" sz="1100" kern="1200">
                          <a:solidFill>
                            <a:prstClr val="black"/>
                          </a:solidFill>
                          <a:latin typeface="+mn-lt"/>
                          <a:ea typeface="+mn-ea"/>
                          <a:cs typeface="Calibri"/>
                        </a:rPr>
                        <a:t> </a:t>
                      </a:r>
                      <a:endParaRPr lang="en-US" sz="1100" kern="120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6720">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Define retention and disposition schedules in accordance with business value as well as applicable privacy and security policy and legislation</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23227">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Ensure data are managed to enable interoperability, reuse and sharing to the greatest extent possible within and across departments in government to avoid duplication and maximize utility, while respecting security and privacy requirements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26720">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Contribute to and align with enterprise and international data taxonomy and classification structures to manage, store, search and retrieve data</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08131454"/>
                  </a:ext>
                </a:extLst>
              </a:tr>
              <a:tr h="344009">
                <a:tc>
                  <a:txBody>
                    <a:bodyPr/>
                    <a:lstStyle/>
                    <a:p>
                      <a:pPr marL="114300" indent="-114300">
                        <a:tabLst>
                          <a:tab pos="114300" algn="l"/>
                        </a:tabLst>
                      </a:pPr>
                      <a:r>
                        <a:rPr lang="en-CA" sz="1200" b="1" kern="1200">
                          <a:solidFill>
                            <a:schemeClr val="bg1"/>
                          </a:solidFill>
                          <a:latin typeface="+mn-lt"/>
                          <a:ea typeface="+mn-ea"/>
                          <a:cs typeface="Calibri"/>
                        </a:rPr>
                        <a:t>I-3. Use and share data</a:t>
                      </a:r>
                      <a:r>
                        <a:rPr lang="en-CA" sz="1200" b="1" kern="1200" baseline="0">
                          <a:solidFill>
                            <a:schemeClr val="bg1"/>
                          </a:solidFill>
                          <a:latin typeface="+mn-lt"/>
                          <a:ea typeface="+mn-ea"/>
                          <a:cs typeface="Calibri"/>
                        </a:rPr>
                        <a:t> openly in an ethical and secure manner</a:t>
                      </a:r>
                      <a:endParaRPr lang="en-CA" sz="1200" b="1" kern="1200">
                        <a:solidFill>
                          <a:schemeClr val="bg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813054570"/>
                  </a:ext>
                </a:extLst>
              </a:tr>
              <a:tr h="626720">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b="0" i="0" kern="1200">
                          <a:solidFill>
                            <a:schemeClr val="dk1"/>
                          </a:solidFill>
                          <a:effectLst/>
                          <a:latin typeface="+mn-lt"/>
                          <a:ea typeface="+mn-ea"/>
                          <a:cs typeface="+mn-cs"/>
                        </a:rPr>
                        <a:t>Share data openly by default as per the Directive on Open Government and Digital Standards, while respecting security and privacy requirements; data shared should adhere to existing enterprise and international standards, including on data quality and ethics</a:t>
                      </a:r>
                      <a:endParaRPr lang="en-US"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942922"/>
                  </a:ext>
                </a:extLst>
              </a:tr>
              <a:tr h="626720">
                <a:tc>
                  <a:txBody>
                    <a:bodyPr/>
                    <a:lstStyle/>
                    <a:p>
                      <a:pPr marL="0" lvl="1" indent="0">
                        <a:buFont typeface="Wingdings" panose="05000000000000000000" pitchFamily="2" charset="2"/>
                        <a:buNone/>
                      </a:pPr>
                      <a:r>
                        <a:rPr lang="en-US" sz="1100" kern="1200">
                          <a:solidFill>
                            <a:schemeClr val="dk1"/>
                          </a:solidFill>
                          <a:latin typeface="+mn-lt"/>
                          <a:ea typeface="+mn-ea"/>
                          <a:cs typeface="Calibri"/>
                        </a:rPr>
                        <a:t>Ensure data formatting aligns to existing enterprise and international standards on interoperability; where none exist, develop data standards in the open with key subject matter experts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48716010"/>
                  </a:ext>
                </a:extLst>
              </a:tr>
              <a:tr h="626720">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kern="1200">
                          <a:solidFill>
                            <a:schemeClr val="dk1"/>
                          </a:solidFill>
                          <a:latin typeface="+mn-lt"/>
                          <a:ea typeface="+mn-ea"/>
                          <a:cs typeface="Calibri"/>
                        </a:rPr>
                        <a:t>Ensure that combined data does not risk identification or re identification of sensitive or personal information</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35330358"/>
                  </a:ext>
                </a:extLst>
              </a:tr>
            </a:tbl>
          </a:graphicData>
        </a:graphic>
      </p:graphicFrame>
      <p:sp>
        <p:nvSpPr>
          <p:cNvPr id="3" name="Slide Number Placeholder 2">
            <a:extLst>
              <a:ext uri="{FF2B5EF4-FFF2-40B4-BE49-F238E27FC236}">
                <a16:creationId xmlns:a16="http://schemas.microsoft.com/office/drawing/2014/main" id="{7B576818-8CDD-90C7-CDD6-3FFAD513779A}"/>
              </a:ext>
            </a:extLst>
          </p:cNvPr>
          <p:cNvSpPr>
            <a:spLocks noGrp="1"/>
          </p:cNvSpPr>
          <p:nvPr>
            <p:ph type="sldNum" sz="quarter" idx="12"/>
          </p:nvPr>
        </p:nvSpPr>
        <p:spPr/>
        <p:txBody>
          <a:bodyPr/>
          <a:lstStyle/>
          <a:p>
            <a:fld id="{32D4B517-E49B-41B6-9DBC-23634E0F1CDC}" type="slidenum">
              <a:rPr lang="en-CA" smtClean="0"/>
              <a:pPr/>
              <a:t>27</a:t>
            </a:fld>
            <a:endParaRPr lang="en-CA"/>
          </a:p>
        </p:txBody>
      </p:sp>
      <p:sp>
        <p:nvSpPr>
          <p:cNvPr id="5" name="TextBox 4">
            <a:extLst>
              <a:ext uri="{FF2B5EF4-FFF2-40B4-BE49-F238E27FC236}">
                <a16:creationId xmlns:a16="http://schemas.microsoft.com/office/drawing/2014/main" id="{64F88856-48CF-FC5A-A4D8-54368924F486}"/>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all ARB visits</a:t>
            </a:r>
          </a:p>
        </p:txBody>
      </p:sp>
    </p:spTree>
    <p:extLst>
      <p:ext uri="{BB962C8B-B14F-4D97-AF65-F5344CB8AC3E}">
        <p14:creationId xmlns:p14="http://schemas.microsoft.com/office/powerpoint/2010/main" val="2534213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121AFA60-BD73-4ABB-8C2B-29367FAE5EB0}"/>
              </a:ext>
            </a:extLst>
          </p:cNvPr>
          <p:cNvSpPr>
            <a:spLocks noGrp="1"/>
          </p:cNvSpPr>
          <p:nvPr>
            <p:ph type="title"/>
          </p:nvPr>
        </p:nvSpPr>
        <p:spPr>
          <a:xfrm>
            <a:off x="515380" y="29245"/>
            <a:ext cx="7066090" cy="879475"/>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Information Architecture – continued 2</a:t>
            </a:r>
          </a:p>
        </p:txBody>
      </p:sp>
      <p:graphicFrame>
        <p:nvGraphicFramePr>
          <p:cNvPr id="8" name="Table 7">
            <a:extLst>
              <a:ext uri="{FF2B5EF4-FFF2-40B4-BE49-F238E27FC236}">
                <a16:creationId xmlns:a16="http://schemas.microsoft.com/office/drawing/2014/main" id="{302B7242-2300-4CC5-9EA6-A5EBE6695E50}"/>
              </a:ext>
            </a:extLst>
          </p:cNvPr>
          <p:cNvGraphicFramePr>
            <a:graphicFrameLocks noGrp="1"/>
          </p:cNvGraphicFramePr>
          <p:nvPr/>
        </p:nvGraphicFramePr>
        <p:xfrm>
          <a:off x="457200" y="967362"/>
          <a:ext cx="11213702" cy="5499828"/>
        </p:xfrm>
        <a:graphic>
          <a:graphicData uri="http://schemas.openxmlformats.org/drawingml/2006/table">
            <a:tbl>
              <a:tblPr firstRow="1">
                <a:tableStyleId>{5C22544A-7EE6-4342-B048-85BDC9FD1C3A}</a:tableStyleId>
              </a:tblPr>
              <a:tblGrid>
                <a:gridCol w="5141191">
                  <a:extLst>
                    <a:ext uri="{9D8B030D-6E8A-4147-A177-3AD203B41FA5}">
                      <a16:colId xmlns:a16="http://schemas.microsoft.com/office/drawing/2014/main" val="20000"/>
                    </a:ext>
                  </a:extLst>
                </a:gridCol>
                <a:gridCol w="6072511">
                  <a:extLst>
                    <a:ext uri="{9D8B030D-6E8A-4147-A177-3AD203B41FA5}">
                      <a16:colId xmlns:a16="http://schemas.microsoft.com/office/drawing/2014/main" val="20001"/>
                    </a:ext>
                  </a:extLst>
                </a:gridCol>
              </a:tblGrid>
              <a:tr h="504090">
                <a:tc>
                  <a:txBody>
                    <a:bodyPr/>
                    <a:lstStyle/>
                    <a:p>
                      <a:pPr marL="19628">
                        <a:tabLst>
                          <a:tab pos="228600" algn="l"/>
                        </a:tabLst>
                      </a:pPr>
                      <a:r>
                        <a:rPr lang="en-US" sz="1200" b="1" kern="1200">
                          <a:solidFill>
                            <a:schemeClr val="bg1"/>
                          </a:solidFill>
                          <a:latin typeface="+mn-lt"/>
                          <a:ea typeface="+mn-ea"/>
                          <a:cs typeface="Calibri"/>
                        </a:rPr>
                        <a:t>I-4. Design with privacy in mind for the collection, use and management of personal Information</a:t>
                      </a:r>
                      <a:endParaRPr lang="en-CA" sz="1200" b="1" kern="1200">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452982">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Ensure alignment with guidance from appropriate institutional ATIP Office with respect to interpretation and application of the Privacy Act and related policy instruments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2982">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Assess initiatives to determine if personal information will be collected, used, disclosed, retained, shared, and disposed</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0" indent="0" algn="l" defTabSz="914400" rtl="0" eaLnBrk="1" latinLnBrk="0" hangingPunct="1">
                        <a:buFont typeface="Wingdings" panose="05000000000000000000" pitchFamily="2" charset="2"/>
                        <a:buNone/>
                        <a:tabLst/>
                      </a:pPr>
                      <a:endParaRPr lang="en-US" sz="1100" kern="120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687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Only collect personal information if it directly relates to the operation of the programs or activities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687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Notify individuals of the purpose for collection at the point of collection by including a privacy notice</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3687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Personal information should be, wherever possible, collected directly from individuals but can be from other sources where permitted by the </a:t>
                      </a:r>
                      <a:r>
                        <a:rPr lang="en-US" sz="1100" i="1" kern="1200">
                          <a:solidFill>
                            <a:schemeClr val="dk1"/>
                          </a:solidFill>
                          <a:latin typeface="+mn-lt"/>
                          <a:ea typeface="+mn-ea"/>
                          <a:cs typeface="Calibri"/>
                        </a:rPr>
                        <a:t>Privacy Act</a:t>
                      </a:r>
                      <a:endParaRPr lang="en-CA" sz="1100" i="1"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3687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Personal information must be available to facilitate Canadians’ right of access to and correction of government records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4859894"/>
                  </a:ext>
                </a:extLst>
              </a:tr>
              <a:tr h="43687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Design access controls into all processes and across all architectural layers from the earliest stages of design to limit the use and disclosure of personal information</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59815298"/>
                  </a:ext>
                </a:extLst>
              </a:tr>
              <a:tr h="43687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Design processes so personal information remains accurate, up-to-date and as complete as possible, and can be corrected if required</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11870701"/>
                  </a:ext>
                </a:extLst>
              </a:tr>
              <a:tr h="26884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De-identification techniques should be considered prior to sharing personal information</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6683203"/>
                  </a:ext>
                </a:extLst>
              </a:tr>
              <a:tr h="604908">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effectLst/>
                          <a:latin typeface="+mn-lt"/>
                          <a:ea typeface="+mn-ea"/>
                          <a:cs typeface="+mn-cs"/>
                        </a:rPr>
                        <a:t>In collaboration with appropriate institutional ATIP Office, determine if a Privacy Impact Assessment (PIA) is required to identify and mitigate privacy risks for new or substantially modified programs that impact the privacy of individuals</a:t>
                      </a:r>
                      <a:endParaRPr lang="en-CA" sz="1100" kern="1200">
                        <a:solidFill>
                          <a:schemeClr val="dk1"/>
                        </a:solidFill>
                        <a:effectLst/>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54823960"/>
                  </a:ext>
                </a:extLst>
              </a:tr>
              <a:tr h="436878">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kern="1200">
                          <a:solidFill>
                            <a:schemeClr val="dk1"/>
                          </a:solidFill>
                          <a:effectLst/>
                          <a:latin typeface="+mn-lt"/>
                          <a:ea typeface="+mn-ea"/>
                          <a:cs typeface="+mn-cs"/>
                        </a:rPr>
                        <a:t>Establish procedures to identify and address privacy breaches so they can be reported quickly and responded to efficiently to appropriate institutional ATIP Office</a:t>
                      </a:r>
                      <a:endParaRPr lang="en-CA" sz="1100" kern="1200">
                        <a:solidFill>
                          <a:schemeClr val="dk1"/>
                        </a:solidFill>
                        <a:effectLst/>
                        <a:latin typeface="+mn-lt"/>
                        <a:ea typeface="+mn-ea"/>
                        <a:cs typeface="+mn-cs"/>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1933268"/>
                  </a:ext>
                </a:extLst>
              </a:tr>
            </a:tbl>
          </a:graphicData>
        </a:graphic>
      </p:graphicFrame>
      <p:pic>
        <p:nvPicPr>
          <p:cNvPr id="7" name="Picture 6">
            <a:extLst>
              <a:ext uri="{FF2B5EF4-FFF2-40B4-BE49-F238E27FC236}">
                <a16:creationId xmlns:a16="http://schemas.microsoft.com/office/drawing/2014/main" id="{9A01E7AA-8983-4FA7-AB08-C551564DAC2A}"/>
              </a:ex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708068" y="224644"/>
            <a:ext cx="623496" cy="439192"/>
          </a:xfrm>
          <a:prstGeom prst="rect">
            <a:avLst/>
          </a:prstGeom>
        </p:spPr>
      </p:pic>
      <p:sp>
        <p:nvSpPr>
          <p:cNvPr id="3" name="Slide Number Placeholder 2">
            <a:extLst>
              <a:ext uri="{FF2B5EF4-FFF2-40B4-BE49-F238E27FC236}">
                <a16:creationId xmlns:a16="http://schemas.microsoft.com/office/drawing/2014/main" id="{D4F2E8D2-84CE-08D0-93B9-45A72AEE9C6A}"/>
              </a:ext>
            </a:extLst>
          </p:cNvPr>
          <p:cNvSpPr>
            <a:spLocks noGrp="1"/>
          </p:cNvSpPr>
          <p:nvPr>
            <p:ph type="sldNum" sz="quarter" idx="12"/>
          </p:nvPr>
        </p:nvSpPr>
        <p:spPr/>
        <p:txBody>
          <a:bodyPr/>
          <a:lstStyle/>
          <a:p>
            <a:fld id="{32D4B517-E49B-41B6-9DBC-23634E0F1CDC}" type="slidenum">
              <a:rPr lang="en-CA" smtClean="0"/>
              <a:pPr/>
              <a:t>28</a:t>
            </a:fld>
            <a:endParaRPr lang="en-CA"/>
          </a:p>
        </p:txBody>
      </p:sp>
      <p:sp>
        <p:nvSpPr>
          <p:cNvPr id="4" name="TextBox 3">
            <a:extLst>
              <a:ext uri="{FF2B5EF4-FFF2-40B4-BE49-F238E27FC236}">
                <a16:creationId xmlns:a16="http://schemas.microsoft.com/office/drawing/2014/main" id="{7DFDA4EB-8F08-0A04-86D5-B187150818AD}"/>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all ARB visits</a:t>
            </a:r>
          </a:p>
        </p:txBody>
      </p:sp>
    </p:spTree>
    <p:extLst>
      <p:ext uri="{BB962C8B-B14F-4D97-AF65-F5344CB8AC3E}">
        <p14:creationId xmlns:p14="http://schemas.microsoft.com/office/powerpoint/2010/main" val="3798694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3">
            <a:extLst>
              <a:ext uri="{FF2B5EF4-FFF2-40B4-BE49-F238E27FC236}">
                <a16:creationId xmlns:a16="http://schemas.microsoft.com/office/drawing/2014/main" id="{6B7BFC57-5073-4839-9635-A8588617E195}"/>
              </a:ext>
            </a:extLst>
          </p:cNvPr>
          <p:cNvSpPr>
            <a:spLocks noGrp="1"/>
          </p:cNvSpPr>
          <p:nvPr>
            <p:ph type="title"/>
          </p:nvPr>
        </p:nvSpPr>
        <p:spPr>
          <a:xfrm>
            <a:off x="525821" y="30832"/>
            <a:ext cx="7010339" cy="877888"/>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Application Architecture</a:t>
            </a:r>
          </a:p>
        </p:txBody>
      </p:sp>
      <p:pic>
        <p:nvPicPr>
          <p:cNvPr id="9" name="Picture 8">
            <a:extLs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852084" y="216818"/>
            <a:ext cx="641100" cy="508722"/>
          </a:xfrm>
          <a:prstGeom prst="rect">
            <a:avLst/>
          </a:prstGeom>
        </p:spPr>
      </p:pic>
      <p:sp>
        <p:nvSpPr>
          <p:cNvPr id="10" name="Content Placeholder 2">
            <a:extLst>
              <a:ext uri="{FF2B5EF4-FFF2-40B4-BE49-F238E27FC236}">
                <a16:creationId xmlns:a16="http://schemas.microsoft.com/office/drawing/2014/main" id="{55C29658-CE80-4282-909B-AEB4C20233C7}"/>
              </a:ext>
            </a:extLst>
          </p:cNvPr>
          <p:cNvSpPr>
            <a:spLocks noGrp="1"/>
          </p:cNvSpPr>
          <p:nvPr>
            <p:ph idx="10"/>
          </p:nvPr>
        </p:nvSpPr>
        <p:spPr>
          <a:xfrm>
            <a:off x="457200" y="1094706"/>
            <a:ext cx="11201400" cy="966142"/>
          </a:xfrm>
        </p:spPr>
        <p:txBody>
          <a:bodyPr/>
          <a:lstStyle/>
          <a:p>
            <a:r>
              <a:rPr lang="en-US" sz="1400"/>
              <a:t>Application architecture practices must evolve significantly for the successful implementation of the GC Enterprise Ecosystem Target Architecture. Transitioning from legacy systems based on monolithic architectures to architectures that oriented around business services and based on re useable components implementing business capabilities, is a major shift. Interoperability becomes a key element, and the number of stakeholders that must be considered increases.</a:t>
            </a:r>
            <a:endParaRPr lang="en-CA" sz="1000"/>
          </a:p>
        </p:txBody>
      </p:sp>
      <p:graphicFrame>
        <p:nvGraphicFramePr>
          <p:cNvPr id="11" name="Table 10"/>
          <p:cNvGraphicFramePr>
            <a:graphicFrameLocks noGrp="1"/>
          </p:cNvGraphicFramePr>
          <p:nvPr/>
        </p:nvGraphicFramePr>
        <p:xfrm>
          <a:off x="457200" y="2096852"/>
          <a:ext cx="11187829" cy="4439189"/>
        </p:xfrm>
        <a:graphic>
          <a:graphicData uri="http://schemas.openxmlformats.org/drawingml/2006/table">
            <a:tbl>
              <a:tblPr firstRow="1">
                <a:tableStyleId>{5C22544A-7EE6-4342-B048-85BDC9FD1C3A}</a:tableStyleId>
              </a:tblPr>
              <a:tblGrid>
                <a:gridCol w="4644711">
                  <a:extLst>
                    <a:ext uri="{9D8B030D-6E8A-4147-A177-3AD203B41FA5}">
                      <a16:colId xmlns:a16="http://schemas.microsoft.com/office/drawing/2014/main" val="20000"/>
                    </a:ext>
                  </a:extLst>
                </a:gridCol>
                <a:gridCol w="6543118">
                  <a:extLst>
                    <a:ext uri="{9D8B030D-6E8A-4147-A177-3AD203B41FA5}">
                      <a16:colId xmlns:a16="http://schemas.microsoft.com/office/drawing/2014/main" val="20001"/>
                    </a:ext>
                  </a:extLst>
                </a:gridCol>
              </a:tblGrid>
              <a:tr h="288032">
                <a:tc>
                  <a:txBody>
                    <a:bodyPr/>
                    <a:lstStyle/>
                    <a:p>
                      <a:pPr lvl="0"/>
                      <a:r>
                        <a:rPr lang="en-US" sz="1200" b="1" kern="1200" spc="-3">
                          <a:solidFill>
                            <a:schemeClr val="bg1"/>
                          </a:solidFill>
                          <a:latin typeface="+mn-lt"/>
                          <a:ea typeface="+mn-ea"/>
                          <a:cs typeface="Calibri"/>
                        </a:rPr>
                        <a:t>A-1. Use open source solutions hosted in public cloud</a:t>
                      </a: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39308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a:solidFill>
                            <a:prstClr val="black"/>
                          </a:solidFill>
                          <a:latin typeface="+mn-lt"/>
                          <a:ea typeface="+mn-ea"/>
                          <a:cs typeface="Calibri"/>
                        </a:rPr>
                        <a:t>Select existing solutions that can be reused over custom built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308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a:solidFill>
                            <a:prstClr val="black"/>
                          </a:solidFill>
                          <a:latin typeface="+mn-lt"/>
                          <a:ea typeface="+mn-ea"/>
                          <a:cs typeface="Calibri"/>
                        </a:rPr>
                        <a:t>Contribute all improvements back to the communities</a:t>
                      </a:r>
                      <a:endParaRPr lang="en-US" sz="11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3084">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b="0" kern="1200" spc="-3">
                          <a:solidFill>
                            <a:prstClr val="black"/>
                          </a:solidFill>
                          <a:latin typeface="+mn-lt"/>
                          <a:ea typeface="+mn-ea"/>
                          <a:cs typeface="Calibri"/>
                        </a:rPr>
                        <a:t>Register open source software to the Open Resource Exchange</a:t>
                      </a:r>
                      <a:endParaRPr lang="en-CA" sz="11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3443">
                <a:tc>
                  <a:txBody>
                    <a:bodyPr/>
                    <a:lstStyle/>
                    <a:p>
                      <a:pPr lvl="0"/>
                      <a:r>
                        <a:rPr lang="en-US" sz="1200" b="1" kern="1200" spc="-3">
                          <a:solidFill>
                            <a:schemeClr val="bg1"/>
                          </a:solidFill>
                          <a:latin typeface="+mn-lt"/>
                          <a:ea typeface="+mn-ea"/>
                          <a:cs typeface="Calibri"/>
                        </a:rPr>
                        <a:t>A-2. Use software as a service (SaaS) hosted in public cloud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494418393"/>
                  </a:ext>
                </a:extLst>
              </a:tr>
              <a:tr h="39308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a:solidFill>
                            <a:prstClr val="black"/>
                          </a:solidFill>
                          <a:latin typeface="+mn-lt"/>
                          <a:ea typeface="+mn-ea"/>
                          <a:cs typeface="Calibri"/>
                        </a:rPr>
                        <a:t>Choose SaaS that best fit for purpose based on alignment with SaaS capabilities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65892891"/>
                  </a:ext>
                </a:extLst>
              </a:tr>
              <a:tr h="39308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a:solidFill>
                            <a:prstClr val="black"/>
                          </a:solidFill>
                          <a:latin typeface="+mn-lt"/>
                          <a:ea typeface="+mn-ea"/>
                          <a:cs typeface="Calibri"/>
                        </a:rPr>
                        <a:t>Choose a SaaS solution that is extendable</a:t>
                      </a:r>
                      <a:endParaRPr lang="en-US" sz="11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31534904"/>
                  </a:ext>
                </a:extLst>
              </a:tr>
              <a:tr h="393084">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b="0" kern="1200" spc="-3">
                          <a:solidFill>
                            <a:prstClr val="black"/>
                          </a:solidFill>
                          <a:latin typeface="+mn-lt"/>
                          <a:ea typeface="+mn-ea"/>
                          <a:cs typeface="Calibri"/>
                        </a:rPr>
                        <a:t>Configure SaaS and if customization is necessary extend as open source modules</a:t>
                      </a:r>
                      <a:endParaRPr lang="en-CA" sz="11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00921712"/>
                  </a:ext>
                </a:extLst>
              </a:tr>
              <a:tr h="286322">
                <a:tc>
                  <a:txBody>
                    <a:bodyPr/>
                    <a:lstStyle/>
                    <a:p>
                      <a:pPr lvl="0"/>
                      <a:r>
                        <a:rPr lang="en-US" sz="1200" b="1" kern="1200" spc="-3">
                          <a:solidFill>
                            <a:schemeClr val="bg1"/>
                          </a:solidFill>
                          <a:latin typeface="+mn-lt"/>
                          <a:ea typeface="+mn-ea"/>
                          <a:cs typeface="Calibri"/>
                        </a:rPr>
                        <a:t>A-3. Design for Interoperability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809419571"/>
                  </a:ext>
                </a:extLst>
              </a:tr>
              <a:tr h="39308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a:solidFill>
                            <a:prstClr val="black"/>
                          </a:solidFill>
                          <a:latin typeface="+mn-lt"/>
                          <a:ea typeface="+mn-ea"/>
                          <a:cs typeface="Calibri"/>
                        </a:rPr>
                        <a:t>Design systems as highly modular and loosely coupled services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2370773"/>
                  </a:ext>
                </a:extLst>
              </a:tr>
              <a:tr h="39308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noProof="0">
                          <a:solidFill>
                            <a:prstClr val="black"/>
                          </a:solidFill>
                          <a:latin typeface="+mn-lt"/>
                          <a:ea typeface="+mn-ea"/>
                          <a:cs typeface="Calibri"/>
                        </a:rPr>
                        <a:t>Expose services, including existing ones, through APIs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861303"/>
                  </a:ext>
                </a:extLst>
              </a:tr>
              <a:tr h="393084">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b="0" kern="1200" spc="-3">
                          <a:solidFill>
                            <a:prstClr val="black"/>
                          </a:solidFill>
                          <a:latin typeface="+mn-lt"/>
                          <a:ea typeface="+mn-ea"/>
                          <a:cs typeface="Calibri"/>
                        </a:rPr>
                        <a:t>Make the APIs discoverable to the appropriate stakeholders</a:t>
                      </a:r>
                      <a:endParaRPr lang="en-CA" sz="11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6376244"/>
                  </a:ext>
                </a:extLst>
              </a:tr>
            </a:tbl>
          </a:graphicData>
        </a:graphic>
      </p:graphicFrame>
      <p:sp>
        <p:nvSpPr>
          <p:cNvPr id="3" name="Slide Number Placeholder 2">
            <a:extLst>
              <a:ext uri="{FF2B5EF4-FFF2-40B4-BE49-F238E27FC236}">
                <a16:creationId xmlns:a16="http://schemas.microsoft.com/office/drawing/2014/main" id="{9B6B79EA-E56E-F94B-6C56-8E58D2CC2083}"/>
              </a:ext>
            </a:extLst>
          </p:cNvPr>
          <p:cNvSpPr>
            <a:spLocks noGrp="1"/>
          </p:cNvSpPr>
          <p:nvPr>
            <p:ph type="sldNum" sz="quarter" idx="12"/>
          </p:nvPr>
        </p:nvSpPr>
        <p:spPr/>
        <p:txBody>
          <a:bodyPr/>
          <a:lstStyle/>
          <a:p>
            <a:fld id="{32D4B517-E49B-41B6-9DBC-23634E0F1CDC}" type="slidenum">
              <a:rPr lang="en-CA" smtClean="0"/>
              <a:pPr/>
              <a:t>29</a:t>
            </a:fld>
            <a:endParaRPr lang="en-CA"/>
          </a:p>
        </p:txBody>
      </p:sp>
      <p:sp>
        <p:nvSpPr>
          <p:cNvPr id="2" name="TextBox 1">
            <a:extLst>
              <a:ext uri="{FF2B5EF4-FFF2-40B4-BE49-F238E27FC236}">
                <a16:creationId xmlns:a16="http://schemas.microsoft.com/office/drawing/2014/main" id="{CA07848E-5F25-94F9-DB8E-451F4F3C767F}"/>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535615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86B77B1C-5E34-4830-BFA0-3A9028A7C9E0}"/>
              </a:ext>
            </a:extLst>
          </p:cNvPr>
          <p:cNvSpPr>
            <a:spLocks noGrp="1"/>
          </p:cNvSpPr>
          <p:nvPr>
            <p:ph type="title"/>
          </p:nvPr>
        </p:nvSpPr>
        <p:spPr>
          <a:xfrm>
            <a:off x="515380" y="30833"/>
            <a:ext cx="7008593" cy="877887"/>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Technology Architecture</a:t>
            </a:r>
          </a:p>
        </p:txBody>
      </p:sp>
      <p:pic>
        <p:nvPicPr>
          <p:cNvPr id="10" name="Picture 9">
            <a:extLs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793542" y="254490"/>
            <a:ext cx="757972" cy="446864"/>
          </a:xfrm>
          <a:prstGeom prst="rect">
            <a:avLst/>
          </a:prstGeom>
        </p:spPr>
      </p:pic>
      <p:sp>
        <p:nvSpPr>
          <p:cNvPr id="12" name="Content Placeholder 2">
            <a:extLst>
              <a:ext uri="{FF2B5EF4-FFF2-40B4-BE49-F238E27FC236}">
                <a16:creationId xmlns:a16="http://schemas.microsoft.com/office/drawing/2014/main" id="{AC9A2CD2-75A5-41E9-A643-E831A954A33B}"/>
              </a:ext>
            </a:extLst>
          </p:cNvPr>
          <p:cNvSpPr>
            <a:spLocks noGrp="1"/>
          </p:cNvSpPr>
          <p:nvPr>
            <p:ph idx="10"/>
          </p:nvPr>
        </p:nvSpPr>
        <p:spPr>
          <a:xfrm>
            <a:off x="457200" y="1132379"/>
            <a:ext cx="11201400" cy="820458"/>
          </a:xfrm>
        </p:spPr>
        <p:txBody>
          <a:bodyPr/>
          <a:lstStyle/>
          <a:p>
            <a:r>
              <a:rPr lang="en-US" sz="1400"/>
              <a:t>Technology architecture is an important enabler of highly available and adaptable solutions that must be aligned with the chosen application architecture. Cloud adoption provides many potential advantages by mitigating the logistical constraints that often negatively impacted legacy solutions hosted “on premises.” However, the application architecture must be able to enable these advantages.</a:t>
            </a:r>
            <a:endParaRPr lang="en-CA" sz="600"/>
          </a:p>
        </p:txBody>
      </p:sp>
      <p:graphicFrame>
        <p:nvGraphicFramePr>
          <p:cNvPr id="8" name="Table 7"/>
          <p:cNvGraphicFramePr>
            <a:graphicFrameLocks noGrp="1"/>
          </p:cNvGraphicFramePr>
          <p:nvPr/>
        </p:nvGraphicFramePr>
        <p:xfrm>
          <a:off x="457200" y="2024844"/>
          <a:ext cx="11201399" cy="4140460"/>
        </p:xfrm>
        <a:graphic>
          <a:graphicData uri="http://schemas.openxmlformats.org/drawingml/2006/table">
            <a:tbl>
              <a:tblPr firstRow="1">
                <a:tableStyleId>{5C22544A-7EE6-4342-B048-85BDC9FD1C3A}</a:tableStyleId>
              </a:tblPr>
              <a:tblGrid>
                <a:gridCol w="4625094">
                  <a:extLst>
                    <a:ext uri="{9D8B030D-6E8A-4147-A177-3AD203B41FA5}">
                      <a16:colId xmlns:a16="http://schemas.microsoft.com/office/drawing/2014/main" val="20000"/>
                    </a:ext>
                  </a:extLst>
                </a:gridCol>
                <a:gridCol w="6576305">
                  <a:extLst>
                    <a:ext uri="{9D8B030D-6E8A-4147-A177-3AD203B41FA5}">
                      <a16:colId xmlns:a16="http://schemas.microsoft.com/office/drawing/2014/main" val="20001"/>
                    </a:ext>
                  </a:extLst>
                </a:gridCol>
              </a:tblGrid>
              <a:tr h="310308">
                <a:tc>
                  <a:txBody>
                    <a:bodyPr/>
                    <a:lstStyle/>
                    <a:p>
                      <a:pPr marL="114300" indent="-114300">
                        <a:tabLst>
                          <a:tab pos="114300" algn="l"/>
                        </a:tabLst>
                      </a:pPr>
                      <a:r>
                        <a:rPr lang="en-CA" sz="1200" b="1" kern="1200" spc="-8">
                          <a:solidFill>
                            <a:schemeClr val="bg1"/>
                          </a:solidFill>
                          <a:latin typeface="+mn-lt"/>
                          <a:ea typeface="+mn-ea"/>
                          <a:cs typeface="Calibri"/>
                        </a:rPr>
                        <a:t>T-1. Use cloud first</a:t>
                      </a:r>
                      <a:endParaRPr lang="en-CA" sz="1200" b="1" kern="1200" spc="-108">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629284">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a:solidFill>
                            <a:prstClr val="black"/>
                          </a:solidFill>
                          <a:cs typeface="Calibri"/>
                        </a:rPr>
                        <a:t>Adopt the use of the GC Accelerators to ensure proper security and access controls</a:t>
                      </a: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90745">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kern="1200">
                          <a:solidFill>
                            <a:schemeClr val="dk1"/>
                          </a:solidFill>
                          <a:latin typeface="+mn-lt"/>
                          <a:ea typeface="+mn-ea"/>
                          <a:cs typeface="Calibri"/>
                        </a:rPr>
                        <a:t>Enforce this order of preference: software as a service (SaaS) first, then platform as a service (PaaS), and lastly infrastructure as a service (IaaS)</a:t>
                      </a: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9689">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a:solidFill>
                            <a:prstClr val="black"/>
                          </a:solidFill>
                          <a:cs typeface="Calibri"/>
                        </a:rPr>
                        <a:t>Fulfill cloud services through SSC Cloud Brokering Services</a:t>
                      </a: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990745">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kern="1200">
                          <a:solidFill>
                            <a:schemeClr val="dk1"/>
                          </a:solidFill>
                          <a:latin typeface="+mn-lt"/>
                          <a:ea typeface="+mn-ea"/>
                          <a:cs typeface="Calibri"/>
                        </a:rPr>
                        <a:t>Enforce this order of preference: public cloud first, then hybrid cloud, then private cloud, and lastly non cloud (on-premises) solutions</a:t>
                      </a: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9689">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kern="1200">
                          <a:solidFill>
                            <a:schemeClr val="dk1"/>
                          </a:solidFill>
                          <a:latin typeface="+mn-lt"/>
                          <a:ea typeface="+mn-ea"/>
                          <a:cs typeface="Calibri"/>
                        </a:rPr>
                        <a:t>Design for cloud mobility and develop an exit strategy to avoid vendor lock-in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r>
                        <a:rPr lang="en-CA" sz="1100">
                          <a:solidFill>
                            <a:prstClr val="black"/>
                          </a:solidFill>
                          <a:cs typeface="Calibri"/>
                        </a:rPr>
                        <a: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3" name="Slide Number Placeholder 2">
            <a:extLst>
              <a:ext uri="{FF2B5EF4-FFF2-40B4-BE49-F238E27FC236}">
                <a16:creationId xmlns:a16="http://schemas.microsoft.com/office/drawing/2014/main" id="{84FA737D-2128-1530-DC0D-046B95D25F57}"/>
              </a:ext>
            </a:extLst>
          </p:cNvPr>
          <p:cNvSpPr>
            <a:spLocks noGrp="1"/>
          </p:cNvSpPr>
          <p:nvPr>
            <p:ph type="sldNum" sz="quarter" idx="12"/>
          </p:nvPr>
        </p:nvSpPr>
        <p:spPr/>
        <p:txBody>
          <a:bodyPr/>
          <a:lstStyle/>
          <a:p>
            <a:fld id="{32D4B517-E49B-41B6-9DBC-23634E0F1CDC}" type="slidenum">
              <a:rPr lang="en-CA" smtClean="0"/>
              <a:pPr/>
              <a:t>30</a:t>
            </a:fld>
            <a:endParaRPr lang="en-CA"/>
          </a:p>
        </p:txBody>
      </p:sp>
      <p:sp>
        <p:nvSpPr>
          <p:cNvPr id="2" name="TextBox 1">
            <a:extLst>
              <a:ext uri="{FF2B5EF4-FFF2-40B4-BE49-F238E27FC236}">
                <a16:creationId xmlns:a16="http://schemas.microsoft.com/office/drawing/2014/main" id="{8766A69E-265E-D81D-CFBE-B50AB9B8142E}"/>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3274843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a:extLst>
              <a:ext uri="{FF2B5EF4-FFF2-40B4-BE49-F238E27FC236}">
                <a16:creationId xmlns:a16="http://schemas.microsoft.com/office/drawing/2014/main" id="{2AAADC6B-4BD4-4BED-A52F-FD4F542CED04}"/>
              </a:ext>
            </a:extLst>
          </p:cNvPr>
          <p:cNvSpPr>
            <a:spLocks noGrp="1"/>
          </p:cNvSpPr>
          <p:nvPr>
            <p:ph type="title"/>
          </p:nvPr>
        </p:nvSpPr>
        <p:spPr>
          <a:xfrm>
            <a:off x="515380" y="30833"/>
            <a:ext cx="6852559" cy="877887"/>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Technology Architecture - continued</a:t>
            </a:r>
          </a:p>
        </p:txBody>
      </p:sp>
      <p:graphicFrame>
        <p:nvGraphicFramePr>
          <p:cNvPr id="8" name="Table 7">
            <a:extLst>
              <a:ext uri="{FF2B5EF4-FFF2-40B4-BE49-F238E27FC236}">
                <a16:creationId xmlns:a16="http://schemas.microsoft.com/office/drawing/2014/main" id="{C6FC8494-3153-4A47-B11F-7FC66DD8F53C}"/>
              </a:ext>
            </a:extLst>
          </p:cNvPr>
          <p:cNvGraphicFramePr>
            <a:graphicFrameLocks noGrp="1"/>
          </p:cNvGraphicFramePr>
          <p:nvPr/>
        </p:nvGraphicFramePr>
        <p:xfrm>
          <a:off x="457200" y="1124744"/>
          <a:ext cx="11197245" cy="5256584"/>
        </p:xfrm>
        <a:graphic>
          <a:graphicData uri="http://schemas.openxmlformats.org/drawingml/2006/table">
            <a:tbl>
              <a:tblPr firstRow="1">
                <a:tableStyleId>{5C22544A-7EE6-4342-B048-85BDC9FD1C3A}</a:tableStyleId>
              </a:tblPr>
              <a:tblGrid>
                <a:gridCol w="4622955">
                  <a:extLst>
                    <a:ext uri="{9D8B030D-6E8A-4147-A177-3AD203B41FA5}">
                      <a16:colId xmlns:a16="http://schemas.microsoft.com/office/drawing/2014/main" val="20000"/>
                    </a:ext>
                  </a:extLst>
                </a:gridCol>
                <a:gridCol w="6574290">
                  <a:extLst>
                    <a:ext uri="{9D8B030D-6E8A-4147-A177-3AD203B41FA5}">
                      <a16:colId xmlns:a16="http://schemas.microsoft.com/office/drawing/2014/main" val="20001"/>
                    </a:ext>
                  </a:extLst>
                </a:gridCol>
              </a:tblGrid>
              <a:tr h="281725">
                <a:tc>
                  <a:txBody>
                    <a:bodyPr/>
                    <a:lstStyle/>
                    <a:p>
                      <a:pPr marL="7470"/>
                      <a:r>
                        <a:rPr lang="en-US" sz="1200" b="1" kern="1200" spc="-8">
                          <a:solidFill>
                            <a:schemeClr val="bg1"/>
                          </a:solidFill>
                          <a:latin typeface="+mn-lt"/>
                          <a:ea typeface="+mn-ea"/>
                          <a:cs typeface="Calibri"/>
                        </a:rPr>
                        <a:t>T-2. Design for performance, availability and scalability</a:t>
                      </a:r>
                      <a:endParaRPr lang="en-CA" sz="1200" b="1" kern="1200" spc="-3">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479777">
                <a:tc>
                  <a:txBody>
                    <a:bodyPr/>
                    <a:lstStyle/>
                    <a:p>
                      <a:pPr marL="0" marR="7851" lvl="1" indent="0">
                        <a:buFont typeface="Wingdings" panose="05000000000000000000" pitchFamily="2" charset="2"/>
                        <a:buNone/>
                        <a:tabLst>
                          <a:tab pos="114300" algn="l"/>
                        </a:tabLst>
                      </a:pPr>
                      <a:r>
                        <a:rPr lang="en-US" sz="1100" kern="1200">
                          <a:solidFill>
                            <a:schemeClr val="dk1"/>
                          </a:solidFill>
                          <a:latin typeface="+mn-lt"/>
                          <a:ea typeface="+mn-ea"/>
                          <a:cs typeface="Calibri"/>
                        </a:rPr>
                        <a:t>Ensure response times meet user needs, and critical services are highly available</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9777">
                <a:tc>
                  <a:txBody>
                    <a:bodyPr/>
                    <a:lstStyle/>
                    <a:p>
                      <a:pPr marL="0" marR="7851" lvl="1" indent="0">
                        <a:buFont typeface="Wingdings" panose="05000000000000000000" pitchFamily="2" charset="2"/>
                        <a:buNone/>
                        <a:tabLst>
                          <a:tab pos="114300" algn="l"/>
                        </a:tabLst>
                      </a:pPr>
                      <a:r>
                        <a:rPr lang="en-US" sz="1100" kern="1200">
                          <a:solidFill>
                            <a:schemeClr val="dk1"/>
                          </a:solidFill>
                          <a:latin typeface="+mn-lt"/>
                          <a:ea typeface="+mn-ea"/>
                          <a:cs typeface="Calibri"/>
                        </a:rPr>
                        <a:t>Support zero-downtime deployments for planned and unplanned maintenance</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79637">
                <a:tc>
                  <a:txBody>
                    <a:bodyPr/>
                    <a:lstStyle/>
                    <a:p>
                      <a:pPr marL="0" marR="7851" lvl="1" indent="0">
                        <a:buFont typeface="Wingdings" panose="05000000000000000000" pitchFamily="2" charset="2"/>
                        <a:buNone/>
                        <a:tabLst>
                          <a:tab pos="114300" algn="l"/>
                        </a:tabLst>
                      </a:pPr>
                      <a:r>
                        <a:rPr lang="en-US" sz="1100" kern="1200">
                          <a:solidFill>
                            <a:schemeClr val="dk1"/>
                          </a:solidFill>
                          <a:latin typeface="+mn-lt"/>
                          <a:ea typeface="+mn-ea"/>
                          <a:cs typeface="Calibri"/>
                        </a:rPr>
                        <a:t>Use distributed architectures, assume failure will happen, handle errors gracefully, and monitor performance and </a:t>
                      </a:r>
                      <a:r>
                        <a:rPr lang="en-US" sz="1100" kern="1200" err="1">
                          <a:solidFill>
                            <a:schemeClr val="dk1"/>
                          </a:solidFill>
                          <a:latin typeface="+mn-lt"/>
                          <a:ea typeface="+mn-ea"/>
                          <a:cs typeface="Calibri"/>
                        </a:rPr>
                        <a:t>behaviour</a:t>
                      </a:r>
                      <a:r>
                        <a:rPr lang="en-US" sz="1100" kern="1200">
                          <a:solidFill>
                            <a:schemeClr val="dk1"/>
                          </a:solidFill>
                          <a:latin typeface="+mn-lt"/>
                          <a:ea typeface="+mn-ea"/>
                          <a:cs typeface="Calibri"/>
                        </a:rPr>
                        <a:t> actively</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79637">
                <a:tc>
                  <a:txBody>
                    <a:bodyPr/>
                    <a:lstStyle/>
                    <a:p>
                      <a:pPr marL="0" marR="7851" lvl="1" indent="0">
                        <a:buFont typeface="Wingdings" panose="05000000000000000000" pitchFamily="2" charset="2"/>
                        <a:buNone/>
                        <a:tabLst>
                          <a:tab pos="114300" algn="l"/>
                        </a:tabLst>
                      </a:pPr>
                      <a:r>
                        <a:rPr lang="en-US" sz="1100" kern="1200">
                          <a:solidFill>
                            <a:schemeClr val="dk1"/>
                          </a:solidFill>
                          <a:latin typeface="+mn-lt"/>
                          <a:ea typeface="+mn-ea"/>
                          <a:cs typeface="Calibri"/>
                        </a:rPr>
                        <a:t>Establish architectures that supports new technology insertion with minimal disruption to existing programs and services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9412">
                <a:tc>
                  <a:txBody>
                    <a:bodyPr/>
                    <a:lstStyle/>
                    <a:p>
                      <a:pPr marL="0" marR="7851" lvl="1" indent="0">
                        <a:buFont typeface="Wingdings" panose="05000000000000000000" pitchFamily="2" charset="2"/>
                        <a:buNone/>
                        <a:tabLst>
                          <a:tab pos="114300" algn="l"/>
                        </a:tabLst>
                      </a:pPr>
                      <a:r>
                        <a:rPr lang="en-US" sz="1100" kern="1200">
                          <a:solidFill>
                            <a:schemeClr val="dk1"/>
                          </a:solidFill>
                          <a:latin typeface="+mn-lt"/>
                          <a:ea typeface="+mn-ea"/>
                          <a:cs typeface="Calibri"/>
                        </a:rPr>
                        <a:t>Control technical diversity; design systems based on modern technologies and platforms already in use</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1725">
                <a:tc>
                  <a:txBody>
                    <a:bodyPr/>
                    <a:lstStyle/>
                    <a:p>
                      <a:pPr lvl="0"/>
                      <a:r>
                        <a:rPr lang="en-CA" sz="1200" b="1" kern="1200" spc="-3">
                          <a:solidFill>
                            <a:schemeClr val="bg1"/>
                          </a:solidFill>
                          <a:latin typeface="+mn-lt"/>
                          <a:ea typeface="+mn-ea"/>
                          <a:cs typeface="Calibri"/>
                        </a:rPr>
                        <a:t>T-3. Follow DevSecOps principles</a:t>
                      </a:r>
                      <a:endParaRPr lang="en-US" sz="1200" b="1" kern="1200" spc="-3">
                        <a:solidFill>
                          <a:schemeClr val="bg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205832693"/>
                  </a:ext>
                </a:extLst>
              </a:tr>
              <a:tr h="479777">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a:solidFill>
                            <a:prstClr val="black"/>
                          </a:solidFill>
                          <a:latin typeface="+mn-lt"/>
                          <a:ea typeface="+mn-ea"/>
                          <a:cs typeface="Calibri"/>
                        </a:rPr>
                        <a:t>Use continuous integration and continuous deployments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6237337"/>
                  </a:ext>
                </a:extLst>
              </a:tr>
              <a:tr h="479777">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kern="1200" spc="-3" noProof="0">
                          <a:solidFill>
                            <a:prstClr val="black"/>
                          </a:solidFill>
                          <a:latin typeface="+mn-lt"/>
                          <a:ea typeface="+mn-ea"/>
                          <a:cs typeface="Calibri"/>
                        </a:rPr>
                        <a:t>Ensure automated testing occurs for security and functionality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10577571"/>
                  </a:ext>
                </a:extLst>
              </a:tr>
              <a:tr h="705340">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100" b="0" kern="1200" spc="-3">
                          <a:solidFill>
                            <a:prstClr val="black"/>
                          </a:solidFill>
                          <a:latin typeface="+mn-lt"/>
                          <a:ea typeface="+mn-ea"/>
                          <a:cs typeface="Calibri"/>
                        </a:rPr>
                        <a:t>Include your users and other stakeholders as part of the DevSecOps process, which refers to the concept of making software security a core part of the overall software delivery process</a:t>
                      </a:r>
                      <a:endParaRPr lang="en-CA" sz="11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1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12002514"/>
                  </a:ext>
                </a:extLst>
              </a:tr>
            </a:tbl>
          </a:graphicData>
        </a:graphic>
      </p:graphicFrame>
      <p:pic>
        <p:nvPicPr>
          <p:cNvPr id="9" name="Picture 8">
            <a:extLst>
              <a:ext uri="{FF2B5EF4-FFF2-40B4-BE49-F238E27FC236}">
                <a16:creationId xmlns:a16="http://schemas.microsoft.com/office/drawing/2014/main" id="{8636549F-4C7D-4945-ACFC-F9AC9A8F906F}"/>
              </a:ex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793542" y="254490"/>
            <a:ext cx="757972" cy="446864"/>
          </a:xfrm>
          <a:prstGeom prst="rect">
            <a:avLst/>
          </a:prstGeom>
        </p:spPr>
      </p:pic>
      <p:sp>
        <p:nvSpPr>
          <p:cNvPr id="3" name="Slide Number Placeholder 2">
            <a:extLst>
              <a:ext uri="{FF2B5EF4-FFF2-40B4-BE49-F238E27FC236}">
                <a16:creationId xmlns:a16="http://schemas.microsoft.com/office/drawing/2014/main" id="{518A9E6F-358E-DBC9-4DDE-069BE414D19A}"/>
              </a:ext>
            </a:extLst>
          </p:cNvPr>
          <p:cNvSpPr>
            <a:spLocks noGrp="1"/>
          </p:cNvSpPr>
          <p:nvPr>
            <p:ph type="sldNum" sz="quarter" idx="12"/>
          </p:nvPr>
        </p:nvSpPr>
        <p:spPr/>
        <p:txBody>
          <a:bodyPr/>
          <a:lstStyle/>
          <a:p>
            <a:fld id="{32D4B517-E49B-41B6-9DBC-23634E0F1CDC}" type="slidenum">
              <a:rPr lang="en-CA" smtClean="0"/>
              <a:pPr/>
              <a:t>31</a:t>
            </a:fld>
            <a:endParaRPr lang="en-CA"/>
          </a:p>
        </p:txBody>
      </p:sp>
      <p:sp>
        <p:nvSpPr>
          <p:cNvPr id="2" name="TextBox 1">
            <a:extLst>
              <a:ext uri="{FF2B5EF4-FFF2-40B4-BE49-F238E27FC236}">
                <a16:creationId xmlns:a16="http://schemas.microsoft.com/office/drawing/2014/main" id="{32998C92-E64E-FC7E-2C7F-D0BA220AC21E}"/>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371179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3">
            <a:extLst>
              <a:ext uri="{FF2B5EF4-FFF2-40B4-BE49-F238E27FC236}">
                <a16:creationId xmlns:a16="http://schemas.microsoft.com/office/drawing/2014/main" id="{437D9A44-630F-413C-940D-D393B2112E52}"/>
              </a:ext>
            </a:extLst>
          </p:cNvPr>
          <p:cNvSpPr>
            <a:spLocks noGrp="1"/>
          </p:cNvSpPr>
          <p:nvPr>
            <p:ph type="title"/>
          </p:nvPr>
        </p:nvSpPr>
        <p:spPr>
          <a:xfrm>
            <a:off x="517971" y="30833"/>
            <a:ext cx="5434013" cy="877887"/>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Security Architecture</a:t>
            </a:r>
          </a:p>
        </p:txBody>
      </p:sp>
      <p:sp>
        <p:nvSpPr>
          <p:cNvPr id="12" name="Content Placeholder 2">
            <a:extLst>
              <a:ext uri="{FF2B5EF4-FFF2-40B4-BE49-F238E27FC236}">
                <a16:creationId xmlns:a16="http://schemas.microsoft.com/office/drawing/2014/main" id="{6929FBFF-847B-4D35-B28A-E82049BA51AA}"/>
              </a:ext>
            </a:extLst>
          </p:cNvPr>
          <p:cNvSpPr>
            <a:spLocks noGrp="1"/>
          </p:cNvSpPr>
          <p:nvPr>
            <p:ph idx="10"/>
          </p:nvPr>
        </p:nvSpPr>
        <p:spPr>
          <a:xfrm>
            <a:off x="457200" y="1109765"/>
            <a:ext cx="11201400" cy="586054"/>
          </a:xfrm>
        </p:spPr>
        <p:txBody>
          <a:bodyPr/>
          <a:lstStyle/>
          <a:p>
            <a:r>
              <a:rPr lang="en-US" sz="1400"/>
              <a:t>The GC Enterprise Security Architecture program is a government wide initiative to provide a standardized approach to developing IT security architecture, ensuring that basic security blocks are implemented across the enterprise as the infrastructure is being renewed. </a:t>
            </a:r>
            <a:endParaRPr lang="en-CA" sz="1400"/>
          </a:p>
        </p:txBody>
      </p:sp>
      <p:graphicFrame>
        <p:nvGraphicFramePr>
          <p:cNvPr id="9" name="Table 8"/>
          <p:cNvGraphicFramePr>
            <a:graphicFrameLocks noGrp="1"/>
          </p:cNvGraphicFramePr>
          <p:nvPr/>
        </p:nvGraphicFramePr>
        <p:xfrm>
          <a:off x="457200" y="1772816"/>
          <a:ext cx="11201399" cy="4644517"/>
        </p:xfrm>
        <a:graphic>
          <a:graphicData uri="http://schemas.openxmlformats.org/drawingml/2006/table">
            <a:tbl>
              <a:tblPr firstRow="1">
                <a:tableStyleId>{5C22544A-7EE6-4342-B048-85BDC9FD1C3A}</a:tableStyleId>
              </a:tblPr>
              <a:tblGrid>
                <a:gridCol w="4623567">
                  <a:extLst>
                    <a:ext uri="{9D8B030D-6E8A-4147-A177-3AD203B41FA5}">
                      <a16:colId xmlns:a16="http://schemas.microsoft.com/office/drawing/2014/main" val="20000"/>
                    </a:ext>
                  </a:extLst>
                </a:gridCol>
                <a:gridCol w="6577832">
                  <a:extLst>
                    <a:ext uri="{9D8B030D-6E8A-4147-A177-3AD203B41FA5}">
                      <a16:colId xmlns:a16="http://schemas.microsoft.com/office/drawing/2014/main" val="20001"/>
                    </a:ext>
                  </a:extLst>
                </a:gridCol>
              </a:tblGrid>
              <a:tr h="488829">
                <a:tc>
                  <a:txBody>
                    <a:bodyPr/>
                    <a:lstStyle/>
                    <a:p>
                      <a:pPr marL="7470"/>
                      <a:r>
                        <a:rPr lang="en-US" sz="1200" b="1" kern="1200" spc="-3">
                          <a:solidFill>
                            <a:schemeClr val="bg1"/>
                          </a:solidFill>
                          <a:latin typeface="+mn-lt"/>
                          <a:ea typeface="+mn-ea"/>
                          <a:cs typeface="Calibri"/>
                        </a:rPr>
                        <a:t>S-1. Build security into the system life cycle across all architectural layers</a:t>
                      </a:r>
                      <a:endParaRPr lang="en-CA" sz="1200" b="1" kern="1200" spc="-3">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149446">
                <a:tc>
                  <a:txBody>
                    <a:bodyPr/>
                    <a:lstStyle/>
                    <a:p>
                      <a:pPr marL="0" lvl="1" indent="0">
                        <a:buFont typeface="Wingdings" panose="05000000000000000000" pitchFamily="2" charset="2"/>
                        <a:buNone/>
                        <a:tabLst>
                          <a:tab pos="114300" algn="l"/>
                        </a:tabLst>
                      </a:pPr>
                      <a:r>
                        <a:rPr lang="en-US" sz="1100" b="0" i="0" kern="1200">
                          <a:solidFill>
                            <a:schemeClr val="dk1"/>
                          </a:solidFill>
                          <a:effectLst/>
                          <a:latin typeface="+mn-lt"/>
                          <a:ea typeface="+mn-ea"/>
                          <a:cs typeface="+mn-cs"/>
                        </a:rPr>
                        <a:t>Identify and </a:t>
                      </a:r>
                      <a:r>
                        <a:rPr lang="en-US" sz="1100" b="0" i="0" u="none" strike="noStrike" kern="1200">
                          <a:solidFill>
                            <a:schemeClr val="dk1"/>
                          </a:solidFill>
                          <a:effectLst/>
                          <a:latin typeface="+mn-lt"/>
                          <a:ea typeface="+mn-ea"/>
                          <a:cs typeface="+mn-cs"/>
                          <a:hlinkClick r:id="rId4"/>
                        </a:rPr>
                        <a:t>categorize</a:t>
                      </a:r>
                      <a:r>
                        <a:rPr lang="en-US" sz="1100" b="0" i="0" kern="1200">
                          <a:solidFill>
                            <a:schemeClr val="dk1"/>
                          </a:solidFill>
                          <a:effectLst/>
                          <a:latin typeface="+mn-lt"/>
                          <a:ea typeface="+mn-ea"/>
                          <a:cs typeface="+mn-cs"/>
                        </a:rPr>
                        <a:t> information based on the degree of injury that could be expected to result from a compromise of its confidentiality, integrity and availability</a:t>
                      </a:r>
                      <a:endParaRPr lang="en-CA" sz="6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US"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49446">
                <a:tc>
                  <a:txBody>
                    <a:bodyPr/>
                    <a:lstStyle/>
                    <a:p>
                      <a:pPr marL="0" lvl="1" indent="0">
                        <a:buFont typeface="Wingdings" panose="05000000000000000000" pitchFamily="2" charset="2"/>
                        <a:buNone/>
                        <a:tabLst>
                          <a:tab pos="114300" algn="l"/>
                        </a:tabLst>
                      </a:pPr>
                      <a:r>
                        <a:rPr lang="en-US" sz="1100" b="0" i="0" kern="1200">
                          <a:solidFill>
                            <a:schemeClr val="dk1"/>
                          </a:solidFill>
                          <a:effectLst/>
                          <a:latin typeface="+mn-lt"/>
                          <a:ea typeface="+mn-ea"/>
                          <a:cs typeface="+mn-cs"/>
                        </a:rPr>
                        <a:t>Implement a continuous security approach, in alignment with </a:t>
                      </a:r>
                      <a:r>
                        <a:rPr lang="en-US" sz="1100" b="0" i="0" u="none" strike="noStrike" kern="1200">
                          <a:solidFill>
                            <a:schemeClr val="dk1"/>
                          </a:solidFill>
                          <a:effectLst/>
                          <a:latin typeface="+mn-lt"/>
                          <a:ea typeface="+mn-ea"/>
                          <a:cs typeface="+mn-cs"/>
                          <a:hlinkClick r:id="rId5"/>
                        </a:rPr>
                        <a:t>Centre for Cyber Security’s IT Security Risk Management Framework</a:t>
                      </a:r>
                      <a:r>
                        <a:rPr lang="en-US" sz="1100" b="0" i="0" u="none" strike="noStrike" kern="1200">
                          <a:solidFill>
                            <a:schemeClr val="dk1"/>
                          </a:solidFill>
                          <a:effectLst/>
                          <a:latin typeface="+mn-lt"/>
                          <a:ea typeface="+mn-ea"/>
                          <a:cs typeface="+mn-cs"/>
                        </a:rPr>
                        <a:t>; perform threat modelling to minimize the attack surface by limiting services</a:t>
                      </a:r>
                      <a:endParaRPr lang="en-CA" sz="6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US"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149446">
                <a:tc>
                  <a:txBody>
                    <a:bodyPr/>
                    <a:lstStyle/>
                    <a:p>
                      <a:pPr marL="0" indent="0">
                        <a:buFont typeface="Wingdings" panose="05000000000000000000" pitchFamily="2" charset="2"/>
                        <a:buNone/>
                      </a:pPr>
                      <a:r>
                        <a:rPr lang="en-US" sz="1100" kern="1200">
                          <a:solidFill>
                            <a:schemeClr val="dk1"/>
                          </a:solidFill>
                          <a:latin typeface="+mn-lt"/>
                          <a:ea typeface="+mn-ea"/>
                          <a:cs typeface="Calibri"/>
                        </a:rPr>
                        <a:t>Apply proportionate security measures that address business and user needs while adequately protecting data at rest and data in transit</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07350">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kern="1200">
                          <a:solidFill>
                            <a:schemeClr val="dk1"/>
                          </a:solidFill>
                          <a:latin typeface="+mn-lt"/>
                          <a:ea typeface="+mn-ea"/>
                          <a:cs typeface="Calibri"/>
                        </a:rPr>
                        <a:t>Design systems to be resilient and available in order to support service continuity</a:t>
                      </a: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8" name="Picture 7">
            <a:extLst>
              <a:ext uri="{FF2B5EF4-FFF2-40B4-BE49-F238E27FC236}">
                <a16:creationId xmlns:a16="http://schemas.microsoft.com/office/drawing/2014/main" id="{746D6681-6254-44CD-A0BA-8D610955EBD8}"/>
              </a:ext>
              <a:ext uri="{C183D7F6-B498-43B3-948B-1728B52AA6E4}">
                <adec:decorative xmlns:adec="http://schemas.microsoft.com/office/drawing/2017/decorative" val="1"/>
              </a:ext>
            </a:extLst>
          </p:cNvPr>
          <p:cNvPicPr>
            <a:picLocks noChangeAspect="1"/>
          </p:cNvPicPr>
          <p:nvPr>
            <p:custDataLst>
              <p:tags r:id="rId1"/>
            </p:custDataLst>
          </p:nvPr>
        </p:nvPicPr>
        <p:blipFill>
          <a:blip r:embed="rId6"/>
          <a:stretch>
            <a:fillRect/>
          </a:stretch>
        </p:blipFill>
        <p:spPr>
          <a:xfrm>
            <a:off x="6924093" y="204741"/>
            <a:ext cx="351107" cy="428625"/>
          </a:xfrm>
          <a:prstGeom prst="rect">
            <a:avLst/>
          </a:prstGeom>
        </p:spPr>
      </p:pic>
      <p:sp>
        <p:nvSpPr>
          <p:cNvPr id="3" name="Slide Number Placeholder 2">
            <a:extLst>
              <a:ext uri="{FF2B5EF4-FFF2-40B4-BE49-F238E27FC236}">
                <a16:creationId xmlns:a16="http://schemas.microsoft.com/office/drawing/2014/main" id="{12094A13-918D-4A13-AE86-D88DA8970531}"/>
              </a:ext>
            </a:extLst>
          </p:cNvPr>
          <p:cNvSpPr>
            <a:spLocks noGrp="1"/>
          </p:cNvSpPr>
          <p:nvPr>
            <p:ph type="sldNum" sz="quarter" idx="12"/>
          </p:nvPr>
        </p:nvSpPr>
        <p:spPr/>
        <p:txBody>
          <a:bodyPr/>
          <a:lstStyle/>
          <a:p>
            <a:fld id="{32D4B517-E49B-41B6-9DBC-23634E0F1CDC}" type="slidenum">
              <a:rPr lang="en-CA" smtClean="0"/>
              <a:pPr/>
              <a:t>32</a:t>
            </a:fld>
            <a:endParaRPr lang="en-CA"/>
          </a:p>
        </p:txBody>
      </p:sp>
      <p:sp>
        <p:nvSpPr>
          <p:cNvPr id="2" name="TextBox 1">
            <a:extLst>
              <a:ext uri="{FF2B5EF4-FFF2-40B4-BE49-F238E27FC236}">
                <a16:creationId xmlns:a16="http://schemas.microsoft.com/office/drawing/2014/main" id="{5A717EF3-7A6A-E1EE-590D-5CE7A5422A20}"/>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581359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13420C-6AC1-40ED-A0B9-8C45A9D5EBD7}"/>
              </a:ext>
            </a:extLst>
          </p:cNvPr>
          <p:cNvSpPr>
            <a:spLocks noGrp="1"/>
          </p:cNvSpPr>
          <p:nvPr>
            <p:ph type="title"/>
          </p:nvPr>
        </p:nvSpPr>
        <p:spPr>
          <a:xfrm>
            <a:off x="515380" y="30050"/>
            <a:ext cx="5432982" cy="878670"/>
          </a:xfrm>
        </p:spPr>
        <p:txBody>
          <a:bodyPr>
            <a:normAutofit/>
          </a:bodyPr>
          <a:lstStyle/>
          <a:p>
            <a:pPr marL="0"/>
            <a:r>
              <a:rPr lang="en-CA" sz="2000" b="1">
                <a:solidFill>
                  <a:schemeClr val="tx1">
                    <a:lumMod val="65000"/>
                    <a:lumOff val="35000"/>
                  </a:schemeClr>
                </a:solidFill>
                <a:latin typeface="+mj-lt"/>
              </a:rPr>
              <a:t>Appendix 1: GC EA Framework</a:t>
            </a:r>
            <a:br>
              <a:rPr lang="en-US" sz="2000" b="1">
                <a:solidFill>
                  <a:schemeClr val="tx1">
                    <a:lumMod val="65000"/>
                    <a:lumOff val="35000"/>
                  </a:schemeClr>
                </a:solidFill>
                <a:latin typeface="+mj-lt"/>
              </a:rPr>
            </a:br>
            <a:r>
              <a:rPr lang="en-CA" sz="2000">
                <a:latin typeface="+mj-lt"/>
              </a:rPr>
              <a:t>Security Architecture – continued</a:t>
            </a:r>
          </a:p>
        </p:txBody>
      </p:sp>
      <p:pic>
        <p:nvPicPr>
          <p:cNvPr id="11" name="Picture 10">
            <a:extLst>
              <a:ext uri="{C183D7F6-B498-43B3-948B-1728B52AA6E4}">
                <adec:decorative xmlns:adec="http://schemas.microsoft.com/office/drawing/2017/decorative" val="1"/>
              </a:ext>
            </a:extLst>
          </p:cNvPr>
          <p:cNvPicPr>
            <a:picLocks noChangeAspect="1"/>
          </p:cNvPicPr>
          <p:nvPr>
            <p:custDataLst>
              <p:tags r:id="rId1"/>
            </p:custDataLst>
          </p:nvPr>
        </p:nvPicPr>
        <p:blipFill>
          <a:blip r:embed="rId4"/>
          <a:stretch>
            <a:fillRect/>
          </a:stretch>
        </p:blipFill>
        <p:spPr>
          <a:xfrm>
            <a:off x="6924093" y="204741"/>
            <a:ext cx="351107" cy="428625"/>
          </a:xfrm>
          <a:prstGeom prst="rect">
            <a:avLst/>
          </a:prstGeom>
        </p:spPr>
      </p:pic>
      <p:graphicFrame>
        <p:nvGraphicFramePr>
          <p:cNvPr id="12" name="Table 11">
            <a:extLst>
              <a:ext uri="{FF2B5EF4-FFF2-40B4-BE49-F238E27FC236}">
                <a16:creationId xmlns:a16="http://schemas.microsoft.com/office/drawing/2014/main" id="{1D1E646B-6C36-419E-BD40-25CA95E9A591}"/>
              </a:ext>
            </a:extLst>
          </p:cNvPr>
          <p:cNvGraphicFramePr>
            <a:graphicFrameLocks noGrp="1"/>
          </p:cNvGraphicFramePr>
          <p:nvPr/>
        </p:nvGraphicFramePr>
        <p:xfrm>
          <a:off x="457200" y="1052736"/>
          <a:ext cx="11197244" cy="5313312"/>
        </p:xfrm>
        <a:graphic>
          <a:graphicData uri="http://schemas.openxmlformats.org/drawingml/2006/table">
            <a:tbl>
              <a:tblPr firstRow="1">
                <a:tableStyleId>{5C22544A-7EE6-4342-B048-85BDC9FD1C3A}</a:tableStyleId>
              </a:tblPr>
              <a:tblGrid>
                <a:gridCol w="4695187">
                  <a:extLst>
                    <a:ext uri="{9D8B030D-6E8A-4147-A177-3AD203B41FA5}">
                      <a16:colId xmlns:a16="http://schemas.microsoft.com/office/drawing/2014/main" val="20000"/>
                    </a:ext>
                  </a:extLst>
                </a:gridCol>
                <a:gridCol w="6502057">
                  <a:extLst>
                    <a:ext uri="{9D8B030D-6E8A-4147-A177-3AD203B41FA5}">
                      <a16:colId xmlns:a16="http://schemas.microsoft.com/office/drawing/2014/main" val="20001"/>
                    </a:ext>
                  </a:extLst>
                </a:gridCol>
              </a:tblGrid>
              <a:tr h="317960">
                <a:tc>
                  <a:txBody>
                    <a:bodyPr/>
                    <a:lstStyle/>
                    <a:p>
                      <a:pPr marL="7470"/>
                      <a:r>
                        <a:rPr lang="en-US" sz="1200" b="1" kern="1200" spc="-3">
                          <a:solidFill>
                            <a:schemeClr val="bg1"/>
                          </a:solidFill>
                          <a:latin typeface="+mn-lt"/>
                          <a:ea typeface="+mn-ea"/>
                          <a:cs typeface="Calibri"/>
                        </a:rPr>
                        <a:t>S-2. Ensure secure access to systems and services</a:t>
                      </a:r>
                      <a:endParaRPr lang="en-CA" sz="1200" b="1" kern="1200" spc="-3">
                        <a:solidFill>
                          <a:schemeClr val="bg1"/>
                        </a:solidFill>
                        <a:latin typeface="+mn-lt"/>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802874">
                <a:tc>
                  <a:txBody>
                    <a:bodyPr/>
                    <a:lstStyle/>
                    <a:p>
                      <a:pPr marL="0" lvl="1" indent="0">
                        <a:buFont typeface="Wingdings" panose="05000000000000000000" pitchFamily="2" charset="2"/>
                        <a:buNone/>
                        <a:tabLst>
                          <a:tab pos="114300" algn="l"/>
                        </a:tabLst>
                      </a:pPr>
                      <a:r>
                        <a:rPr lang="en-US" sz="1100" b="0" i="0" kern="1200">
                          <a:solidFill>
                            <a:schemeClr val="dk1"/>
                          </a:solidFill>
                          <a:effectLst/>
                          <a:latin typeface="+mn-lt"/>
                          <a:ea typeface="+mn-ea"/>
                          <a:cs typeface="+mn-cs"/>
                        </a:rPr>
                        <a:t>Identify and authenticate individuals, processes or devices to an appropriate level of assurance, based on clearly defined roles, before granting access to information and services; leverage enterprise services such as Government of Canada trusted digital identity solutions that are supported by the </a:t>
                      </a:r>
                      <a:r>
                        <a:rPr lang="en-US" sz="1100" b="0" i="0" u="none" strike="noStrike" kern="1200">
                          <a:solidFill>
                            <a:schemeClr val="dk1"/>
                          </a:solidFill>
                          <a:effectLst/>
                          <a:latin typeface="+mn-lt"/>
                          <a:ea typeface="+mn-ea"/>
                          <a:cs typeface="+mn-cs"/>
                          <a:hlinkClick r:id="rId5"/>
                        </a:rPr>
                        <a:t>Pan-Canadian Trust Framework</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US"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50430">
                <a:tc>
                  <a:txBody>
                    <a:bodyPr/>
                    <a:lstStyle/>
                    <a:p>
                      <a:pPr marL="0" indent="0">
                        <a:buFont typeface="Wingdings" panose="05000000000000000000" pitchFamily="2" charset="2"/>
                        <a:buNone/>
                      </a:pPr>
                      <a:r>
                        <a:rPr lang="en-US" sz="1100" b="0" i="0" kern="1200">
                          <a:solidFill>
                            <a:schemeClr val="dk1"/>
                          </a:solidFill>
                          <a:effectLst/>
                          <a:latin typeface="+mn-lt"/>
                          <a:ea typeface="+mn-ea"/>
                          <a:cs typeface="+mn-cs"/>
                        </a:rPr>
                        <a:t>Constrain service interfaces to authorized entities (users and devices), with clearly defined roles; segment and separate information based on sensitivity of information, in alignment with </a:t>
                      </a:r>
                      <a:r>
                        <a:rPr lang="en-US" sz="1100" b="0" i="0" u="none" strike="noStrike" kern="1200">
                          <a:solidFill>
                            <a:schemeClr val="dk1"/>
                          </a:solidFill>
                          <a:effectLst/>
                          <a:latin typeface="+mn-lt"/>
                          <a:ea typeface="+mn-ea"/>
                          <a:cs typeface="+mn-cs"/>
                          <a:hlinkClick r:id="rId6"/>
                        </a:rPr>
                        <a:t>ITSG-22</a:t>
                      </a:r>
                      <a:r>
                        <a:rPr lang="en-US" sz="1100" b="0" i="0" kern="1200">
                          <a:solidFill>
                            <a:schemeClr val="dk1"/>
                          </a:solidFill>
                          <a:effectLst/>
                          <a:latin typeface="+mn-lt"/>
                          <a:ea typeface="+mn-ea"/>
                          <a:cs typeface="+mn-cs"/>
                        </a:rPr>
                        <a:t> and </a:t>
                      </a:r>
                      <a:r>
                        <a:rPr lang="en-US" sz="1100" b="0" i="0" u="none" strike="noStrike" kern="1200">
                          <a:solidFill>
                            <a:schemeClr val="dk1"/>
                          </a:solidFill>
                          <a:effectLst/>
                          <a:latin typeface="+mn-lt"/>
                          <a:ea typeface="+mn-ea"/>
                          <a:cs typeface="+mn-cs"/>
                          <a:hlinkClick r:id="rId7"/>
                        </a:rPr>
                        <a:t>ITSG-38</a:t>
                      </a:r>
                      <a:r>
                        <a:rPr lang="en-US" sz="1100" b="0" i="0" kern="1200">
                          <a:solidFill>
                            <a:schemeClr val="dk1"/>
                          </a:solidFill>
                          <a:effectLst/>
                          <a:latin typeface="+mn-lt"/>
                          <a:ea typeface="+mn-ea"/>
                          <a:cs typeface="+mn-cs"/>
                        </a:rPr>
                        <a:t>. Management interfaces may require increased levels of protection</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7938">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i="0" kern="1200">
                          <a:solidFill>
                            <a:schemeClr val="dk1"/>
                          </a:solidFill>
                          <a:effectLst/>
                          <a:latin typeface="+mn-lt"/>
                          <a:ea typeface="+mn-ea"/>
                          <a:cs typeface="+mn-cs"/>
                        </a:rPr>
                        <a:t>Implement </a:t>
                      </a:r>
                      <a:r>
                        <a:rPr lang="en-US" sz="1100" b="0" i="0" u="none" strike="noStrike" kern="1200">
                          <a:solidFill>
                            <a:schemeClr val="dk1"/>
                          </a:solidFill>
                          <a:effectLst/>
                          <a:latin typeface="+mn-lt"/>
                          <a:ea typeface="+mn-ea"/>
                          <a:cs typeface="+mn-cs"/>
                          <a:hlinkClick r:id="rId8"/>
                        </a:rPr>
                        <a:t>HTTPS</a:t>
                      </a:r>
                      <a:r>
                        <a:rPr lang="en-US" sz="1100" b="0" i="0" kern="1200">
                          <a:solidFill>
                            <a:schemeClr val="dk1"/>
                          </a:solidFill>
                          <a:effectLst/>
                          <a:latin typeface="+mn-lt"/>
                          <a:ea typeface="+mn-ea"/>
                          <a:cs typeface="+mn-cs"/>
                        </a:rPr>
                        <a:t> for secure web connections and Domain-based Message Authentication, Reporting and Conformance (</a:t>
                      </a:r>
                      <a:r>
                        <a:rPr lang="en-US" sz="1100" b="0" i="0" u="none" strike="noStrike" kern="1200">
                          <a:solidFill>
                            <a:schemeClr val="dk1"/>
                          </a:solidFill>
                          <a:effectLst/>
                          <a:latin typeface="+mn-lt"/>
                          <a:ea typeface="+mn-ea"/>
                          <a:cs typeface="+mn-cs"/>
                          <a:hlinkClick r:id="rId9"/>
                        </a:rPr>
                        <a:t>DMARC</a:t>
                      </a:r>
                      <a:r>
                        <a:rPr lang="en-US" sz="1100" b="0" i="0" u="none" strike="noStrike" kern="1200">
                          <a:solidFill>
                            <a:schemeClr val="dk1"/>
                          </a:solidFill>
                          <a:effectLst/>
                          <a:latin typeface="+mn-lt"/>
                          <a:ea typeface="+mn-ea"/>
                          <a:cs typeface="+mn-cs"/>
                        </a:rPr>
                        <a:t>)</a:t>
                      </a:r>
                      <a:r>
                        <a:rPr lang="en-US" sz="1100" b="0" i="0" kern="1200">
                          <a:solidFill>
                            <a:schemeClr val="dk1"/>
                          </a:solidFill>
                          <a:effectLst/>
                          <a:latin typeface="+mn-lt"/>
                          <a:ea typeface="+mn-ea"/>
                          <a:cs typeface="+mn-cs"/>
                        </a:rPr>
                        <a:t> for enhanced email security</a:t>
                      </a: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8806">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i="0" kern="1200">
                          <a:solidFill>
                            <a:schemeClr val="dk1"/>
                          </a:solidFill>
                          <a:effectLst/>
                          <a:latin typeface="+mn-lt"/>
                          <a:ea typeface="+mn-ea"/>
                          <a:cs typeface="+mn-cs"/>
                        </a:rPr>
                        <a:t>Establish secure interconnections between systems through secure </a:t>
                      </a:r>
                      <a:r>
                        <a:rPr lang="en-US" sz="1100" b="0" i="0" u="none" strike="noStrike" kern="1200">
                          <a:solidFill>
                            <a:schemeClr val="dk1"/>
                          </a:solidFill>
                          <a:effectLst/>
                          <a:latin typeface="+mn-lt"/>
                          <a:ea typeface="+mn-ea"/>
                          <a:cs typeface="+mn-cs"/>
                          <a:hlinkClick r:id="rId10"/>
                        </a:rPr>
                        <a:t>APIs</a:t>
                      </a:r>
                      <a:r>
                        <a:rPr lang="en-US" sz="1100" b="0" i="0" kern="1200">
                          <a:solidFill>
                            <a:schemeClr val="dk1"/>
                          </a:solidFill>
                          <a:effectLst/>
                          <a:latin typeface="+mn-lt"/>
                          <a:ea typeface="+mn-ea"/>
                          <a:cs typeface="+mn-cs"/>
                        </a:rPr>
                        <a:t> or leveraging centrally managed hybrid IT connectivity services</a:t>
                      </a: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1968112"/>
                  </a:ext>
                </a:extLst>
              </a:tr>
              <a:tr h="302823">
                <a:tc>
                  <a:txBody>
                    <a:bodyPr/>
                    <a:lstStyle/>
                    <a:p>
                      <a:pPr marL="7470"/>
                      <a:r>
                        <a:rPr lang="en-CA" sz="1200" b="1" kern="1200" spc="-3">
                          <a:solidFill>
                            <a:schemeClr val="bg1"/>
                          </a:solidFill>
                          <a:latin typeface="+mn-lt"/>
                          <a:ea typeface="+mn-ea"/>
                          <a:cs typeface="Calibri"/>
                        </a:rPr>
                        <a:t>S-3. Maintain secure operations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1200" b="1" spc="-3">
                          <a:solidFill>
                            <a:schemeClr val="bg1"/>
                          </a:solidFill>
                          <a:cs typeface="Calibri"/>
                        </a:rPr>
                        <a:t>HOW will this be achieved?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216128422"/>
                  </a:ext>
                </a:extLst>
              </a:tr>
              <a:tr h="691847">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Establish processes to maintain visibility of assets and ensure the prompt application of security related patches and updates in order to reduce exposure to vulnerabilities, in accordance with GC </a:t>
                      </a:r>
                      <a:r>
                        <a:rPr lang="en-US" sz="1100" i="1" kern="1200">
                          <a:solidFill>
                            <a:schemeClr val="dk1"/>
                          </a:solidFill>
                          <a:latin typeface="+mn-lt"/>
                          <a:ea typeface="+mn-ea"/>
                          <a:cs typeface="Calibri"/>
                        </a:rPr>
                        <a:t>Patch Management Guidance</a:t>
                      </a:r>
                      <a:endParaRPr lang="en-CA" sz="1100" i="1"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US"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637771"/>
                  </a:ext>
                </a:extLst>
              </a:tr>
              <a:tr h="627938">
                <a:tc>
                  <a:txBody>
                    <a:bodyPr/>
                    <a:lstStyle/>
                    <a:p>
                      <a:pPr marL="0" lvl="1" indent="0">
                        <a:buFont typeface="Wingdings" panose="05000000000000000000" pitchFamily="2" charset="2"/>
                        <a:buNone/>
                        <a:tabLst>
                          <a:tab pos="114300" algn="l"/>
                        </a:tabLst>
                      </a:pPr>
                      <a:r>
                        <a:rPr lang="en-US" sz="1100" kern="1200">
                          <a:solidFill>
                            <a:schemeClr val="dk1"/>
                          </a:solidFill>
                          <a:latin typeface="+mn-lt"/>
                          <a:ea typeface="+mn-ea"/>
                          <a:cs typeface="Calibri"/>
                        </a:rPr>
                        <a:t>Enable event logging, in accordance with GC </a:t>
                      </a:r>
                      <a:r>
                        <a:rPr lang="en-US" sz="1100" i="1" kern="1200">
                          <a:solidFill>
                            <a:schemeClr val="dk1"/>
                          </a:solidFill>
                          <a:latin typeface="+mn-lt"/>
                          <a:ea typeface="+mn-ea"/>
                          <a:cs typeface="Calibri"/>
                        </a:rPr>
                        <a:t>Event Logging Guidance</a:t>
                      </a:r>
                      <a:r>
                        <a:rPr lang="en-US" sz="1100" kern="1200">
                          <a:solidFill>
                            <a:schemeClr val="dk1"/>
                          </a:solidFill>
                          <a:latin typeface="+mn-lt"/>
                          <a:ea typeface="+mn-ea"/>
                          <a:cs typeface="Calibri"/>
                        </a:rPr>
                        <a:t>, and perform monitoring of systems and services in order to detect, prevent, and respond to attacks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US"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6928191"/>
                  </a:ext>
                </a:extLst>
              </a:tr>
              <a:tr h="575491">
                <a:tc>
                  <a:txBody>
                    <a:bodyPr/>
                    <a:lstStyle/>
                    <a:p>
                      <a:pPr marL="0" indent="0">
                        <a:buFont typeface="Wingdings" panose="05000000000000000000" pitchFamily="2" charset="2"/>
                        <a:buNone/>
                      </a:pPr>
                      <a:r>
                        <a:rPr lang="en-US" sz="1100" b="0" i="0" kern="1200">
                          <a:solidFill>
                            <a:schemeClr val="dk1"/>
                          </a:solidFill>
                          <a:effectLst/>
                          <a:latin typeface="+mn-lt"/>
                          <a:ea typeface="+mn-ea"/>
                          <a:cs typeface="+mn-cs"/>
                        </a:rPr>
                        <a:t>Establish an incident management plan in alignment with the </a:t>
                      </a:r>
                      <a:r>
                        <a:rPr lang="en-US" sz="1100" b="0" i="0" u="none" strike="noStrike" kern="1200">
                          <a:solidFill>
                            <a:schemeClr val="dk1"/>
                          </a:solidFill>
                          <a:effectLst/>
                          <a:latin typeface="+mn-lt"/>
                          <a:ea typeface="+mn-ea"/>
                          <a:cs typeface="+mn-cs"/>
                          <a:hlinkClick r:id="rId11"/>
                        </a:rPr>
                        <a:t>GC Cyber Security Event Management Plan (GC CSEMP)</a:t>
                      </a:r>
                      <a:r>
                        <a:rPr lang="en-US" sz="1100" b="0" i="0" kern="1200">
                          <a:solidFill>
                            <a:schemeClr val="dk1"/>
                          </a:solidFill>
                          <a:effectLst/>
                          <a:latin typeface="+mn-lt"/>
                          <a:ea typeface="+mn-ea"/>
                          <a:cs typeface="+mn-cs"/>
                        </a:rPr>
                        <a:t> and report incidents to the </a:t>
                      </a:r>
                      <a:r>
                        <a:rPr lang="en-US" sz="1100" b="0" i="0" u="none" strike="noStrike" kern="1200">
                          <a:solidFill>
                            <a:schemeClr val="dk1"/>
                          </a:solidFill>
                          <a:effectLst/>
                          <a:latin typeface="+mn-lt"/>
                          <a:ea typeface="+mn-ea"/>
                          <a:cs typeface="+mn-cs"/>
                          <a:hlinkClick r:id="rId12"/>
                        </a:rPr>
                        <a:t>Canadian Centre for Cyber Security (CCCS)</a:t>
                      </a:r>
                      <a:endParaRPr lang="en-CA" sz="1100" kern="1200">
                        <a:solidFill>
                          <a:schemeClr val="dk1"/>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indent="0">
                        <a:buFont typeface="Wingdings" panose="05000000000000000000" pitchFamily="2" charset="2"/>
                        <a:buNone/>
                      </a:pPr>
                      <a:endParaRPr lang="en-CA" sz="1100" spc="-41">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5955971"/>
                  </a:ext>
                </a:extLst>
              </a:tr>
            </a:tbl>
          </a:graphicData>
        </a:graphic>
      </p:graphicFrame>
      <p:sp>
        <p:nvSpPr>
          <p:cNvPr id="3" name="Slide Number Placeholder 2">
            <a:extLst>
              <a:ext uri="{FF2B5EF4-FFF2-40B4-BE49-F238E27FC236}">
                <a16:creationId xmlns:a16="http://schemas.microsoft.com/office/drawing/2014/main" id="{BCCD2EFE-1E76-A6E2-8B63-595590202676}"/>
              </a:ext>
            </a:extLst>
          </p:cNvPr>
          <p:cNvSpPr>
            <a:spLocks noGrp="1"/>
          </p:cNvSpPr>
          <p:nvPr>
            <p:ph type="sldNum" sz="quarter" idx="12"/>
          </p:nvPr>
        </p:nvSpPr>
        <p:spPr/>
        <p:txBody>
          <a:bodyPr/>
          <a:lstStyle/>
          <a:p>
            <a:fld id="{32D4B517-E49B-41B6-9DBC-23634E0F1CDC}" type="slidenum">
              <a:rPr lang="en-CA" smtClean="0"/>
              <a:pPr/>
              <a:t>33</a:t>
            </a:fld>
            <a:endParaRPr lang="en-CA"/>
          </a:p>
        </p:txBody>
      </p:sp>
      <p:sp>
        <p:nvSpPr>
          <p:cNvPr id="2" name="TextBox 1">
            <a:extLst>
              <a:ext uri="{FF2B5EF4-FFF2-40B4-BE49-F238E27FC236}">
                <a16:creationId xmlns:a16="http://schemas.microsoft.com/office/drawing/2014/main" id="{BA1E30B2-86CC-8D71-0450-17EFFBA9FC8D}"/>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482185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3">
            <a:extLst>
              <a:ext uri="{FF2B5EF4-FFF2-40B4-BE49-F238E27FC236}">
                <a16:creationId xmlns:a16="http://schemas.microsoft.com/office/drawing/2014/main" id="{6B7BFC57-5073-4839-9635-A8588617E195}"/>
              </a:ext>
            </a:extLst>
          </p:cNvPr>
          <p:cNvSpPr>
            <a:spLocks noGrp="1"/>
          </p:cNvSpPr>
          <p:nvPr>
            <p:ph type="title"/>
          </p:nvPr>
        </p:nvSpPr>
        <p:spPr>
          <a:xfrm>
            <a:off x="457200" y="28478"/>
            <a:ext cx="5432425" cy="877888"/>
          </a:xfrm>
        </p:spPr>
        <p:txBody>
          <a:bodyPr>
            <a:normAutofit/>
          </a:bodyPr>
          <a:lstStyle/>
          <a:p>
            <a:pPr marL="0"/>
            <a:r>
              <a:rPr kumimoji="0" lang="en-CA" sz="2000" b="1" i="0" u="none" strike="noStrike" kern="1200" cap="none" spc="0" normalizeH="0" baseline="0" noProof="0">
                <a:ln>
                  <a:noFill/>
                </a:ln>
                <a:solidFill>
                  <a:schemeClr val="tx1">
                    <a:lumMod val="65000"/>
                    <a:lumOff val="35000"/>
                  </a:schemeClr>
                </a:solidFill>
                <a:effectLst/>
                <a:uLnTx/>
                <a:uFillTx/>
                <a:latin typeface="+mj-lt"/>
                <a:ea typeface="+mj-ea"/>
                <a:cs typeface="+mj-cs"/>
              </a:rPr>
              <a:t>Appendix 2:</a:t>
            </a:r>
            <a:br>
              <a:rPr kumimoji="0" lang="en-US" sz="2000" b="0" i="0" u="none" strike="noStrike" kern="1200" cap="none" spc="0" normalizeH="0" baseline="0" noProof="0">
                <a:ln>
                  <a:noFill/>
                </a:ln>
                <a:solidFill>
                  <a:srgbClr val="004D71"/>
                </a:solidFill>
                <a:effectLst/>
                <a:uLnTx/>
                <a:uFillTx/>
                <a:latin typeface="+mj-lt"/>
                <a:ea typeface="+mj-ea"/>
                <a:cs typeface="+mj-cs"/>
              </a:rPr>
            </a:br>
            <a:r>
              <a:rPr lang="en-CA" sz="2000"/>
              <a:t>Enterprise Solution Framework (if applicable)</a:t>
            </a:r>
            <a:endParaRPr lang="en-CA" sz="2000">
              <a:latin typeface="+mj-lt"/>
            </a:endParaRPr>
          </a:p>
        </p:txBody>
      </p:sp>
      <p:sp>
        <p:nvSpPr>
          <p:cNvPr id="10" name="Content Placeholder 2">
            <a:extLst>
              <a:ext uri="{FF2B5EF4-FFF2-40B4-BE49-F238E27FC236}">
                <a16:creationId xmlns:a16="http://schemas.microsoft.com/office/drawing/2014/main" id="{55C29658-CE80-4282-909B-AEB4C20233C7}"/>
              </a:ext>
            </a:extLst>
          </p:cNvPr>
          <p:cNvSpPr>
            <a:spLocks noGrp="1"/>
          </p:cNvSpPr>
          <p:nvPr>
            <p:ph idx="10"/>
          </p:nvPr>
        </p:nvSpPr>
        <p:spPr>
          <a:xfrm>
            <a:off x="457200" y="906366"/>
            <a:ext cx="7100708" cy="1190486"/>
          </a:xfrm>
        </p:spPr>
        <p:txBody>
          <a:bodyPr/>
          <a:lstStyle/>
          <a:p>
            <a:r>
              <a:rPr lang="en-US" sz="2000" b="1"/>
              <a:t>Enterprise solutions definition</a:t>
            </a:r>
          </a:p>
          <a:p>
            <a:r>
              <a:rPr lang="en-US" sz="1400"/>
              <a:t>Enterprise solutions are internal and external Government of Canada assets that can be re-used in and across multiple parts of the organization.</a:t>
            </a:r>
          </a:p>
          <a:p>
            <a:r>
              <a:rPr lang="en-US" sz="1400">
                <a:solidFill>
                  <a:prstClr val="black"/>
                </a:solidFill>
                <a:latin typeface="Calibri"/>
              </a:rPr>
              <a:t>Additional info: </a:t>
            </a:r>
            <a:r>
              <a:rPr lang="en-CA" sz="1400">
                <a:solidFill>
                  <a:prstClr val="black"/>
                </a:solidFill>
                <a:latin typeface="Calibri"/>
                <a:hlinkClick r:id="rId3"/>
              </a:rPr>
              <a:t>GC Enterprise Architecture/Enterprise Solutions - wiki (gccollab.ca)</a:t>
            </a:r>
            <a:endParaRPr lang="en-CA" sz="1400">
              <a:solidFill>
                <a:prstClr val="black"/>
              </a:solidFill>
              <a:latin typeface="Calibri"/>
            </a:endParaRPr>
          </a:p>
          <a:p>
            <a:endParaRPr lang="en-US" sz="1400"/>
          </a:p>
          <a:p>
            <a:endParaRPr lang="en-US" sz="1400"/>
          </a:p>
        </p:txBody>
      </p:sp>
      <p:graphicFrame>
        <p:nvGraphicFramePr>
          <p:cNvPr id="11" name="Table 10"/>
          <p:cNvGraphicFramePr>
            <a:graphicFrameLocks noGrp="1"/>
          </p:cNvGraphicFramePr>
          <p:nvPr/>
        </p:nvGraphicFramePr>
        <p:xfrm>
          <a:off x="457200" y="2173299"/>
          <a:ext cx="11191514" cy="4157186"/>
        </p:xfrm>
        <a:graphic>
          <a:graphicData uri="http://schemas.openxmlformats.org/drawingml/2006/table">
            <a:tbl>
              <a:tblPr firstRow="1">
                <a:tableStyleId>{5C22544A-7EE6-4342-B048-85BDC9FD1C3A}</a:tableStyleId>
              </a:tblPr>
              <a:tblGrid>
                <a:gridCol w="3344493">
                  <a:extLst>
                    <a:ext uri="{9D8B030D-6E8A-4147-A177-3AD203B41FA5}">
                      <a16:colId xmlns:a16="http://schemas.microsoft.com/office/drawing/2014/main" val="20000"/>
                    </a:ext>
                  </a:extLst>
                </a:gridCol>
                <a:gridCol w="7847021">
                  <a:extLst>
                    <a:ext uri="{9D8B030D-6E8A-4147-A177-3AD203B41FA5}">
                      <a16:colId xmlns:a16="http://schemas.microsoft.com/office/drawing/2014/main" val="20001"/>
                    </a:ext>
                  </a:extLst>
                </a:gridCol>
              </a:tblGrid>
              <a:tr h="376495">
                <a:tc>
                  <a:txBody>
                    <a:bodyPr/>
                    <a:lstStyle/>
                    <a:p>
                      <a:pPr lvl="0"/>
                      <a:r>
                        <a:rPr lang="en-US" sz="2000" b="1" kern="1200" spc="-3">
                          <a:solidFill>
                            <a:schemeClr val="bg1"/>
                          </a:solidFill>
                          <a:latin typeface="+mn-lt"/>
                          <a:ea typeface="+mn-ea"/>
                          <a:cs typeface="Calibri"/>
                        </a:rPr>
                        <a:t>ES-1. Governance</a:t>
                      </a: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2000" b="1" spc="-3">
                          <a:solidFill>
                            <a:schemeClr val="bg1"/>
                          </a:solidFill>
                          <a:cs typeface="Calibri"/>
                        </a:rPr>
                        <a:t>HOW will the questions for this facet be addressed?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695068">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a:solidFill>
                            <a:prstClr val="black"/>
                          </a:solidFill>
                          <a:latin typeface="+mn-lt"/>
                          <a:ea typeface="+mn-ea"/>
                          <a:cs typeface="Calibri"/>
                        </a:rPr>
                        <a:t>What are the roles and responsibilities and who decides who fills them?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12017">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a:solidFill>
                            <a:prstClr val="black"/>
                          </a:solidFill>
                          <a:latin typeface="+mn-lt"/>
                          <a:ea typeface="+mn-ea"/>
                          <a:cs typeface="Calibri"/>
                        </a:rPr>
                        <a:t>What is the financial and funding model for an enterprise solution?</a:t>
                      </a:r>
                      <a:endParaRPr lang="en-US" sz="14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92088">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a:solidFill>
                            <a:prstClr val="black"/>
                          </a:solidFill>
                          <a:latin typeface="+mn-lt"/>
                          <a:ea typeface="+mn-ea"/>
                          <a:cs typeface="Calibri"/>
                        </a:rPr>
                        <a:t>Which business capabilities should be addressed first?</a:t>
                      </a:r>
                      <a:endParaRPr lang="en-US" sz="14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58691574"/>
                  </a:ext>
                </a:extLst>
              </a:tr>
              <a:tr h="720080">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a:solidFill>
                            <a:prstClr val="black"/>
                          </a:solidFill>
                          <a:latin typeface="+mn-lt"/>
                          <a:ea typeface="+mn-ea"/>
                          <a:cs typeface="Calibri"/>
                        </a:rPr>
                        <a:t>How will user expectations be addressed?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kern="120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41693">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400" b="0" kern="1200" spc="-3">
                          <a:solidFill>
                            <a:prstClr val="black"/>
                          </a:solidFill>
                          <a:latin typeface="+mn-lt"/>
                          <a:ea typeface="+mn-ea"/>
                          <a:cs typeface="Calibri"/>
                        </a:rPr>
                        <a:t>What is the path to enterprise-wide adoption?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37565539"/>
                  </a:ext>
                </a:extLst>
              </a:tr>
            </a:tbl>
          </a:graphicData>
        </a:graphic>
      </p:graphicFrame>
      <p:pic>
        <p:nvPicPr>
          <p:cNvPr id="3" name="Picture 2" descr="A picture of a rubix cube with the word Governance on the top, Solutions on one side and Culture on the other. ">
            <a:extLst>
              <a:ext uri="{FF2B5EF4-FFF2-40B4-BE49-F238E27FC236}">
                <a16:creationId xmlns:a16="http://schemas.microsoft.com/office/drawing/2014/main" id="{972C5FE1-87AC-4255-9DCE-454748DC97BE}"/>
              </a:ext>
            </a:extLst>
          </p:cNvPr>
          <p:cNvPicPr>
            <a:picLocks noChangeAspect="1"/>
          </p:cNvPicPr>
          <p:nvPr/>
        </p:nvPicPr>
        <p:blipFill>
          <a:blip r:embed="rId4"/>
          <a:stretch>
            <a:fillRect/>
          </a:stretch>
        </p:blipFill>
        <p:spPr>
          <a:xfrm>
            <a:off x="7557908" y="338347"/>
            <a:ext cx="1482610" cy="1476163"/>
          </a:xfrm>
          <a:prstGeom prst="rect">
            <a:avLst/>
          </a:prstGeom>
        </p:spPr>
      </p:pic>
      <p:sp>
        <p:nvSpPr>
          <p:cNvPr id="2" name="Slide Number Placeholder 1">
            <a:extLst>
              <a:ext uri="{FF2B5EF4-FFF2-40B4-BE49-F238E27FC236}">
                <a16:creationId xmlns:a16="http://schemas.microsoft.com/office/drawing/2014/main" id="{7CFDA008-3587-A529-0A40-F711EB842078}"/>
              </a:ext>
            </a:extLst>
          </p:cNvPr>
          <p:cNvSpPr>
            <a:spLocks noGrp="1"/>
          </p:cNvSpPr>
          <p:nvPr>
            <p:ph type="sldNum" sz="quarter" idx="12"/>
          </p:nvPr>
        </p:nvSpPr>
        <p:spPr/>
        <p:txBody>
          <a:bodyPr/>
          <a:lstStyle/>
          <a:p>
            <a:fld id="{32D4B517-E49B-41B6-9DBC-23634E0F1CDC}" type="slidenum">
              <a:rPr lang="en-CA" smtClean="0"/>
              <a:pPr/>
              <a:t>34</a:t>
            </a:fld>
            <a:endParaRPr lang="en-CA"/>
          </a:p>
        </p:txBody>
      </p:sp>
      <p:sp>
        <p:nvSpPr>
          <p:cNvPr id="4" name="TextBox 3">
            <a:extLst>
              <a:ext uri="{FF2B5EF4-FFF2-40B4-BE49-F238E27FC236}">
                <a16:creationId xmlns:a16="http://schemas.microsoft.com/office/drawing/2014/main" id="{19EAD2AD-768E-4414-69A9-000E1B125F14}"/>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1703512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3">
            <a:extLst>
              <a:ext uri="{FF2B5EF4-FFF2-40B4-BE49-F238E27FC236}">
                <a16:creationId xmlns:a16="http://schemas.microsoft.com/office/drawing/2014/main" id="{6B7BFC57-5073-4839-9635-A8588617E195}"/>
              </a:ext>
            </a:extLst>
          </p:cNvPr>
          <p:cNvSpPr>
            <a:spLocks noGrp="1"/>
          </p:cNvSpPr>
          <p:nvPr>
            <p:ph type="title"/>
          </p:nvPr>
        </p:nvSpPr>
        <p:spPr>
          <a:xfrm>
            <a:off x="457200" y="30832"/>
            <a:ext cx="5432425" cy="877888"/>
          </a:xfrm>
        </p:spPr>
        <p:txBody>
          <a:bodyPr>
            <a:normAutofit/>
          </a:bodyPr>
          <a:lstStyle/>
          <a:p>
            <a:pPr marL="0"/>
            <a:r>
              <a:rPr kumimoji="0" lang="en-CA" sz="2000" b="1" i="0" u="none" strike="noStrike" kern="1200" cap="none" spc="0" normalizeH="0" baseline="0" noProof="0">
                <a:ln>
                  <a:noFill/>
                </a:ln>
                <a:solidFill>
                  <a:schemeClr val="tx1">
                    <a:lumMod val="65000"/>
                    <a:lumOff val="35000"/>
                  </a:schemeClr>
                </a:solidFill>
                <a:effectLst/>
                <a:uLnTx/>
                <a:uFillTx/>
                <a:latin typeface="+mj-lt"/>
                <a:ea typeface="+mj-ea"/>
                <a:cs typeface="+mj-cs"/>
              </a:rPr>
              <a:t>Appendix 2:</a:t>
            </a:r>
            <a:br>
              <a:rPr kumimoji="0" lang="en-US" sz="2000" b="0" i="0" u="none" strike="noStrike" kern="1200" cap="none" spc="0" normalizeH="0" baseline="0" noProof="0">
                <a:ln>
                  <a:noFill/>
                </a:ln>
                <a:solidFill>
                  <a:srgbClr val="004D71"/>
                </a:solidFill>
                <a:effectLst/>
                <a:uLnTx/>
                <a:uFillTx/>
                <a:latin typeface="+mj-lt"/>
                <a:ea typeface="+mj-ea"/>
                <a:cs typeface="+mj-cs"/>
              </a:rPr>
            </a:br>
            <a:r>
              <a:rPr lang="en-CA" sz="2000"/>
              <a:t>Enterprise Solution Framework </a:t>
            </a:r>
            <a:r>
              <a:rPr lang="en-CA" sz="1400"/>
              <a:t>(continued)</a:t>
            </a:r>
            <a:endParaRPr lang="en-CA" sz="2000">
              <a:latin typeface="+mj-lt"/>
            </a:endParaRPr>
          </a:p>
        </p:txBody>
      </p:sp>
      <p:graphicFrame>
        <p:nvGraphicFramePr>
          <p:cNvPr id="14" name="Table 13"/>
          <p:cNvGraphicFramePr>
            <a:graphicFrameLocks noGrp="1"/>
          </p:cNvGraphicFramePr>
          <p:nvPr/>
        </p:nvGraphicFramePr>
        <p:xfrm>
          <a:off x="457200" y="1016732"/>
          <a:ext cx="11197245" cy="5497760"/>
        </p:xfrm>
        <a:graphic>
          <a:graphicData uri="http://schemas.openxmlformats.org/drawingml/2006/table">
            <a:tbl>
              <a:tblPr firstRow="1">
                <a:tableStyleId>{5C22544A-7EE6-4342-B048-85BDC9FD1C3A}</a:tableStyleId>
              </a:tblPr>
              <a:tblGrid>
                <a:gridCol w="3351807">
                  <a:extLst>
                    <a:ext uri="{9D8B030D-6E8A-4147-A177-3AD203B41FA5}">
                      <a16:colId xmlns:a16="http://schemas.microsoft.com/office/drawing/2014/main" val="20000"/>
                    </a:ext>
                  </a:extLst>
                </a:gridCol>
                <a:gridCol w="7845438">
                  <a:extLst>
                    <a:ext uri="{9D8B030D-6E8A-4147-A177-3AD203B41FA5}">
                      <a16:colId xmlns:a16="http://schemas.microsoft.com/office/drawing/2014/main" val="20001"/>
                    </a:ext>
                  </a:extLst>
                </a:gridCol>
              </a:tblGrid>
              <a:tr h="360040">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kumimoji="0" lang="en-CA" sz="2000" b="1" i="0" u="none" strike="noStrike" kern="1200" cap="none" spc="-3" normalizeH="0" baseline="0" noProof="0">
                          <a:ln>
                            <a:noFill/>
                          </a:ln>
                          <a:solidFill>
                            <a:prstClr val="white"/>
                          </a:solidFill>
                          <a:effectLst/>
                          <a:uLnTx/>
                          <a:uFillTx/>
                          <a:latin typeface="+mn-lt"/>
                          <a:ea typeface="+mn-ea"/>
                          <a:cs typeface="Calibri"/>
                        </a:rPr>
                        <a:t>ES-2. Culture</a:t>
                      </a:r>
                      <a:endParaRPr kumimoji="0" lang="en-CA" sz="2000" b="1" i="0" u="none" strike="noStrike" kern="1200" cap="none" spc="-3" normalizeH="0" baseline="0" noProof="0">
                        <a:ln>
                          <a:noFill/>
                        </a:ln>
                        <a:solidFill>
                          <a:prstClr val="white"/>
                        </a:solidFill>
                        <a:effectLst/>
                        <a:uLnTx/>
                        <a:uFillTx/>
                        <a:latin typeface="Calibri"/>
                        <a:ea typeface="+mn-ea"/>
                        <a:cs typeface="Calibri"/>
                      </a:endParaRPr>
                    </a:p>
                  </a:txBody>
                  <a:tcPr>
                    <a:lnB w="12700" cap="flat" cmpd="sng" algn="ctr">
                      <a:solidFill>
                        <a:schemeClr val="bg1">
                          <a:lumMod val="85000"/>
                        </a:schemeClr>
                      </a:solidFill>
                      <a:prstDash val="solid"/>
                      <a:round/>
                      <a:headEnd type="none" w="med" len="med"/>
                      <a:tailEnd type="none" w="med" len="med"/>
                    </a:lnB>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kumimoji="0" lang="en-CA" sz="2000" b="1" i="0" u="none" strike="noStrike" kern="1200" cap="none" spc="-3" normalizeH="0" baseline="0" noProof="0">
                          <a:ln>
                            <a:noFill/>
                          </a:ln>
                          <a:solidFill>
                            <a:prstClr val="white"/>
                          </a:solidFill>
                          <a:effectLst/>
                          <a:uLnTx/>
                          <a:uFillTx/>
                          <a:latin typeface="Calibri"/>
                          <a:ea typeface="+mn-ea"/>
                          <a:cs typeface="Calibri"/>
                        </a:rPr>
                        <a:t>HOW will the questions for this facet be addressed?</a:t>
                      </a:r>
                    </a:p>
                  </a:txBody>
                  <a:tcP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649532">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a:solidFill>
                            <a:prstClr val="black"/>
                          </a:solidFill>
                          <a:latin typeface="+mn-lt"/>
                          <a:ea typeface="+mn-ea"/>
                          <a:cs typeface="Calibri"/>
                        </a:rPr>
                        <a:t>Is everyone ready to buy-in to enterprise solutions?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8794">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noProof="0">
                          <a:solidFill>
                            <a:prstClr val="black"/>
                          </a:solidFill>
                          <a:latin typeface="+mn-lt"/>
                          <a:ea typeface="+mn-ea"/>
                          <a:cs typeface="Calibri"/>
                        </a:rPr>
                        <a:t>How do we ensure participation?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5529171"/>
                  </a:ext>
                </a:extLst>
              </a:tr>
              <a:tr h="649532">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noProof="0">
                          <a:solidFill>
                            <a:prstClr val="black"/>
                          </a:solidFill>
                          <a:latin typeface="+mn-lt"/>
                          <a:ea typeface="+mn-ea"/>
                          <a:cs typeface="Calibri"/>
                        </a:rPr>
                        <a:t>How will open and transparent input be gathered?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9532">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400" b="0" kern="1200" spc="-3" noProof="0">
                          <a:solidFill>
                            <a:prstClr val="black"/>
                          </a:solidFill>
                          <a:latin typeface="+mn-lt"/>
                          <a:ea typeface="+mn-ea"/>
                          <a:cs typeface="Calibri"/>
                        </a:rPr>
                        <a:t>What are the mind-set and skills needed to foster an enterprise solution culture?</a:t>
                      </a:r>
                      <a:endParaRPr lang="en-CA" sz="14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6290">
                <a:tc>
                  <a:txBody>
                    <a:bodyPr/>
                    <a:lstStyle/>
                    <a:p>
                      <a:pPr lvl="0"/>
                      <a:r>
                        <a:rPr lang="en-US" sz="2000" b="1" kern="1200" spc="-3">
                          <a:solidFill>
                            <a:schemeClr val="bg1"/>
                          </a:solidFill>
                          <a:latin typeface="+mn-lt"/>
                          <a:ea typeface="+mn-ea"/>
                          <a:cs typeface="Calibri"/>
                        </a:rPr>
                        <a:t>ES-3. Solutions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7470" marR="0" lvl="0" indent="0" algn="l" defTabSz="914400" rtl="0" eaLnBrk="1" fontAlgn="auto" latinLnBrk="0" hangingPunct="1">
                        <a:lnSpc>
                          <a:spcPct val="100000"/>
                        </a:lnSpc>
                        <a:spcBef>
                          <a:spcPts val="0"/>
                        </a:spcBef>
                        <a:spcAft>
                          <a:spcPts val="0"/>
                        </a:spcAft>
                        <a:buClrTx/>
                        <a:buSzTx/>
                        <a:buFontTx/>
                        <a:buNone/>
                        <a:tabLst/>
                        <a:defRPr/>
                      </a:pPr>
                      <a:r>
                        <a:rPr lang="en-CA" sz="2000" b="1" spc="-3">
                          <a:solidFill>
                            <a:schemeClr val="bg1"/>
                          </a:solidFill>
                          <a:cs typeface="Calibri"/>
                        </a:rPr>
                        <a:t>HOW will the questions for this facet be addressed?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697277332"/>
                  </a:ext>
                </a:extLst>
              </a:tr>
              <a:tr h="382077">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a:solidFill>
                            <a:prstClr val="black"/>
                          </a:solidFill>
                          <a:latin typeface="+mn-lt"/>
                          <a:ea typeface="+mn-ea"/>
                          <a:cs typeface="Calibri"/>
                        </a:rPr>
                        <a:t>Which business problem are we solving?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093189"/>
                  </a:ext>
                </a:extLst>
              </a:tr>
              <a:tr h="382077">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noProof="0">
                          <a:solidFill>
                            <a:prstClr val="black"/>
                          </a:solidFill>
                          <a:latin typeface="+mn-lt"/>
                          <a:ea typeface="+mn-ea"/>
                          <a:cs typeface="Calibri"/>
                        </a:rPr>
                        <a:t>Who can access the Enterprise Solution?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41893124"/>
                  </a:ext>
                </a:extLst>
              </a:tr>
              <a:tr h="649532">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noProof="0">
                          <a:solidFill>
                            <a:prstClr val="black"/>
                          </a:solidFill>
                          <a:latin typeface="+mn-lt"/>
                          <a:ea typeface="+mn-ea"/>
                          <a:cs typeface="Calibri"/>
                        </a:rPr>
                        <a:t>What data and technology standards are required?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43957917"/>
                  </a:ext>
                </a:extLst>
              </a:tr>
              <a:tr h="382077">
                <a:tc>
                  <a:txBody>
                    <a:bodyPr/>
                    <a:lstStyle/>
                    <a:p>
                      <a:pPr marL="0" marR="2988"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0" kern="1200" spc="-3" noProof="0">
                          <a:solidFill>
                            <a:prstClr val="black"/>
                          </a:solidFill>
                          <a:latin typeface="+mn-lt"/>
                          <a:ea typeface="+mn-ea"/>
                          <a:cs typeface="Calibri"/>
                        </a:rPr>
                        <a:t>Is the implementation secure enough?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46915769"/>
                  </a:ext>
                </a:extLst>
              </a:tr>
              <a:tr h="382077">
                <a:tc>
                  <a:txBody>
                    <a:bodyPr/>
                    <a:lstStyle/>
                    <a:p>
                      <a:pPr marL="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114300" algn="l"/>
                        </a:tabLst>
                        <a:defRPr/>
                      </a:pPr>
                      <a:r>
                        <a:rPr lang="en-US" sz="1400" b="0" kern="1200" spc="-3" noProof="0">
                          <a:solidFill>
                            <a:prstClr val="black"/>
                          </a:solidFill>
                          <a:latin typeface="+mn-lt"/>
                          <a:ea typeface="+mn-ea"/>
                          <a:cs typeface="Calibri"/>
                        </a:rPr>
                        <a:t>Will it always be reliably online?</a:t>
                      </a:r>
                      <a:endParaRPr lang="en-CA" sz="1400" b="0" kern="1200" spc="-3" noProof="0">
                        <a:solidFill>
                          <a:prstClr val="black"/>
                        </a:solidFill>
                        <a:latin typeface="+mn-lt"/>
                        <a:ea typeface="+mn-ea"/>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2988" lvl="1" indent="0">
                        <a:buFont typeface="Wingdings" panose="05000000000000000000" pitchFamily="2" charset="2"/>
                        <a:buNone/>
                      </a:pPr>
                      <a:endParaRPr lang="en-CA" sz="1400">
                        <a:solidFill>
                          <a:prstClr val="black"/>
                        </a:solidFill>
                        <a:cs typeface="Calibri"/>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74492979"/>
                  </a:ext>
                </a:extLst>
              </a:tr>
            </a:tbl>
          </a:graphicData>
        </a:graphic>
      </p:graphicFrame>
      <p:pic>
        <p:nvPicPr>
          <p:cNvPr id="6" name="Picture 2" descr="A picture of a rubic cube with the word Governance on the top, the word Solutions on one side and the word Culture on the other.">
            <a:extLst>
              <a:ext uri="{FF2B5EF4-FFF2-40B4-BE49-F238E27FC236}">
                <a16:creationId xmlns:a16="http://schemas.microsoft.com/office/drawing/2014/main" id="{C04E6409-7C37-4EBF-AD27-C43541C15CB4}"/>
              </a:ext>
            </a:extLst>
          </p:cNvPr>
          <p:cNvPicPr>
            <a:picLocks noChangeAspect="1"/>
          </p:cNvPicPr>
          <p:nvPr/>
        </p:nvPicPr>
        <p:blipFill>
          <a:blip r:embed="rId3"/>
          <a:stretch>
            <a:fillRect/>
          </a:stretch>
        </p:blipFill>
        <p:spPr>
          <a:xfrm>
            <a:off x="9732404" y="224645"/>
            <a:ext cx="756084" cy="752797"/>
          </a:xfrm>
          <a:prstGeom prst="rect">
            <a:avLst/>
          </a:prstGeom>
        </p:spPr>
      </p:pic>
      <p:sp>
        <p:nvSpPr>
          <p:cNvPr id="2" name="Slide Number Placeholder 1">
            <a:extLst>
              <a:ext uri="{FF2B5EF4-FFF2-40B4-BE49-F238E27FC236}">
                <a16:creationId xmlns:a16="http://schemas.microsoft.com/office/drawing/2014/main" id="{BFEC9179-C300-E425-55F6-4583161A2ABC}"/>
              </a:ext>
            </a:extLst>
          </p:cNvPr>
          <p:cNvSpPr>
            <a:spLocks noGrp="1"/>
          </p:cNvSpPr>
          <p:nvPr>
            <p:ph type="sldNum" sz="quarter" idx="12"/>
          </p:nvPr>
        </p:nvSpPr>
        <p:spPr/>
        <p:txBody>
          <a:bodyPr/>
          <a:lstStyle/>
          <a:p>
            <a:fld id="{32D4B517-E49B-41B6-9DBC-23634E0F1CDC}" type="slidenum">
              <a:rPr lang="en-CA" smtClean="0"/>
              <a:pPr/>
              <a:t>35</a:t>
            </a:fld>
            <a:endParaRPr lang="en-CA"/>
          </a:p>
        </p:txBody>
      </p:sp>
      <p:sp>
        <p:nvSpPr>
          <p:cNvPr id="3" name="TextBox 2">
            <a:extLst>
              <a:ext uri="{FF2B5EF4-FFF2-40B4-BE49-F238E27FC236}">
                <a16:creationId xmlns:a16="http://schemas.microsoft.com/office/drawing/2014/main" id="{0CECBFD4-4C68-5926-A0C6-5D3C0866367E}"/>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3562627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3"/>
          <p:cNvSpPr txBox="1">
            <a:spLocks noGrp="1"/>
          </p:cNvSpPr>
          <p:nvPr>
            <p:ph type="title" idx="4294967295"/>
          </p:nvPr>
        </p:nvSpPr>
        <p:spPr>
          <a:xfrm>
            <a:off x="457200" y="96890"/>
            <a:ext cx="5432982" cy="703818"/>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lvl1pPr marL="457200" indent="-457200" algn="l" defTabSz="914400" rtl="0" eaLnBrk="1" latinLnBrk="0" hangingPunct="1">
              <a:spcBef>
                <a:spcPct val="0"/>
              </a:spcBef>
              <a:buFont typeface="Arial" panose="020B0604020202020204" pitchFamily="34" charset="0"/>
              <a:buNone/>
              <a:defRPr lang="en-CA" sz="2800" kern="1200" baseline="0">
                <a:solidFill>
                  <a:schemeClr val="accent1"/>
                </a:solidFill>
                <a:latin typeface="Calibri" panose="020F0502020204030204" pitchFamily="34" charset="0"/>
                <a:ea typeface="+mn-ea"/>
                <a:cs typeface="+mn-cs"/>
              </a:defRPr>
            </a:lvl1pPr>
          </a:lstStyle>
          <a:p>
            <a:pPr>
              <a:defRPr/>
            </a:pPr>
            <a:r>
              <a:rPr lang="en-CA" sz="2000" b="1">
                <a:solidFill>
                  <a:schemeClr val="tx1">
                    <a:lumMod val="65000"/>
                    <a:lumOff val="35000"/>
                  </a:schemeClr>
                </a:solidFill>
              </a:rPr>
              <a:t>Appendix 3: </a:t>
            </a:r>
          </a:p>
          <a:p>
            <a:pPr>
              <a:defRPr/>
            </a:pPr>
            <a:r>
              <a:rPr lang="en-US" sz="2000">
                <a:solidFill>
                  <a:srgbClr val="004D71"/>
                </a:solidFill>
              </a:rPr>
              <a:t>Shared Services Canada (SSC) Involvement</a:t>
            </a:r>
            <a:endParaRPr lang="en-CA" sz="2000">
              <a:solidFill>
                <a:srgbClr val="004D71"/>
              </a:solidFill>
            </a:endParaRPr>
          </a:p>
        </p:txBody>
      </p:sp>
      <p:graphicFrame>
        <p:nvGraphicFramePr>
          <p:cNvPr id="16" name="Table 15" descr="SSC Scope"/>
          <p:cNvGraphicFramePr>
            <a:graphicFrameLocks noGrp="1"/>
          </p:cNvGraphicFramePr>
          <p:nvPr>
            <p:custDataLst>
              <p:tags r:id="rId1"/>
            </p:custDataLst>
            <p:extLst>
              <p:ext uri="{D42A27DB-BD31-4B8C-83A1-F6EECF244321}">
                <p14:modId xmlns:p14="http://schemas.microsoft.com/office/powerpoint/2010/main" val="907754634"/>
              </p:ext>
            </p:extLst>
          </p:nvPr>
        </p:nvGraphicFramePr>
        <p:xfrm>
          <a:off x="477013" y="1016442"/>
          <a:ext cx="11085610" cy="3789965"/>
        </p:xfrm>
        <a:graphic>
          <a:graphicData uri="http://schemas.openxmlformats.org/drawingml/2006/table">
            <a:tbl>
              <a:tblPr firstRow="1" firstCol="1">
                <a:tableStyleId>{5C22544A-7EE6-4342-B048-85BDC9FD1C3A}</a:tableStyleId>
              </a:tblPr>
              <a:tblGrid>
                <a:gridCol w="3658756">
                  <a:extLst>
                    <a:ext uri="{9D8B030D-6E8A-4147-A177-3AD203B41FA5}">
                      <a16:colId xmlns:a16="http://schemas.microsoft.com/office/drawing/2014/main" val="20000"/>
                    </a:ext>
                  </a:extLst>
                </a:gridCol>
                <a:gridCol w="7426854">
                  <a:extLst>
                    <a:ext uri="{9D8B030D-6E8A-4147-A177-3AD203B41FA5}">
                      <a16:colId xmlns:a16="http://schemas.microsoft.com/office/drawing/2014/main" val="20001"/>
                    </a:ext>
                  </a:extLst>
                </a:gridCol>
              </a:tblGrid>
              <a:tr h="5403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a:solidFill>
                            <a:schemeClr val="bg1"/>
                          </a:solidFill>
                        </a:rPr>
                        <a:t>SSC Scope</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i="1" kern="1200">
                        <a:solidFill>
                          <a:schemeClr val="tx2"/>
                        </a:solidFill>
                        <a:latin typeface="+mn-lt"/>
                        <a:ea typeface="+mn-ea"/>
                        <a:cs typeface="+mn-cs"/>
                      </a:endParaRPr>
                    </a:p>
                  </a:txBody>
                  <a:tcPr marL="68580" marR="68580" marT="34290" marB="34290" anchor="ctr">
                    <a:solidFill>
                      <a:schemeClr val="bg1"/>
                    </a:solidFill>
                  </a:tcPr>
                </a:tc>
                <a:extLst>
                  <a:ext uri="{0D108BD9-81ED-4DB2-BD59-A6C34878D82A}">
                    <a16:rowId xmlns:a16="http://schemas.microsoft.com/office/drawing/2014/main" val="604738228"/>
                  </a:ext>
                </a:extLst>
              </a:tr>
              <a:tr h="724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What</a:t>
                      </a:r>
                      <a:r>
                        <a:rPr lang="en-US" sz="1400" baseline="0"/>
                        <a:t> </a:t>
                      </a:r>
                      <a:r>
                        <a:rPr lang="en-US" sz="1400"/>
                        <a:t>is the scope of work required by Shared Services Canada? </a:t>
                      </a:r>
                      <a:endParaRPr lang="en-CA" sz="1400">
                        <a:solidFill>
                          <a:schemeClr val="tx1">
                            <a:lumMod val="65000"/>
                            <a:lumOff val="35000"/>
                          </a:schemeClr>
                        </a:solidFill>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0"/>
                  </a:ext>
                </a:extLst>
              </a:tr>
              <a:tr h="724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When/How has SSC been involved in this project?  </a:t>
                      </a:r>
                      <a:endParaRPr lang="en-US" sz="1400" kern="1200">
                        <a:solidFill>
                          <a:schemeClr val="tx1">
                            <a:lumMod val="65000"/>
                            <a:lumOff val="35000"/>
                          </a:schemeClr>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1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1"/>
                  </a:ext>
                </a:extLst>
              </a:tr>
              <a:tr h="922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What SSC Services are to be impacted or consumed?  </a:t>
                      </a:r>
                      <a:endParaRPr lang="en-US" sz="1400" kern="12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a:solidFill>
                          <a:schemeClr val="tx1">
                            <a:lumMod val="65000"/>
                            <a:lumOff val="35000"/>
                          </a:schemeClr>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hlinkClick r:id="rId5"/>
                        </a:rPr>
                        <a:t>https://service.ssc-spc.gc.ca/en/services</a:t>
                      </a:r>
                      <a:r>
                        <a:rPr lang="en-CA" sz="1400" kern="120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baseline="0"/>
                        <a:t>I</a:t>
                      </a:r>
                      <a:r>
                        <a:rPr lang="en-CA" sz="1400" kern="1200"/>
                        <a:t>nclude</a:t>
                      </a:r>
                      <a:r>
                        <a:rPr lang="en-CA" sz="1400" kern="1200" baseline="0"/>
                        <a:t> due dates for SSC deliverables.</a:t>
                      </a:r>
                      <a:endParaRPr lang="en-CA" sz="1400" kern="1200"/>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0" kern="1200">
                        <a:solidFill>
                          <a:srgbClr val="014D71"/>
                        </a:solidFill>
                        <a:latin typeface="+mj-lt"/>
                        <a:ea typeface="+mn-ea"/>
                        <a:cs typeface="+mn-cs"/>
                      </a:endParaRPr>
                    </a:p>
                  </a:txBody>
                  <a:tcPr marL="68580" marR="68580" marT="34290" marB="34290" anchor="ctr"/>
                </a:tc>
                <a:extLst>
                  <a:ext uri="{0D108BD9-81ED-4DB2-BD59-A6C34878D82A}">
                    <a16:rowId xmlns:a16="http://schemas.microsoft.com/office/drawing/2014/main" val="10002"/>
                  </a:ext>
                </a:extLst>
              </a:tr>
              <a:tr h="8794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What are the dependencies and</a:t>
                      </a:r>
                      <a:r>
                        <a:rPr lang="en-CA" sz="1400" kern="1200" baseline="0"/>
                        <a:t> assumptions?</a:t>
                      </a:r>
                      <a:endParaRPr lang="en-US" sz="1400" i="1" kern="1200">
                        <a:solidFill>
                          <a:srgbClr val="014D71"/>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effectLst/>
                        </a:rPr>
                        <a:t>(ex: authentication, cloud connectivity.</a:t>
                      </a:r>
                      <a:r>
                        <a:rPr lang="en-CA" sz="1400" kern="1200" baseline="0">
                          <a:effectLst/>
                        </a:rPr>
                        <a:t> If</a:t>
                      </a:r>
                      <a:r>
                        <a:rPr lang="en-CA" sz="1400" kern="1200" baseline="0"/>
                        <a:t> legacy Data Centre, which one and has capacity has been confirmed.)</a:t>
                      </a:r>
                      <a:endParaRPr lang="en-CA" sz="1400" kern="1200"/>
                    </a:p>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effectLst/>
                        </a:rPr>
                        <a:t> </a:t>
                      </a:r>
                      <a:endParaRPr lang="en-CA" sz="1400" i="0" kern="1200">
                        <a:solidFill>
                          <a:srgbClr val="014D71"/>
                        </a:solidFill>
                        <a:latin typeface="+mj-lt"/>
                        <a:ea typeface="+mn-ea"/>
                        <a:cs typeface="+mn-cs"/>
                      </a:endParaRPr>
                    </a:p>
                  </a:txBody>
                  <a:tcPr marL="68580" marR="68580" marT="34290" marB="34290" anchor="ctr"/>
                </a:tc>
                <a:extLst>
                  <a:ext uri="{0D108BD9-81ED-4DB2-BD59-A6C34878D82A}">
                    <a16:rowId xmlns:a16="http://schemas.microsoft.com/office/drawing/2014/main" val="10003"/>
                  </a:ext>
                </a:extLst>
              </a:tr>
            </a:tbl>
          </a:graphicData>
        </a:graphic>
      </p:graphicFrame>
      <p:graphicFrame>
        <p:nvGraphicFramePr>
          <p:cNvPr id="23" name="Table 22" descr="SSC Contact"/>
          <p:cNvGraphicFramePr>
            <a:graphicFrameLocks noGrp="1"/>
          </p:cNvGraphicFramePr>
          <p:nvPr>
            <p:custDataLst>
              <p:tags r:id="rId2"/>
            </p:custDataLst>
            <p:extLst>
              <p:ext uri="{D42A27DB-BD31-4B8C-83A1-F6EECF244321}">
                <p14:modId xmlns:p14="http://schemas.microsoft.com/office/powerpoint/2010/main" val="4252589471"/>
              </p:ext>
            </p:extLst>
          </p:nvPr>
        </p:nvGraphicFramePr>
        <p:xfrm>
          <a:off x="477013" y="5046656"/>
          <a:ext cx="11125237" cy="1613404"/>
        </p:xfrm>
        <a:graphic>
          <a:graphicData uri="http://schemas.openxmlformats.org/drawingml/2006/table">
            <a:tbl>
              <a:tblPr firstRow="1" firstCol="1">
                <a:tableStyleId>{5C22544A-7EE6-4342-B048-85BDC9FD1C3A}</a:tableStyleId>
              </a:tblPr>
              <a:tblGrid>
                <a:gridCol w="3672408">
                  <a:extLst>
                    <a:ext uri="{9D8B030D-6E8A-4147-A177-3AD203B41FA5}">
                      <a16:colId xmlns:a16="http://schemas.microsoft.com/office/drawing/2014/main" val="20000"/>
                    </a:ext>
                  </a:extLst>
                </a:gridCol>
                <a:gridCol w="7452829">
                  <a:extLst>
                    <a:ext uri="{9D8B030D-6E8A-4147-A177-3AD203B41FA5}">
                      <a16:colId xmlns:a16="http://schemas.microsoft.com/office/drawing/2014/main" val="20001"/>
                    </a:ext>
                  </a:extLst>
                </a:gridCol>
              </a:tblGrid>
              <a:tr h="3176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prstClr val="white"/>
                          </a:solidFill>
                          <a:effectLst/>
                          <a:uLnTx/>
                          <a:uFillTx/>
                          <a:latin typeface="Calibri"/>
                          <a:ea typeface="+mn-ea"/>
                          <a:cs typeface="+mn-cs"/>
                        </a:rPr>
                        <a:t>SSC Contact</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1" i="0" u="none" strike="noStrike" kern="1200" cap="none" spc="0" normalizeH="0" baseline="0" noProof="0">
                        <a:ln>
                          <a:noFill/>
                        </a:ln>
                        <a:solidFill>
                          <a:prstClr val="white"/>
                        </a:solidFill>
                        <a:effectLst/>
                        <a:uLnTx/>
                        <a:uFillTx/>
                        <a:latin typeface="Calibri"/>
                        <a:ea typeface="+mn-ea"/>
                        <a:cs typeface="+mn-cs"/>
                      </a:endParaRPr>
                    </a:p>
                  </a:txBody>
                  <a:tcPr marL="68580" marR="68580" marT="34290" marB="34290" anchor="ctr">
                    <a:solidFill>
                      <a:schemeClr val="bg1"/>
                    </a:solidFill>
                  </a:tcPr>
                </a:tc>
                <a:extLst>
                  <a:ext uri="{0D108BD9-81ED-4DB2-BD59-A6C34878D82A}">
                    <a16:rowId xmlns:a16="http://schemas.microsoft.com/office/drawing/2014/main" val="2617025471"/>
                  </a:ext>
                </a:extLst>
              </a:tr>
              <a:tr h="3176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SSC</a:t>
                      </a:r>
                      <a:r>
                        <a:rPr lang="en-US" sz="1400" baseline="0"/>
                        <a:t> BR number (if available)</a:t>
                      </a:r>
                      <a:endParaRPr lang="en-US" sz="1400">
                        <a:solidFill>
                          <a:schemeClr val="tx1">
                            <a:lumMod val="65000"/>
                            <a:lumOff val="35000"/>
                          </a:schemeClr>
                        </a:solidFill>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BR Number</a:t>
                      </a: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0"/>
                  </a:ext>
                </a:extLst>
              </a:tr>
              <a:tr h="3176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SSC</a:t>
                      </a:r>
                      <a:r>
                        <a:rPr lang="en-US" sz="1400" kern="1200" baseline="0"/>
                        <a:t> Client Executive contact</a:t>
                      </a:r>
                      <a:endParaRPr lang="en-US" sz="1400" kern="1200">
                        <a:solidFill>
                          <a:schemeClr val="tx1">
                            <a:lumMod val="65000"/>
                            <a:lumOff val="35000"/>
                          </a:schemeClr>
                        </a:solidFill>
                        <a:latin typeface="+mn-lt"/>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15938" algn="l"/>
                        </a:tabLst>
                        <a:defRPr/>
                      </a:pPr>
                      <a:r>
                        <a:rPr lang="en-CA" sz="1400" kern="1200"/>
                        <a:t>Name/Title</a:t>
                      </a: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1"/>
                  </a:ext>
                </a:extLst>
              </a:tr>
              <a:tr h="317626">
                <a:tc>
                  <a:txBody>
                    <a:bodyPr/>
                    <a:lstStyle/>
                    <a:p>
                      <a:r>
                        <a:rPr lang="en-US" sz="1400" kern="1200"/>
                        <a:t>SSC</a:t>
                      </a:r>
                      <a:r>
                        <a:rPr lang="en-US" sz="1400" kern="1200" baseline="0"/>
                        <a:t> project contact</a:t>
                      </a:r>
                      <a:endParaRPr lang="en-US" sz="1400" kern="1200">
                        <a:solidFill>
                          <a:schemeClr val="tx1">
                            <a:lumMod val="65000"/>
                            <a:lumOff val="35000"/>
                          </a:schemeClr>
                        </a:solidFill>
                        <a:latin typeface="+mn-lt"/>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Name/Title</a:t>
                      </a: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2"/>
                  </a:ext>
                </a:extLst>
              </a:tr>
              <a:tr h="3176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SSC</a:t>
                      </a:r>
                      <a:r>
                        <a:rPr lang="en-US" sz="1400" kern="1200" baseline="0"/>
                        <a:t> architecture contact</a:t>
                      </a:r>
                      <a:endParaRPr lang="en-US" sz="1400" kern="1200">
                        <a:solidFill>
                          <a:schemeClr val="tx1">
                            <a:lumMod val="65000"/>
                            <a:lumOff val="35000"/>
                          </a:schemeClr>
                        </a:solidFill>
                        <a:latin typeface="+mn-lt"/>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15938" algn="l"/>
                        </a:tabLst>
                        <a:defRPr/>
                      </a:pPr>
                      <a:r>
                        <a:rPr lang="en-CA" sz="1400" kern="1200"/>
                        <a:t>Name/Title (if available)</a:t>
                      </a: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3"/>
                  </a:ext>
                </a:extLst>
              </a:tr>
            </a:tbl>
          </a:graphicData>
        </a:graphic>
      </p:graphicFrame>
      <p:sp>
        <p:nvSpPr>
          <p:cNvPr id="2" name="Slide Number Placeholder 1">
            <a:extLst>
              <a:ext uri="{FF2B5EF4-FFF2-40B4-BE49-F238E27FC236}">
                <a16:creationId xmlns:a16="http://schemas.microsoft.com/office/drawing/2014/main" id="{356A3687-26E6-A507-5824-A0B7B0D76A76}"/>
              </a:ext>
            </a:extLst>
          </p:cNvPr>
          <p:cNvSpPr>
            <a:spLocks noGrp="1"/>
          </p:cNvSpPr>
          <p:nvPr>
            <p:ph type="sldNum" sz="quarter" idx="12"/>
          </p:nvPr>
        </p:nvSpPr>
        <p:spPr/>
        <p:txBody>
          <a:bodyPr/>
          <a:lstStyle/>
          <a:p>
            <a:fld id="{32D4B517-E49B-41B6-9DBC-23634E0F1CDC}" type="slidenum">
              <a:rPr lang="en-CA" smtClean="0"/>
              <a:pPr/>
              <a:t>36</a:t>
            </a:fld>
            <a:endParaRPr lang="en-CA"/>
          </a:p>
        </p:txBody>
      </p:sp>
      <p:sp>
        <p:nvSpPr>
          <p:cNvPr id="3" name="TextBox 2">
            <a:extLst>
              <a:ext uri="{FF2B5EF4-FFF2-40B4-BE49-F238E27FC236}">
                <a16:creationId xmlns:a16="http://schemas.microsoft.com/office/drawing/2014/main" id="{7A24BB72-BE91-C697-56EE-7882FB6F6448}"/>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341795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5415FE-EA7C-472B-AD57-D059EE4A9A8E}"/>
              </a:ext>
            </a:extLst>
          </p:cNvPr>
          <p:cNvSpPr>
            <a:spLocks noGrp="1"/>
          </p:cNvSpPr>
          <p:nvPr>
            <p:ph type="title"/>
          </p:nvPr>
        </p:nvSpPr>
        <p:spPr>
          <a:xfrm>
            <a:off x="663018" y="8620"/>
            <a:ext cx="5468986" cy="878670"/>
          </a:xfrm>
        </p:spPr>
        <p:txBody>
          <a:bodyPr>
            <a:noAutofit/>
          </a:bodyPr>
          <a:lstStyle/>
          <a:p>
            <a:pPr marL="0"/>
            <a:r>
              <a:rPr lang="en-US" sz="2000" b="1">
                <a:solidFill>
                  <a:schemeClr val="tx1">
                    <a:lumMod val="65000"/>
                    <a:lumOff val="35000"/>
                  </a:schemeClr>
                </a:solidFill>
              </a:rPr>
              <a:t>Appendix 3: </a:t>
            </a:r>
            <a:br>
              <a:rPr lang="en-US" sz="2000" b="1">
                <a:solidFill>
                  <a:schemeClr val="tx1">
                    <a:lumMod val="65000"/>
                    <a:lumOff val="35000"/>
                  </a:schemeClr>
                </a:solidFill>
              </a:rPr>
            </a:br>
            <a:r>
              <a:rPr lang="en-US" sz="2000">
                <a:solidFill>
                  <a:srgbClr val="004D71"/>
                </a:solidFill>
              </a:rPr>
              <a:t>Additional Technical Details required by Shared Services Canada (SSC)</a:t>
            </a:r>
            <a:endParaRPr lang="en-CA" sz="2000"/>
          </a:p>
        </p:txBody>
      </p:sp>
      <p:graphicFrame>
        <p:nvGraphicFramePr>
          <p:cNvPr id="16" name="Table 15"/>
          <p:cNvGraphicFramePr>
            <a:graphicFrameLocks noGrp="1"/>
          </p:cNvGraphicFramePr>
          <p:nvPr>
            <p:extLst>
              <p:ext uri="{D42A27DB-BD31-4B8C-83A1-F6EECF244321}">
                <p14:modId xmlns:p14="http://schemas.microsoft.com/office/powerpoint/2010/main" val="2750487278"/>
              </p:ext>
            </p:extLst>
          </p:nvPr>
        </p:nvGraphicFramePr>
        <p:xfrm>
          <a:off x="623392" y="1057759"/>
          <a:ext cx="5284469" cy="5201267"/>
        </p:xfrm>
        <a:graphic>
          <a:graphicData uri="http://schemas.openxmlformats.org/drawingml/2006/table">
            <a:tbl>
              <a:tblPr firstRow="1" firstCol="1">
                <a:tableStyleId>{5C22544A-7EE6-4342-B048-85BDC9FD1C3A}</a:tableStyleId>
              </a:tblPr>
              <a:tblGrid>
                <a:gridCol w="2038340">
                  <a:extLst>
                    <a:ext uri="{9D8B030D-6E8A-4147-A177-3AD203B41FA5}">
                      <a16:colId xmlns:a16="http://schemas.microsoft.com/office/drawing/2014/main" val="20000"/>
                    </a:ext>
                  </a:extLst>
                </a:gridCol>
                <a:gridCol w="3246129">
                  <a:extLst>
                    <a:ext uri="{9D8B030D-6E8A-4147-A177-3AD203B41FA5}">
                      <a16:colId xmlns:a16="http://schemas.microsoft.com/office/drawing/2014/main" val="20001"/>
                    </a:ext>
                  </a:extLst>
                </a:gridCol>
              </a:tblGrid>
              <a:tr h="632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Solution’s Security Profile (e.g. PBMM, PBHM, etc.)</a:t>
                      </a:r>
                      <a:endParaRPr lang="en-CA" sz="1400" i="1" kern="1200">
                        <a:solidFill>
                          <a:schemeClr val="tx2"/>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bg2">
                            <a:lumMod val="95000"/>
                          </a:schemeClr>
                        </a:solidFill>
                        <a:latin typeface="+mn-lt"/>
                        <a:ea typeface="+mn-ea"/>
                        <a:cs typeface="+mn-cs"/>
                      </a:endParaRPr>
                    </a:p>
                  </a:txBody>
                  <a:tcPr marL="68580" marR="68580" marT="34290" marB="34290" anchor="ctr">
                    <a:solidFill>
                      <a:srgbClr val="E7E9EB"/>
                    </a:solidFill>
                  </a:tcPr>
                </a:tc>
                <a:extLst>
                  <a:ext uri="{0D108BD9-81ED-4DB2-BD59-A6C34878D82A}">
                    <a16:rowId xmlns:a16="http://schemas.microsoft.com/office/drawing/2014/main" val="10000"/>
                  </a:ext>
                </a:extLst>
              </a:tr>
              <a:tr h="9759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Maximum Allowable Downtime (Unplanned) / Year (in hours)</a:t>
                      </a:r>
                      <a:endParaRPr lang="en-US" sz="1400" i="1" kern="1200">
                        <a:solidFill>
                          <a:schemeClr val="tx2"/>
                        </a:solidFill>
                        <a:latin typeface="+mn-lt"/>
                        <a:ea typeface="+mn-ea"/>
                        <a:cs typeface="+mn-cs"/>
                      </a:endParaRPr>
                    </a:p>
                  </a:txBody>
                  <a:tcPr marL="68580" marR="68580" marT="34290" marB="34290"/>
                </a:tc>
                <a:tc>
                  <a:txBody>
                    <a:bodyPr/>
                    <a:lstStyle/>
                    <a:p>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1"/>
                  </a:ext>
                </a:extLst>
              </a:tr>
              <a:tr h="919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Availability Requirements: Med (95%), High (&gt;=99 %)  </a:t>
                      </a:r>
                      <a:endParaRPr lang="en-US" sz="1400" i="1" kern="1200">
                        <a:solidFill>
                          <a:schemeClr val="tx2"/>
                        </a:solidFill>
                        <a:latin typeface="+mn-lt"/>
                        <a:ea typeface="+mn-ea"/>
                        <a:cs typeface="+mn-cs"/>
                      </a:endParaRPr>
                    </a:p>
                  </a:txBody>
                  <a:tcPr marL="68580" marR="68580" marT="34290" marB="34290"/>
                </a:tc>
                <a:tc>
                  <a:txBody>
                    <a:bodyPr/>
                    <a:lstStyle/>
                    <a:p>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2"/>
                  </a:ext>
                </a:extLst>
              </a:tr>
              <a:tr h="10457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Disaster Recovery Requirements: (None, Cold Site, Warm Site, Hot Site)</a:t>
                      </a:r>
                      <a:endParaRPr lang="en-US" sz="1400" i="1" kern="1200">
                        <a:solidFill>
                          <a:schemeClr val="tx2"/>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 </a:t>
                      </a: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3"/>
                  </a:ext>
                </a:extLst>
              </a:tr>
              <a:tr h="9944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Authentication Method (DCAM, ICE/ECM, Sign-in Canada, Other)</a:t>
                      </a:r>
                      <a:endParaRPr lang="en-US" sz="1400" i="1" kern="1200">
                        <a:solidFill>
                          <a:schemeClr val="tx2"/>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826313188"/>
                  </a:ext>
                </a:extLst>
              </a:tr>
              <a:tr h="632684">
                <a:tc>
                  <a:txBody>
                    <a:bodyPr/>
                    <a:lstStyle/>
                    <a:p>
                      <a:pPr marL="0" lvl="1">
                        <a:spcAft>
                          <a:spcPts val="247"/>
                        </a:spcAft>
                      </a:pPr>
                      <a:r>
                        <a:rPr lang="en-CA" sz="1400" kern="1200"/>
                        <a:t>Workload</a:t>
                      </a:r>
                      <a:r>
                        <a:rPr lang="en-CA" sz="1400" kern="1200" baseline="0"/>
                        <a:t> migrating off legacy?</a:t>
                      </a:r>
                      <a:endParaRPr lang="en-CA" sz="1400" i="1" kern="1200">
                        <a:solidFill>
                          <a:schemeClr val="tx2"/>
                        </a:solidFill>
                        <a:latin typeface="+mn-lt"/>
                        <a:ea typeface="+mn-ea"/>
                        <a:cs typeface="+mn-cs"/>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3128077149"/>
                  </a:ext>
                </a:extLst>
              </a:tr>
            </a:tbl>
          </a:graphicData>
        </a:graphic>
      </p:graphicFrame>
      <p:graphicFrame>
        <p:nvGraphicFramePr>
          <p:cNvPr id="14" name="Table 13">
            <a:extLst>
              <a:ext uri="{FF2B5EF4-FFF2-40B4-BE49-F238E27FC236}">
                <a16:creationId xmlns:a16="http://schemas.microsoft.com/office/drawing/2014/main" id="{C7A63AE3-470F-4BDB-BF3A-661B327E19C5}"/>
              </a:ext>
            </a:extLst>
          </p:cNvPr>
          <p:cNvGraphicFramePr>
            <a:graphicFrameLocks noGrp="1"/>
          </p:cNvGraphicFramePr>
          <p:nvPr>
            <p:extLst>
              <p:ext uri="{D42A27DB-BD31-4B8C-83A1-F6EECF244321}">
                <p14:modId xmlns:p14="http://schemas.microsoft.com/office/powerpoint/2010/main" val="838240226"/>
              </p:ext>
            </p:extLst>
          </p:nvPr>
        </p:nvGraphicFramePr>
        <p:xfrm>
          <a:off x="6021781" y="1047747"/>
          <a:ext cx="5655864" cy="5201266"/>
        </p:xfrm>
        <a:graphic>
          <a:graphicData uri="http://schemas.openxmlformats.org/drawingml/2006/table">
            <a:tbl>
              <a:tblPr firstRow="1" firstCol="1">
                <a:tableStyleId>{5C22544A-7EE6-4342-B048-85BDC9FD1C3A}</a:tableStyleId>
              </a:tblPr>
              <a:tblGrid>
                <a:gridCol w="2191375">
                  <a:extLst>
                    <a:ext uri="{9D8B030D-6E8A-4147-A177-3AD203B41FA5}">
                      <a16:colId xmlns:a16="http://schemas.microsoft.com/office/drawing/2014/main" val="2545008001"/>
                    </a:ext>
                  </a:extLst>
                </a:gridCol>
                <a:gridCol w="3464489">
                  <a:extLst>
                    <a:ext uri="{9D8B030D-6E8A-4147-A177-3AD203B41FA5}">
                      <a16:colId xmlns:a16="http://schemas.microsoft.com/office/drawing/2014/main" val="195704134"/>
                    </a:ext>
                  </a:extLst>
                </a:gridCol>
              </a:tblGrid>
              <a:tr h="889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t>Network Name(s) (e.g. Science Network, </a:t>
                      </a:r>
                      <a:r>
                        <a:rPr lang="en-US" sz="1400" kern="1200" err="1"/>
                        <a:t>GCNet</a:t>
                      </a:r>
                      <a:r>
                        <a:rPr lang="en-US" sz="1400" kern="1200"/>
                        <a:t>, GCSI, etc.)</a:t>
                      </a:r>
                      <a:endParaRPr lang="en-CA" sz="1400" i="1" kern="1200">
                        <a:solidFill>
                          <a:schemeClr val="tx2"/>
                        </a:solidFill>
                        <a:latin typeface="+mn-lt"/>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tx2"/>
                        </a:solidFill>
                        <a:latin typeface="+mn-lt"/>
                        <a:ea typeface="+mn-ea"/>
                        <a:cs typeface="+mn-cs"/>
                      </a:endParaRPr>
                    </a:p>
                  </a:txBody>
                  <a:tcPr marL="68580" marR="68580" marT="34290" marB="34290" anchor="ctr">
                    <a:solidFill>
                      <a:srgbClr val="E7E9EB"/>
                    </a:solidFill>
                  </a:tcPr>
                </a:tc>
                <a:extLst>
                  <a:ext uri="{0D108BD9-81ED-4DB2-BD59-A6C34878D82A}">
                    <a16:rowId xmlns:a16="http://schemas.microsoft.com/office/drawing/2014/main" val="10000"/>
                  </a:ext>
                </a:extLst>
              </a:tr>
              <a:tr h="889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Expected</a:t>
                      </a:r>
                      <a:r>
                        <a:rPr lang="en-CA" sz="1400" kern="1200" baseline="0"/>
                        <a:t> </a:t>
                      </a:r>
                      <a:r>
                        <a:rPr lang="en-CA" sz="1400" kern="1200"/>
                        <a:t>Network Traffic: (Video, Audio, Data, Interactive)</a:t>
                      </a:r>
                      <a:endParaRPr lang="en-CA" sz="1400" i="1" kern="1200">
                        <a:solidFill>
                          <a:schemeClr val="tx2"/>
                        </a:solidFill>
                        <a:latin typeface="+mn-lt"/>
                        <a:ea typeface="+mn-ea"/>
                        <a:cs typeface="+mn-cs"/>
                      </a:endParaRPr>
                    </a:p>
                  </a:txBody>
                  <a:tcPr marL="68580" marR="68580" marT="34290" marB="34290" anchor="ctr"/>
                </a:tc>
                <a:tc>
                  <a:txBody>
                    <a:bodyPr/>
                    <a:lstStyle/>
                    <a:p>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2"/>
                  </a:ext>
                </a:extLst>
              </a:tr>
              <a:tr h="889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Sensitivity to Network Latency: (Very High, High, Medium, Low)</a:t>
                      </a:r>
                      <a:endParaRPr lang="en-CA" sz="1400" i="1" kern="1200">
                        <a:solidFill>
                          <a:schemeClr val="tx2"/>
                        </a:solidFill>
                        <a:latin typeface="+mn-lt"/>
                        <a:ea typeface="+mn-ea"/>
                        <a:cs typeface="+mn-cs"/>
                      </a:endParaRPr>
                    </a:p>
                  </a:txBody>
                  <a:tcPr marL="68580" marR="68580" marT="34290" marB="34290" anchor="ctr"/>
                </a:tc>
                <a:tc>
                  <a:txBody>
                    <a:bodyPr/>
                    <a:lstStyle/>
                    <a:p>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3152163348"/>
                  </a:ext>
                </a:extLst>
              </a:tr>
              <a:tr h="6490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Approximate number of users:</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0003"/>
                  </a:ext>
                </a:extLst>
              </a:tr>
              <a:tr h="994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a:t>Network Geographical Distribution: (Low, Moderate, Regional, National, Global spread)</a:t>
                      </a:r>
                      <a:endParaRPr lang="en-CA" sz="1400" i="1" kern="1200">
                        <a:solidFill>
                          <a:schemeClr val="tx2"/>
                        </a:solidFill>
                        <a:latin typeface="+mn-lt"/>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1826313188"/>
                  </a:ext>
                </a:extLst>
              </a:tr>
              <a:tr h="889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kern="1200" baseline="0"/>
                        <a:t>Hosting Solution(s): (Legacy DC, EDC, Cloud – list all applicable)</a:t>
                      </a:r>
                      <a:endParaRPr lang="en-CA" sz="1400" i="1" kern="1200">
                        <a:solidFill>
                          <a:schemeClr val="tx2"/>
                        </a:solidFill>
                        <a:latin typeface="+mn-lt"/>
                        <a:ea typeface="+mn-ea"/>
                        <a:cs typeface="+mn-cs"/>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400" i="1" kern="1200">
                        <a:solidFill>
                          <a:schemeClr val="tx2"/>
                        </a:solidFill>
                        <a:latin typeface="+mn-lt"/>
                        <a:ea typeface="+mn-ea"/>
                        <a:cs typeface="+mn-cs"/>
                      </a:endParaRPr>
                    </a:p>
                  </a:txBody>
                  <a:tcPr marL="68580" marR="68580" marT="34290" marB="34290" anchor="ctr"/>
                </a:tc>
                <a:extLst>
                  <a:ext uri="{0D108BD9-81ED-4DB2-BD59-A6C34878D82A}">
                    <a16:rowId xmlns:a16="http://schemas.microsoft.com/office/drawing/2014/main" val="322088827"/>
                  </a:ext>
                </a:extLst>
              </a:tr>
            </a:tbl>
          </a:graphicData>
        </a:graphic>
      </p:graphicFrame>
      <p:sp>
        <p:nvSpPr>
          <p:cNvPr id="2" name="Slide Number Placeholder 1">
            <a:extLst>
              <a:ext uri="{FF2B5EF4-FFF2-40B4-BE49-F238E27FC236}">
                <a16:creationId xmlns:a16="http://schemas.microsoft.com/office/drawing/2014/main" id="{9E6291A3-FF91-C184-EE83-9A6045EBBDB5}"/>
              </a:ext>
            </a:extLst>
          </p:cNvPr>
          <p:cNvSpPr>
            <a:spLocks noGrp="1"/>
          </p:cNvSpPr>
          <p:nvPr>
            <p:ph type="sldNum" sz="quarter" idx="12"/>
          </p:nvPr>
        </p:nvSpPr>
        <p:spPr/>
        <p:txBody>
          <a:bodyPr/>
          <a:lstStyle/>
          <a:p>
            <a:fld id="{32D4B517-E49B-41B6-9DBC-23634E0F1CDC}" type="slidenum">
              <a:rPr lang="en-CA" smtClean="0"/>
              <a:pPr/>
              <a:t>37</a:t>
            </a:fld>
            <a:endParaRPr lang="en-CA"/>
          </a:p>
        </p:txBody>
      </p:sp>
      <p:sp>
        <p:nvSpPr>
          <p:cNvPr id="4" name="TextBox 3">
            <a:extLst>
              <a:ext uri="{FF2B5EF4-FFF2-40B4-BE49-F238E27FC236}">
                <a16:creationId xmlns:a16="http://schemas.microsoft.com/office/drawing/2014/main" id="{8D82CED6-7BAC-578D-8257-2282C844E5ED}"/>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4633369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0E0AA3F1-91AE-4D8E-B059-92D1D5386375}"/>
              </a:ext>
            </a:extLst>
          </p:cNvPr>
          <p:cNvSpPr txBox="1">
            <a:spLocks noGrp="1"/>
          </p:cNvSpPr>
          <p:nvPr>
            <p:ph type="title" idx="4294967295"/>
          </p:nvPr>
        </p:nvSpPr>
        <p:spPr>
          <a:xfrm>
            <a:off x="653213" y="96890"/>
            <a:ext cx="11203427" cy="703818"/>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normAutofit/>
          </a:bodyPr>
          <a:lstStyle>
            <a:lvl1pPr marL="457200" indent="-457200" algn="l" defTabSz="914400" rtl="0" eaLnBrk="1" latinLnBrk="0" hangingPunct="1">
              <a:spcBef>
                <a:spcPct val="0"/>
              </a:spcBef>
              <a:buFont typeface="Arial" panose="020B0604020202020204" pitchFamily="34" charset="0"/>
              <a:buNone/>
              <a:defRPr lang="en-CA" sz="2800" kern="1200" baseline="0">
                <a:solidFill>
                  <a:schemeClr val="accent1"/>
                </a:solidFill>
                <a:latin typeface="Calibri" panose="020F0502020204030204" pitchFamily="34" charset="0"/>
                <a:ea typeface="+mn-ea"/>
                <a:cs typeface="+mn-cs"/>
              </a:defRPr>
            </a:lvl1pPr>
          </a:lstStyle>
          <a:p>
            <a:pPr>
              <a:lnSpc>
                <a:spcPct val="100000"/>
              </a:lnSpc>
              <a:defRPr/>
            </a:pPr>
            <a:r>
              <a:rPr lang="en-US" sz="2000" b="1">
                <a:solidFill>
                  <a:schemeClr val="tx1">
                    <a:lumMod val="65000"/>
                    <a:lumOff val="35000"/>
                  </a:schemeClr>
                </a:solidFill>
              </a:rPr>
              <a:t>Appendix 3: </a:t>
            </a:r>
          </a:p>
          <a:p>
            <a:pPr>
              <a:lnSpc>
                <a:spcPct val="100000"/>
              </a:lnSpc>
              <a:defRPr/>
            </a:pPr>
            <a:r>
              <a:rPr lang="en-US" sz="2000">
                <a:solidFill>
                  <a:srgbClr val="004D71"/>
                </a:solidFill>
              </a:rPr>
              <a:t>Summary of Cloud Access Scenarios and Usage Profiles</a:t>
            </a:r>
          </a:p>
        </p:txBody>
      </p:sp>
      <p:graphicFrame>
        <p:nvGraphicFramePr>
          <p:cNvPr id="235" name="Table 234">
            <a:extLst>
              <a:ext uri="{FF2B5EF4-FFF2-40B4-BE49-F238E27FC236}">
                <a16:creationId xmlns:a16="http://schemas.microsoft.com/office/drawing/2014/main" id="{CDDB0E26-476D-40CF-889D-82DCA2C90064}"/>
              </a:ext>
            </a:extLst>
          </p:cNvPr>
          <p:cNvGraphicFramePr>
            <a:graphicFrameLocks noGrp="1"/>
          </p:cNvGraphicFramePr>
          <p:nvPr>
            <p:extLst>
              <p:ext uri="{D42A27DB-BD31-4B8C-83A1-F6EECF244321}">
                <p14:modId xmlns:p14="http://schemas.microsoft.com/office/powerpoint/2010/main" val="1677692822"/>
              </p:ext>
            </p:extLst>
          </p:nvPr>
        </p:nvGraphicFramePr>
        <p:xfrm>
          <a:off x="320385" y="916955"/>
          <a:ext cx="6632866" cy="2904755"/>
        </p:xfrm>
        <a:graphic>
          <a:graphicData uri="http://schemas.openxmlformats.org/drawingml/2006/table">
            <a:tbl>
              <a:tblPr firstRow="1" bandRow="1">
                <a:tableStyleId>{5C22544A-7EE6-4342-B048-85BDC9FD1C3A}</a:tableStyleId>
              </a:tblPr>
              <a:tblGrid>
                <a:gridCol w="1832705">
                  <a:extLst>
                    <a:ext uri="{9D8B030D-6E8A-4147-A177-3AD203B41FA5}">
                      <a16:colId xmlns:a16="http://schemas.microsoft.com/office/drawing/2014/main" val="3470463796"/>
                    </a:ext>
                  </a:extLst>
                </a:gridCol>
                <a:gridCol w="883470">
                  <a:extLst>
                    <a:ext uri="{9D8B030D-6E8A-4147-A177-3AD203B41FA5}">
                      <a16:colId xmlns:a16="http://schemas.microsoft.com/office/drawing/2014/main" val="4084798357"/>
                    </a:ext>
                  </a:extLst>
                </a:gridCol>
                <a:gridCol w="684724">
                  <a:extLst>
                    <a:ext uri="{9D8B030D-6E8A-4147-A177-3AD203B41FA5}">
                      <a16:colId xmlns:a16="http://schemas.microsoft.com/office/drawing/2014/main" val="3589705718"/>
                    </a:ext>
                  </a:extLst>
                </a:gridCol>
                <a:gridCol w="684724">
                  <a:extLst>
                    <a:ext uri="{9D8B030D-6E8A-4147-A177-3AD203B41FA5}">
                      <a16:colId xmlns:a16="http://schemas.microsoft.com/office/drawing/2014/main" val="1287889966"/>
                    </a:ext>
                  </a:extLst>
                </a:gridCol>
                <a:gridCol w="668983">
                  <a:extLst>
                    <a:ext uri="{9D8B030D-6E8A-4147-A177-3AD203B41FA5}">
                      <a16:colId xmlns:a16="http://schemas.microsoft.com/office/drawing/2014/main" val="3927174297"/>
                    </a:ext>
                  </a:extLst>
                </a:gridCol>
                <a:gridCol w="684724">
                  <a:extLst>
                    <a:ext uri="{9D8B030D-6E8A-4147-A177-3AD203B41FA5}">
                      <a16:colId xmlns:a16="http://schemas.microsoft.com/office/drawing/2014/main" val="200337258"/>
                    </a:ext>
                  </a:extLst>
                </a:gridCol>
                <a:gridCol w="464353">
                  <a:extLst>
                    <a:ext uri="{9D8B030D-6E8A-4147-A177-3AD203B41FA5}">
                      <a16:colId xmlns:a16="http://schemas.microsoft.com/office/drawing/2014/main" val="3251182029"/>
                    </a:ext>
                  </a:extLst>
                </a:gridCol>
                <a:gridCol w="729183">
                  <a:extLst>
                    <a:ext uri="{9D8B030D-6E8A-4147-A177-3AD203B41FA5}">
                      <a16:colId xmlns:a16="http://schemas.microsoft.com/office/drawing/2014/main" val="1996736418"/>
                    </a:ext>
                  </a:extLst>
                </a:gridCol>
              </a:tblGrid>
              <a:tr h="306234">
                <a:tc rowSpan="4">
                  <a:txBody>
                    <a:bodyPr/>
                    <a:lstStyle/>
                    <a:p>
                      <a:endParaRPr lang="en-CA"/>
                    </a:p>
                  </a:txBody>
                  <a:tcPr/>
                </a:tc>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solidFill>
                          <a:latin typeface="+mn-lt"/>
                        </a:rPr>
                        <a:t>Cloud Access Scenarios </a:t>
                      </a:r>
                      <a:r>
                        <a:rPr lang="en-US" sz="800" i="1">
                          <a:latin typeface="+mn-lt"/>
                        </a:rPr>
                        <a:t>(</a:t>
                      </a:r>
                      <a:r>
                        <a:rPr lang="en-CA" sz="800" i="1">
                          <a:solidFill>
                            <a:schemeClr val="bg1"/>
                          </a:solidFill>
                          <a:latin typeface="+mn-lt"/>
                        </a:rPr>
                        <a:t>Reference: </a:t>
                      </a:r>
                      <a:r>
                        <a:rPr kumimoji="0" lang="en-CA" sz="800" b="0" i="1" u="sng" strike="noStrike" kern="1200" cap="none" spc="0" normalizeH="0" baseline="0" noProof="0">
                          <a:ln>
                            <a:noFill/>
                          </a:ln>
                          <a:solidFill>
                            <a:schemeClr val="bg1"/>
                          </a:solidFill>
                          <a:effectLst/>
                          <a:uLnTx/>
                          <a:uFillTx/>
                          <a:latin typeface="+mn-lt"/>
                          <a:ea typeface="Times New Roman" panose="02020603050405020304" pitchFamily="18" charset="0"/>
                          <a:cs typeface="+mn-cs"/>
                          <a:hlinkClick r:id="rId3" tooltip="GC Cloud Connection Patterns.pdf">
                            <a:extLst>
                              <a:ext uri="{A12FA001-AC4F-418D-AE19-62706E023703}">
                                <ahyp:hlinkClr xmlns:ahyp="http://schemas.microsoft.com/office/drawing/2018/hyperlinkcolor" val="tx"/>
                              </a:ext>
                            </a:extLst>
                          </a:hlinkClick>
                        </a:rPr>
                        <a:t>GC Connection Patterns</a:t>
                      </a:r>
                      <a:r>
                        <a:rPr kumimoji="0" lang="en-CA" sz="800" b="0" i="1" u="sng" strike="noStrike" kern="1200" cap="none" spc="0" normalizeH="0" baseline="0" noProof="0">
                          <a:ln>
                            <a:noFill/>
                          </a:ln>
                          <a:solidFill>
                            <a:schemeClr val="bg1"/>
                          </a:solidFill>
                          <a:effectLst/>
                          <a:uLnTx/>
                          <a:uFillTx/>
                          <a:latin typeface="+mn-lt"/>
                          <a:ea typeface="Times New Roman" panose="02020603050405020304" pitchFamily="18" charset="0"/>
                          <a:cs typeface="+mn-cs"/>
                        </a:rPr>
                        <a:t>) </a:t>
                      </a:r>
                      <a:endParaRPr lang="en-CA" sz="800" b="1">
                        <a:latin typeface="+mn-lt"/>
                      </a:endParaRPr>
                    </a:p>
                  </a:txBody>
                  <a:tcPr anchor="ctr">
                    <a:solidFill>
                      <a:srgbClr val="004D71"/>
                    </a:solidFill>
                  </a:tcPr>
                </a:tc>
                <a:tc hMerge="1">
                  <a:txBody>
                    <a:bodyPr/>
                    <a:lstStyle/>
                    <a:p>
                      <a:endParaRPr lang="en-CA"/>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800" b="1">
                        <a:latin typeface="+mn-lt"/>
                      </a:endParaRPr>
                    </a:p>
                  </a:txBody>
                  <a:tcPr anchor="ctr">
                    <a:solidFill>
                      <a:srgbClr val="004D7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800" b="1">
                        <a:latin typeface="+mn-lt"/>
                      </a:endParaRPr>
                    </a:p>
                  </a:txBody>
                  <a:tcPr anchor="ctr">
                    <a:solidFill>
                      <a:srgbClr val="004D71"/>
                    </a:solidFill>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216617281"/>
                  </a:ext>
                </a:extLst>
              </a:tr>
              <a:tr h="306234">
                <a:tc vMerge="1">
                  <a:txBody>
                    <a:bodyPr/>
                    <a:lstStyle/>
                    <a:p>
                      <a:endParaRPr lang="en-CA"/>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latin typeface="+mn-lt"/>
                        </a:rPr>
                        <a:t>GC Users</a:t>
                      </a:r>
                      <a:endParaRPr lang="en-CA" sz="800" b="1">
                        <a:latin typeface="+mn-lt"/>
                      </a:endParaRPr>
                    </a:p>
                  </a:txBody>
                  <a:tcPr anchor="ctr"/>
                </a:tc>
                <a:tc hMerge="1">
                  <a:txBody>
                    <a:bodyPr/>
                    <a:lstStyle/>
                    <a:p>
                      <a:endParaRPr lang="en-CA"/>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latin typeface="+mn-lt"/>
                        </a:rPr>
                        <a:t>Non-GC Users</a:t>
                      </a:r>
                      <a:endParaRPr lang="en-CA" sz="800" b="1">
                        <a:latin typeface="+mn-lt"/>
                      </a:endParaRPr>
                    </a:p>
                  </a:txBody>
                  <a:tcPr anchor="ct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latin typeface="+mn-lt"/>
                        </a:rPr>
                        <a:t>Application/API</a:t>
                      </a:r>
                      <a:endParaRPr lang="en-CA" sz="800" b="1">
                        <a:latin typeface="+mn-lt"/>
                      </a:endParaRPr>
                    </a:p>
                  </a:txBody>
                  <a:tcPr anchor="ctr"/>
                </a:tc>
                <a:tc hMerge="1">
                  <a:txBody>
                    <a:bodyPr/>
                    <a:lstStyle/>
                    <a:p>
                      <a:endParaRPr lang="en-CA"/>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200"/>
                    </a:p>
                  </a:txBody>
                  <a:tcPr/>
                </a:tc>
                <a:tc hMerge="1">
                  <a:txBody>
                    <a:bodyPr/>
                    <a:lstStyle/>
                    <a:p>
                      <a:endParaRPr lang="en-CA"/>
                    </a:p>
                  </a:txBody>
                  <a:tcPr/>
                </a:tc>
                <a:extLst>
                  <a:ext uri="{0D108BD9-81ED-4DB2-BD59-A6C34878D82A}">
                    <a16:rowId xmlns:a16="http://schemas.microsoft.com/office/drawing/2014/main" val="3353941253"/>
                  </a:ext>
                </a:extLst>
              </a:tr>
              <a:tr h="409863">
                <a:tc vMerge="1">
                  <a:txBody>
                    <a:bodyPr/>
                    <a:lstStyle/>
                    <a:p>
                      <a:endParaRPr lang="en-CA"/>
                    </a:p>
                  </a:txBody>
                  <a:tcPr/>
                </a:tc>
                <a:tc rowSpan="2">
                  <a:txBody>
                    <a:bodyPr/>
                    <a:lstStyle/>
                    <a:p>
                      <a:pPr algn="ctr"/>
                      <a:r>
                        <a:rPr lang="en-US" sz="900" b="1">
                          <a:latin typeface="+mn-lt"/>
                        </a:rPr>
                        <a:t>Access from GC network</a:t>
                      </a:r>
                      <a:endParaRPr lang="en-CA" sz="900" b="1">
                        <a:latin typeface="+mn-lt"/>
                      </a:endParaRPr>
                    </a:p>
                  </a:txBody>
                  <a:tcPr/>
                </a:tc>
                <a:tc rowSpan="2">
                  <a:txBody>
                    <a:bodyPr/>
                    <a:lstStyle/>
                    <a:p>
                      <a:pPr algn="ctr"/>
                      <a:r>
                        <a:rPr lang="en-US" sz="900" b="1">
                          <a:latin typeface="+mn-lt"/>
                        </a:rPr>
                        <a:t>Access from External network</a:t>
                      </a:r>
                      <a:endParaRPr lang="en-CA" sz="900" b="1">
                        <a:latin typeface="+mn-lt"/>
                      </a:endParaRPr>
                    </a:p>
                  </a:txBody>
                  <a:tcPr/>
                </a:tc>
                <a:tc rowSpan="2">
                  <a:txBody>
                    <a:bodyPr/>
                    <a:lstStyle/>
                    <a:p>
                      <a:pPr algn="ctr"/>
                      <a:r>
                        <a:rPr lang="en-US" sz="900" b="1">
                          <a:latin typeface="+mn-lt"/>
                        </a:rPr>
                        <a:t>Access from External network</a:t>
                      </a:r>
                      <a:endParaRPr lang="en-CA" sz="900" b="1">
                        <a:latin typeface="+mn-lt"/>
                      </a:endParaRP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latin typeface="+mn-lt"/>
                        </a:rPr>
                        <a:t>Non-GC Service to cloud-based GC service</a:t>
                      </a:r>
                      <a:endParaRPr lang="en-CA" sz="900" b="1">
                        <a:latin typeface="+mn-lt"/>
                      </a:endParaRP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latin typeface="+mn-lt"/>
                        </a:rPr>
                        <a:t>On-prem GC service to cloud-based GC service</a:t>
                      </a:r>
                      <a:endParaRPr lang="en-CA" sz="900" b="1">
                        <a:latin typeface="+mn-lt"/>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latin typeface="+mn-lt"/>
                        </a:rPr>
                        <a:t>Cloud-based to a Cloud-based services </a:t>
                      </a:r>
                      <a:endParaRPr lang="en-CA" sz="900" b="1">
                        <a:latin typeface="+mn-lt"/>
                      </a:endParaRPr>
                    </a:p>
                  </a:txBody>
                  <a:tcPr/>
                </a:tc>
                <a:tc hMerge="1">
                  <a:txBody>
                    <a:bodyPr/>
                    <a:lstStyle/>
                    <a:p>
                      <a:endParaRPr lang="en-CA"/>
                    </a:p>
                  </a:txBody>
                  <a:tcPr/>
                </a:tc>
                <a:extLst>
                  <a:ext uri="{0D108BD9-81ED-4DB2-BD59-A6C34878D82A}">
                    <a16:rowId xmlns:a16="http://schemas.microsoft.com/office/drawing/2014/main" val="1876411793"/>
                  </a:ext>
                </a:extLst>
              </a:tr>
              <a:tr h="341553">
                <a:tc vMerge="1">
                  <a:txBody>
                    <a:bodyPr/>
                    <a:lstStyle/>
                    <a:p>
                      <a:endParaRPr lang="en-CA"/>
                    </a:p>
                  </a:txBody>
                  <a:tcPr/>
                </a:tc>
                <a:tc vMerge="1">
                  <a:txBody>
                    <a:bodyPr/>
                    <a:lstStyle/>
                    <a:p>
                      <a:endParaRPr lang="en-CA"/>
                    </a:p>
                  </a:txBody>
                  <a:tcPr/>
                </a:tc>
                <a:tc vMerge="1">
                  <a:txBody>
                    <a:bodyPr/>
                    <a:lstStyle/>
                    <a:p>
                      <a:endParaRPr lang="en-CA"/>
                    </a:p>
                  </a:txBody>
                  <a:tcPr/>
                </a:tc>
                <a:tc vMerge="1">
                  <a:txBody>
                    <a:bodyPr/>
                    <a:lstStyle/>
                    <a:p>
                      <a:endParaRPr lang="en-CA"/>
                    </a:p>
                  </a:txBody>
                  <a:tcPr/>
                </a:tc>
                <a:tc vMerge="1">
                  <a:txBody>
                    <a:bodyPr/>
                    <a:lstStyle/>
                    <a:p>
                      <a:endParaRPr lang="en-CA"/>
                    </a:p>
                  </a:txBody>
                  <a:tcPr/>
                </a:tc>
                <a:tc vMerge="1">
                  <a:txBody>
                    <a:bodyPr/>
                    <a:lstStyle/>
                    <a:p>
                      <a:endParaRPr lang="en-CA"/>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latin typeface="+mn-lt"/>
                        </a:rPr>
                        <a:t>Same CSP</a:t>
                      </a:r>
                      <a:endParaRPr lang="en-CA" sz="900" b="1">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latin typeface="+mn-lt"/>
                        </a:rPr>
                        <a:t>Different CSP</a:t>
                      </a:r>
                      <a:endParaRPr lang="en-CA" sz="900" b="1">
                        <a:latin typeface="+mn-lt"/>
                      </a:endParaRPr>
                    </a:p>
                  </a:txBody>
                  <a:tcPr/>
                </a:tc>
                <a:extLst>
                  <a:ext uri="{0D108BD9-81ED-4DB2-BD59-A6C34878D82A}">
                    <a16:rowId xmlns:a16="http://schemas.microsoft.com/office/drawing/2014/main" val="147649359"/>
                  </a:ext>
                </a:extLst>
              </a:tr>
              <a:tr h="251334">
                <a:tc>
                  <a:txBody>
                    <a:bodyPr/>
                    <a:lstStyle/>
                    <a:p>
                      <a:pPr algn="ctr"/>
                      <a:r>
                        <a:rPr lang="en-US" sz="900" b="1">
                          <a:latin typeface="+mn-lt"/>
                        </a:rPr>
                        <a:t>Departmental SaaS</a:t>
                      </a:r>
                      <a:endParaRPr lang="en-CA" sz="900" b="1">
                        <a:latin typeface="+mn-lt"/>
                      </a:endParaRPr>
                    </a:p>
                  </a:txBody>
                  <a:tcPr/>
                </a:tc>
                <a:tc>
                  <a:txBody>
                    <a:bodyPr/>
                    <a:lstStyle/>
                    <a:p>
                      <a:pPr algn="ctr"/>
                      <a:r>
                        <a:rPr lang="en-US" sz="900">
                          <a:latin typeface="+mn-lt"/>
                        </a:rPr>
                        <a:t>A2</a:t>
                      </a:r>
                      <a:endParaRPr lang="en-CA" sz="900">
                        <a:latin typeface="+mn-lt"/>
                      </a:endParaRPr>
                    </a:p>
                  </a:txBody>
                  <a:tcPr/>
                </a:tc>
                <a:tc>
                  <a:txBody>
                    <a:bodyPr/>
                    <a:lstStyle/>
                    <a:p>
                      <a:pPr algn="ctr"/>
                      <a:r>
                        <a:rPr lang="en-US" sz="900">
                          <a:latin typeface="+mn-lt"/>
                        </a:rPr>
                        <a:t>B2</a:t>
                      </a:r>
                      <a:endParaRPr lang="en-CA" sz="900">
                        <a:latin typeface="+mn-lt"/>
                      </a:endParaRPr>
                    </a:p>
                  </a:txBody>
                  <a:tcPr/>
                </a:tc>
                <a:tc>
                  <a:txBody>
                    <a:bodyPr/>
                    <a:lstStyle/>
                    <a:p>
                      <a:pPr algn="ctr"/>
                      <a:r>
                        <a:rPr lang="en-US" sz="900">
                          <a:latin typeface="+mn-lt"/>
                        </a:rPr>
                        <a:t>C2</a:t>
                      </a:r>
                      <a:endParaRPr lang="en-CA" sz="900">
                        <a:latin typeface="+mn-lt"/>
                      </a:endParaRPr>
                    </a:p>
                  </a:txBody>
                  <a:tcPr/>
                </a:tc>
                <a:tc>
                  <a:txBody>
                    <a:bodyPr/>
                    <a:lstStyle/>
                    <a:p>
                      <a:pPr algn="ctr"/>
                      <a:r>
                        <a:rPr lang="en-US" sz="900">
                          <a:latin typeface="+mn-lt"/>
                        </a:rPr>
                        <a:t>D4</a:t>
                      </a:r>
                      <a:endParaRPr lang="en-CA" sz="900">
                        <a:latin typeface="+mn-lt"/>
                      </a:endParaRPr>
                    </a:p>
                  </a:txBody>
                  <a:tcPr/>
                </a:tc>
                <a:tc>
                  <a:txBody>
                    <a:bodyPr/>
                    <a:lstStyle/>
                    <a:p>
                      <a:pPr algn="ctr"/>
                      <a:r>
                        <a:rPr lang="en-US" sz="900">
                          <a:latin typeface="+mn-lt"/>
                        </a:rPr>
                        <a:t>D7</a:t>
                      </a:r>
                      <a:endParaRPr lang="en-CA" sz="900">
                        <a:latin typeface="+mn-lt"/>
                      </a:endParaRPr>
                    </a:p>
                  </a:txBody>
                  <a:tcPr/>
                </a:tc>
                <a:tc rowSpan="3">
                  <a:txBody>
                    <a:bodyPr/>
                    <a:lstStyle/>
                    <a:p>
                      <a:pPr algn="ctr"/>
                      <a:r>
                        <a:rPr lang="en-US" sz="900">
                          <a:latin typeface="+mn-lt"/>
                        </a:rPr>
                        <a:t>D1</a:t>
                      </a:r>
                      <a:endParaRPr lang="en-CA" sz="900">
                        <a:latin typeface="+mn-lt"/>
                      </a:endParaRPr>
                    </a:p>
                  </a:txBody>
                  <a:tcPr anchor="ctr"/>
                </a:tc>
                <a:tc rowSpan="3">
                  <a:txBody>
                    <a:bodyPr/>
                    <a:lstStyle/>
                    <a:p>
                      <a:pPr algn="ctr"/>
                      <a:r>
                        <a:rPr lang="en-US" sz="900">
                          <a:latin typeface="+mn-lt"/>
                        </a:rPr>
                        <a:t>D2 </a:t>
                      </a:r>
                      <a:endParaRPr lang="en-CA" sz="900">
                        <a:latin typeface="+mn-lt"/>
                      </a:endParaRPr>
                    </a:p>
                  </a:txBody>
                  <a:tcPr anchor="ctr"/>
                </a:tc>
                <a:extLst>
                  <a:ext uri="{0D108BD9-81ED-4DB2-BD59-A6C34878D82A}">
                    <a16:rowId xmlns:a16="http://schemas.microsoft.com/office/drawing/2014/main" val="1336708983"/>
                  </a:ext>
                </a:extLst>
              </a:tr>
              <a:tr h="213192">
                <a:tc>
                  <a:txBody>
                    <a:bodyPr/>
                    <a:lstStyle/>
                    <a:p>
                      <a:pPr algn="ctr"/>
                      <a:r>
                        <a:rPr lang="en-US" sz="900" b="1">
                          <a:latin typeface="+mn-lt"/>
                        </a:rPr>
                        <a:t>GC wide SaaS</a:t>
                      </a:r>
                      <a:endParaRPr lang="en-CA" sz="900" b="1">
                        <a:latin typeface="+mn-lt"/>
                      </a:endParaRPr>
                    </a:p>
                  </a:txBody>
                  <a:tcPr/>
                </a:tc>
                <a:tc>
                  <a:txBody>
                    <a:bodyPr/>
                    <a:lstStyle/>
                    <a:p>
                      <a:pPr algn="ctr"/>
                      <a:r>
                        <a:rPr lang="en-US" sz="900">
                          <a:latin typeface="+mn-lt"/>
                        </a:rPr>
                        <a:t>A3</a:t>
                      </a:r>
                      <a:endParaRPr lang="en-CA" sz="900">
                        <a:latin typeface="+mn-lt"/>
                      </a:endParaRPr>
                    </a:p>
                  </a:txBody>
                  <a:tcPr/>
                </a:tc>
                <a:tc>
                  <a:txBody>
                    <a:bodyPr/>
                    <a:lstStyle/>
                    <a:p>
                      <a:pPr algn="ctr"/>
                      <a:r>
                        <a:rPr lang="en-US" sz="900">
                          <a:latin typeface="+mn-lt"/>
                        </a:rPr>
                        <a:t>B3</a:t>
                      </a:r>
                      <a:endParaRPr lang="en-CA" sz="900">
                        <a:latin typeface="+mn-lt"/>
                      </a:endParaRPr>
                    </a:p>
                  </a:txBody>
                  <a:tcPr/>
                </a:tc>
                <a:tc>
                  <a:txBody>
                    <a:bodyPr/>
                    <a:lstStyle/>
                    <a:p>
                      <a:pPr algn="ctr"/>
                      <a:r>
                        <a:rPr lang="en-US" sz="900">
                          <a:latin typeface="+mn-lt"/>
                        </a:rPr>
                        <a:t>C3</a:t>
                      </a:r>
                      <a:endParaRPr lang="en-CA" sz="900">
                        <a:latin typeface="+mn-lt"/>
                      </a:endParaRPr>
                    </a:p>
                  </a:txBody>
                  <a:tcPr/>
                </a:tc>
                <a:tc>
                  <a:txBody>
                    <a:bodyPr/>
                    <a:lstStyle/>
                    <a:p>
                      <a:pPr algn="ctr"/>
                      <a:r>
                        <a:rPr lang="en-US" sz="900">
                          <a:latin typeface="+mn-lt"/>
                        </a:rPr>
                        <a:t>D5</a:t>
                      </a:r>
                      <a:endParaRPr lang="en-CA" sz="900">
                        <a:latin typeface="+mn-lt"/>
                      </a:endParaRPr>
                    </a:p>
                  </a:txBody>
                  <a:tcPr/>
                </a:tc>
                <a:tc>
                  <a:txBody>
                    <a:bodyPr/>
                    <a:lstStyle/>
                    <a:p>
                      <a:pPr algn="ctr"/>
                      <a:r>
                        <a:rPr lang="en-US" sz="900">
                          <a:latin typeface="+mn-lt"/>
                        </a:rPr>
                        <a:t>D8</a:t>
                      </a:r>
                      <a:endParaRPr lang="en-CA" sz="900">
                        <a:latin typeface="+mn-lt"/>
                      </a:endParaRPr>
                    </a:p>
                  </a:txBody>
                  <a:tcPr/>
                </a:tc>
                <a:tc vMerge="1">
                  <a:txBody>
                    <a:bodyPr/>
                    <a:lstStyle/>
                    <a:p>
                      <a:endParaRPr lang="en-CA"/>
                    </a:p>
                  </a:txBody>
                  <a:tcPr/>
                </a:tc>
                <a:tc vMerge="1">
                  <a:txBody>
                    <a:bodyPr/>
                    <a:lstStyle/>
                    <a:p>
                      <a:pPr algn="ctr"/>
                      <a:endParaRPr lang="en-CA"/>
                    </a:p>
                  </a:txBody>
                  <a:tcPr anchor="ctr"/>
                </a:tc>
                <a:extLst>
                  <a:ext uri="{0D108BD9-81ED-4DB2-BD59-A6C34878D82A}">
                    <a16:rowId xmlns:a16="http://schemas.microsoft.com/office/drawing/2014/main" val="561612379"/>
                  </a:ext>
                </a:extLst>
              </a:tr>
              <a:tr h="365760">
                <a:tc>
                  <a:txBody>
                    <a:bodyPr/>
                    <a:lstStyle/>
                    <a:p>
                      <a:pPr algn="ctr"/>
                      <a:r>
                        <a:rPr lang="en-US" sz="900" b="1">
                          <a:latin typeface="+mn-lt"/>
                        </a:rPr>
                        <a:t>IaaS/PaaS  (No interconnection with LDC/EDC)</a:t>
                      </a:r>
                      <a:endParaRPr lang="en-CA" sz="900" b="1">
                        <a:latin typeface="+mn-lt"/>
                      </a:endParaRPr>
                    </a:p>
                  </a:txBody>
                  <a:tcPr/>
                </a:tc>
                <a:tc>
                  <a:txBody>
                    <a:bodyPr/>
                    <a:lstStyle/>
                    <a:p>
                      <a:pPr algn="ctr"/>
                      <a:r>
                        <a:rPr lang="en-US" sz="900">
                          <a:latin typeface="+mn-lt"/>
                        </a:rPr>
                        <a:t>A1 </a:t>
                      </a:r>
                      <a:endParaRPr lang="en-CA" sz="900">
                        <a:latin typeface="+mn-lt"/>
                      </a:endParaRPr>
                    </a:p>
                  </a:txBody>
                  <a:tcPr/>
                </a:tc>
                <a:tc>
                  <a:txBody>
                    <a:bodyPr/>
                    <a:lstStyle/>
                    <a:p>
                      <a:pPr algn="ctr"/>
                      <a:r>
                        <a:rPr lang="en-US" sz="900">
                          <a:latin typeface="+mn-lt"/>
                        </a:rPr>
                        <a:t>B1</a:t>
                      </a:r>
                      <a:endParaRPr lang="en-CA" sz="900">
                        <a:latin typeface="+mn-lt"/>
                      </a:endParaRPr>
                    </a:p>
                  </a:txBody>
                  <a:tcPr/>
                </a:tc>
                <a:tc>
                  <a:txBody>
                    <a:bodyPr/>
                    <a:lstStyle/>
                    <a:p>
                      <a:pPr algn="ctr"/>
                      <a:r>
                        <a:rPr lang="en-US" sz="900">
                          <a:latin typeface="+mn-lt"/>
                        </a:rPr>
                        <a:t>C1</a:t>
                      </a:r>
                      <a:endParaRPr lang="en-CA" sz="900">
                        <a:latin typeface="+mn-lt"/>
                      </a:endParaRPr>
                    </a:p>
                  </a:txBody>
                  <a:tcPr/>
                </a:tc>
                <a:tc>
                  <a:txBody>
                    <a:bodyPr/>
                    <a:lstStyle/>
                    <a:p>
                      <a:pPr algn="ctr"/>
                      <a:r>
                        <a:rPr lang="en-US" sz="900">
                          <a:latin typeface="+mn-lt"/>
                        </a:rPr>
                        <a:t>D3</a:t>
                      </a:r>
                      <a:endParaRPr lang="en-CA" sz="900">
                        <a:latin typeface="+mn-lt"/>
                      </a:endParaRPr>
                    </a:p>
                  </a:txBody>
                  <a:tcPr/>
                </a:tc>
                <a:tc>
                  <a:txBody>
                    <a:bodyPr/>
                    <a:lstStyle/>
                    <a:p>
                      <a:pPr algn="ctr"/>
                      <a:r>
                        <a:rPr lang="en-US" sz="900">
                          <a:latin typeface="+mn-lt"/>
                        </a:rPr>
                        <a:t>-</a:t>
                      </a:r>
                      <a:endParaRPr lang="en-CA" sz="900">
                        <a:latin typeface="+mn-lt"/>
                      </a:endParaRPr>
                    </a:p>
                  </a:txBody>
                  <a:tcPr/>
                </a:tc>
                <a:tc vMerge="1">
                  <a:txBody>
                    <a:bodyPr/>
                    <a:lstStyle/>
                    <a:p>
                      <a:endParaRPr lang="en-CA"/>
                    </a:p>
                  </a:txBody>
                  <a:tcPr/>
                </a:tc>
                <a:tc vMerge="1">
                  <a:txBody>
                    <a:bodyPr/>
                    <a:lstStyle/>
                    <a:p>
                      <a:pPr algn="ctr"/>
                      <a:endParaRPr lang="en-CA"/>
                    </a:p>
                  </a:txBody>
                  <a:tcPr anchor="ctr"/>
                </a:tc>
                <a:extLst>
                  <a:ext uri="{0D108BD9-81ED-4DB2-BD59-A6C34878D82A}">
                    <a16:rowId xmlns:a16="http://schemas.microsoft.com/office/drawing/2014/main" val="3082889012"/>
                  </a:ext>
                </a:extLst>
              </a:tr>
              <a:tr h="6403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latin typeface="+mn-lt"/>
                        </a:rPr>
                        <a:t>IaaS/PaaS  (Interconnection with LDC/EDC)</a:t>
                      </a:r>
                      <a:endParaRPr lang="en-CA" sz="900" b="1">
                        <a:latin typeface="+mn-lt"/>
                      </a:endParaRPr>
                    </a:p>
                  </a:txBody>
                  <a:tcPr/>
                </a:tc>
                <a:tc>
                  <a:txBody>
                    <a:bodyPr/>
                    <a:lstStyle/>
                    <a:p>
                      <a:pPr algn="ctr"/>
                      <a:r>
                        <a:rPr lang="en-US" sz="900">
                          <a:latin typeface="+mn-lt"/>
                        </a:rPr>
                        <a:t>A4 </a:t>
                      </a:r>
                      <a:r>
                        <a:rPr lang="en-US" sz="800">
                          <a:latin typeface="+mn-lt"/>
                        </a:rPr>
                        <a:t>(no external access) </a:t>
                      </a:r>
                    </a:p>
                    <a:p>
                      <a:pPr algn="ctr"/>
                      <a:r>
                        <a:rPr lang="en-US" sz="900">
                          <a:latin typeface="+mn-lt"/>
                        </a:rPr>
                        <a:t>A5 </a:t>
                      </a:r>
                      <a:r>
                        <a:rPr lang="en-US" sz="800">
                          <a:latin typeface="+mn-lt"/>
                        </a:rPr>
                        <a:t>(with external access)</a:t>
                      </a:r>
                      <a:endParaRPr lang="en-CA" sz="800">
                        <a:latin typeface="+mn-lt"/>
                      </a:endParaRPr>
                    </a:p>
                  </a:txBody>
                  <a:tcPr/>
                </a:tc>
                <a:tc>
                  <a:txBody>
                    <a:bodyPr/>
                    <a:lstStyle/>
                    <a:p>
                      <a:pPr algn="ctr"/>
                      <a:r>
                        <a:rPr lang="en-US" sz="900">
                          <a:latin typeface="+mn-lt"/>
                        </a:rPr>
                        <a:t>B4</a:t>
                      </a:r>
                      <a:endParaRPr lang="en-CA" sz="90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latin typeface="+mn-lt"/>
                        </a:rPr>
                        <a:t>C4</a:t>
                      </a:r>
                      <a:endParaRPr lang="en-CA" sz="900">
                        <a:latin typeface="+mn-lt"/>
                      </a:endParaRPr>
                    </a:p>
                  </a:txBody>
                  <a:tcPr/>
                </a:tc>
                <a:tc>
                  <a:txBody>
                    <a:bodyPr/>
                    <a:lstStyle/>
                    <a:p>
                      <a:pPr algn="ctr"/>
                      <a:r>
                        <a:rPr lang="en-US" sz="900">
                          <a:latin typeface="+mn-lt"/>
                        </a:rPr>
                        <a:t>D6</a:t>
                      </a:r>
                      <a:endParaRPr lang="en-CA" sz="900">
                        <a:latin typeface="+mn-lt"/>
                      </a:endParaRPr>
                    </a:p>
                  </a:txBody>
                  <a:tcPr/>
                </a:tc>
                <a:tc>
                  <a:txBody>
                    <a:bodyPr/>
                    <a:lstStyle/>
                    <a:p>
                      <a:pPr algn="ctr"/>
                      <a:r>
                        <a:rPr lang="en-US" sz="900">
                          <a:latin typeface="+mn-lt"/>
                        </a:rPr>
                        <a:t>D9</a:t>
                      </a:r>
                      <a:endParaRPr lang="en-CA" sz="900">
                        <a:latin typeface="+mn-lt"/>
                      </a:endParaRPr>
                    </a:p>
                  </a:txBody>
                  <a:tcPr/>
                </a:tc>
                <a:tc gridSpan="2">
                  <a:txBody>
                    <a:bodyPr/>
                    <a:lstStyle/>
                    <a:p>
                      <a:pPr algn="ctr"/>
                      <a:r>
                        <a:rPr lang="en-US" sz="900">
                          <a:latin typeface="+mn-lt"/>
                        </a:rPr>
                        <a:t> - </a:t>
                      </a:r>
                      <a:endParaRPr lang="en-CA" sz="900">
                        <a:latin typeface="+mn-lt"/>
                      </a:endParaRPr>
                    </a:p>
                  </a:txBody>
                  <a:tcPr/>
                </a:tc>
                <a:tc hMerge="1">
                  <a:txBody>
                    <a:bodyPr/>
                    <a:lstStyle/>
                    <a:p>
                      <a:endParaRPr lang="en-CA"/>
                    </a:p>
                  </a:txBody>
                  <a:tcPr/>
                </a:tc>
                <a:extLst>
                  <a:ext uri="{0D108BD9-81ED-4DB2-BD59-A6C34878D82A}">
                    <a16:rowId xmlns:a16="http://schemas.microsoft.com/office/drawing/2014/main" val="2001499855"/>
                  </a:ext>
                </a:extLst>
              </a:tr>
            </a:tbl>
          </a:graphicData>
        </a:graphic>
      </p:graphicFrame>
      <p:sp>
        <p:nvSpPr>
          <p:cNvPr id="236" name="TextBox 235">
            <a:extLst>
              <a:ext uri="{FF2B5EF4-FFF2-40B4-BE49-F238E27FC236}">
                <a16:creationId xmlns:a16="http://schemas.microsoft.com/office/drawing/2014/main" id="{6F653314-7212-434C-84A9-1B13127E5602}"/>
              </a:ext>
            </a:extLst>
          </p:cNvPr>
          <p:cNvSpPr txBox="1"/>
          <p:nvPr/>
        </p:nvSpPr>
        <p:spPr>
          <a:xfrm>
            <a:off x="6953251" y="898912"/>
            <a:ext cx="1752036" cy="3016210"/>
          </a:xfrm>
          <a:prstGeom prst="rect">
            <a:avLst/>
          </a:prstGeom>
          <a:noFill/>
        </p:spPr>
        <p:txBody>
          <a:bodyPr wrap="square" rtlCol="0">
            <a:spAutoFit/>
          </a:bodyPr>
          <a:lstStyle/>
          <a:p>
            <a:r>
              <a:rPr lang="en-US" sz="1000" i="1"/>
              <a:t>Note: </a:t>
            </a:r>
            <a:r>
              <a:rPr lang="en-CA" sz="1000" i="1">
                <a:effectLst/>
                <a:ea typeface="Times New Roman" panose="02020603050405020304" pitchFamily="18" charset="0"/>
              </a:rPr>
              <a:t>The patterns describe the different types of flows that may occur within a cloud-based environment. </a:t>
            </a:r>
            <a:r>
              <a:rPr lang="en-US" sz="1000" i="1"/>
              <a:t>More than one connection pattern may be applicable to the solution architecture presented. The associated characteristics of each of these connection patterns as listed in the </a:t>
            </a:r>
            <a:r>
              <a:rPr lang="en-CA" sz="1000" i="1">
                <a:effectLst/>
                <a:hlinkClick r:id="rId4" tooltip="GC Secure Cloud Connectivity Requirements.pdf"/>
              </a:rPr>
              <a:t>GC Secure Cloud Connectivity Requirements</a:t>
            </a:r>
            <a:r>
              <a:rPr lang="en-CA" sz="1000" i="1">
                <a:effectLst/>
              </a:rPr>
              <a:t> document</a:t>
            </a:r>
            <a:r>
              <a:rPr lang="en-US" sz="1000" i="1"/>
              <a:t> and </a:t>
            </a:r>
            <a:r>
              <a:rPr lang="en-US" sz="1000" b="1" i="1" u="sng"/>
              <a:t>the cloud usage profiles </a:t>
            </a:r>
            <a:r>
              <a:rPr lang="en-CA" sz="1000" i="1">
                <a:effectLst/>
                <a:ea typeface="Times New Roman" panose="02020603050405020304" pitchFamily="18" charset="0"/>
              </a:rPr>
              <a:t>(slide 14 </a:t>
            </a:r>
            <a:r>
              <a:rPr lang="en-CA" sz="1000" i="1" u="sng">
                <a:solidFill>
                  <a:srgbClr val="0563C1"/>
                </a:solidFill>
                <a:effectLst/>
                <a:ea typeface="Times New Roman" panose="02020603050405020304" pitchFamily="18" charset="0"/>
                <a:hlinkClick r:id="rId3" tooltip="GC Cloud Connection Patterns.pdf"/>
              </a:rPr>
              <a:t>GC Connection Patterns</a:t>
            </a:r>
            <a:r>
              <a:rPr lang="en-CA" sz="1000" i="1">
                <a:effectLst/>
                <a:ea typeface="Times New Roman" panose="02020603050405020304" pitchFamily="18" charset="0"/>
              </a:rPr>
              <a:t>)</a:t>
            </a:r>
            <a:r>
              <a:rPr lang="en-US" sz="1000" i="1"/>
              <a:t> should be taken into consideration while identifying the applicable cloud access scenarios. </a:t>
            </a:r>
            <a:endParaRPr lang="en-CA" sz="1000" i="1"/>
          </a:p>
        </p:txBody>
      </p:sp>
      <p:graphicFrame>
        <p:nvGraphicFramePr>
          <p:cNvPr id="9" name="Table 237">
            <a:extLst>
              <a:ext uri="{FF2B5EF4-FFF2-40B4-BE49-F238E27FC236}">
                <a16:creationId xmlns:a16="http://schemas.microsoft.com/office/drawing/2014/main" id="{54185A5F-84CF-4B58-AAC9-6DB4BB0682EE}"/>
              </a:ext>
            </a:extLst>
          </p:cNvPr>
          <p:cNvGraphicFramePr>
            <a:graphicFrameLocks noGrp="1"/>
          </p:cNvGraphicFramePr>
          <p:nvPr/>
        </p:nvGraphicFramePr>
        <p:xfrm>
          <a:off x="320384" y="4025035"/>
          <a:ext cx="11551232" cy="1645920"/>
        </p:xfrm>
        <a:graphic>
          <a:graphicData uri="http://schemas.openxmlformats.org/drawingml/2006/table">
            <a:tbl>
              <a:tblPr firstRow="1" bandRow="1">
                <a:tableStyleId>{5C22544A-7EE6-4342-B048-85BDC9FD1C3A}</a:tableStyleId>
              </a:tblPr>
              <a:tblGrid>
                <a:gridCol w="1059092">
                  <a:extLst>
                    <a:ext uri="{9D8B030D-6E8A-4147-A177-3AD203B41FA5}">
                      <a16:colId xmlns:a16="http://schemas.microsoft.com/office/drawing/2014/main" val="3105031678"/>
                    </a:ext>
                  </a:extLst>
                </a:gridCol>
                <a:gridCol w="1116124">
                  <a:extLst>
                    <a:ext uri="{9D8B030D-6E8A-4147-A177-3AD203B41FA5}">
                      <a16:colId xmlns:a16="http://schemas.microsoft.com/office/drawing/2014/main" val="2095314606"/>
                    </a:ext>
                  </a:extLst>
                </a:gridCol>
                <a:gridCol w="1152128">
                  <a:extLst>
                    <a:ext uri="{9D8B030D-6E8A-4147-A177-3AD203B41FA5}">
                      <a16:colId xmlns:a16="http://schemas.microsoft.com/office/drawing/2014/main" val="2598204705"/>
                    </a:ext>
                  </a:extLst>
                </a:gridCol>
                <a:gridCol w="571121">
                  <a:extLst>
                    <a:ext uri="{9D8B030D-6E8A-4147-A177-3AD203B41FA5}">
                      <a16:colId xmlns:a16="http://schemas.microsoft.com/office/drawing/2014/main" val="1525145235"/>
                    </a:ext>
                  </a:extLst>
                </a:gridCol>
                <a:gridCol w="7652767">
                  <a:extLst>
                    <a:ext uri="{9D8B030D-6E8A-4147-A177-3AD203B41FA5}">
                      <a16:colId xmlns:a16="http://schemas.microsoft.com/office/drawing/2014/main" val="189544973"/>
                    </a:ext>
                  </a:extLst>
                </a:gridCol>
              </a:tblGrid>
              <a:tr h="232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a:t>Solution Component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a:t>User/system connections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a:t>Cloud tenant/ environment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a:t>Use Case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Brief Description</a:t>
                      </a:r>
                      <a:endParaRPr lang="en-CA" sz="1200" b="1"/>
                    </a:p>
                  </a:txBody>
                  <a:tcPr anchor="ctr"/>
                </a:tc>
                <a:extLst>
                  <a:ext uri="{0D108BD9-81ED-4DB2-BD59-A6C34878D82A}">
                    <a16:rowId xmlns:a16="http://schemas.microsoft.com/office/drawing/2014/main" val="1430905371"/>
                  </a:ext>
                </a:extLst>
              </a:tr>
              <a:tr h="232965">
                <a:tc>
                  <a:txBody>
                    <a:bodyPr/>
                    <a:lstStyle/>
                    <a:p>
                      <a:r>
                        <a:rPr lang="en-CA" sz="1000" i="1"/>
                        <a:t>Target Solution Portal PaaS</a:t>
                      </a:r>
                    </a:p>
                  </a:txBody>
                  <a:tcPr/>
                </a:tc>
                <a:tc>
                  <a:txBody>
                    <a:bodyPr/>
                    <a:lstStyle/>
                    <a:p>
                      <a:r>
                        <a:rPr lang="en-CA" sz="1000" i="1"/>
                        <a:t>GC Program Users</a:t>
                      </a:r>
                    </a:p>
                  </a:txBody>
                  <a:tcPr/>
                </a:tc>
                <a:tc>
                  <a:txBody>
                    <a:bodyPr/>
                    <a:lstStyle/>
                    <a:p>
                      <a:r>
                        <a:rPr lang="en-CA" sz="1000" i="1"/>
                        <a:t>Dept. Azure Tenant</a:t>
                      </a:r>
                    </a:p>
                  </a:txBody>
                  <a:tcPr/>
                </a:tc>
                <a:tc>
                  <a:txBody>
                    <a:bodyPr/>
                    <a:lstStyle/>
                    <a:p>
                      <a:pPr algn="ctr"/>
                      <a:r>
                        <a:rPr lang="en-CA" sz="1000" i="1"/>
                        <a:t>A4</a:t>
                      </a:r>
                    </a:p>
                  </a:txBody>
                  <a:tcPr anchor="ctr"/>
                </a:tc>
                <a:tc>
                  <a:txBody>
                    <a:bodyPr/>
                    <a:lstStyle/>
                    <a:p>
                      <a:r>
                        <a:rPr lang="en-US" sz="1000" i="1"/>
                        <a:t>GC user access to cloud-based GC service hosted in GC-approved Hyper-Scale IaaS/PaaS (with Interconnection and no external access).</a:t>
                      </a:r>
                      <a:endParaRPr lang="en-CA" sz="1000" i="1"/>
                    </a:p>
                  </a:txBody>
                  <a:tcPr/>
                </a:tc>
                <a:extLst>
                  <a:ext uri="{0D108BD9-81ED-4DB2-BD59-A6C34878D82A}">
                    <a16:rowId xmlns:a16="http://schemas.microsoft.com/office/drawing/2014/main" val="1226768862"/>
                  </a:ext>
                </a:extLst>
              </a:tr>
              <a:tr h="381704">
                <a:tc>
                  <a:txBody>
                    <a:bodyPr/>
                    <a:lstStyle/>
                    <a:p>
                      <a:r>
                        <a:rPr lang="en-CA" sz="1000" i="1"/>
                        <a:t>Target Solution Portal PaaS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i="1"/>
                        <a:t>Non-Dept./Non-GC Program Users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i="1"/>
                        <a:t>Dept. Azure Tenant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a:t>C4</a:t>
                      </a:r>
                      <a:endParaRPr lang="en-CA" sz="1000" i="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a:t>Non-GC user access to cloud-based GC service hosted in GC-approved Hyper-Scale IaaS/PaaS (with Interconnection) Application.</a:t>
                      </a:r>
                    </a:p>
                  </a:txBody>
                  <a:tcPr/>
                </a:tc>
                <a:extLst>
                  <a:ext uri="{0D108BD9-81ED-4DB2-BD59-A6C34878D82A}">
                    <a16:rowId xmlns:a16="http://schemas.microsoft.com/office/drawing/2014/main" val="70727943"/>
                  </a:ext>
                </a:extLst>
              </a:tr>
              <a:tr h="3817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i="1"/>
                        <a:t>API Gateway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i="1"/>
                        <a:t>On-prem GC Service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i="1"/>
                        <a:t>Dept. Azure Tenant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a:t>D9</a:t>
                      </a:r>
                      <a:endParaRPr lang="en-CA" sz="1000" i="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a:t>On-prem GC service to cloud-based GC service hosted in GC-approved Hyper Scale IaaS/PaaS (with interconnection and no external access). GC cloud-based systems required to interact with systems in GC data </a:t>
                      </a:r>
                      <a:r>
                        <a:rPr lang="en-US" sz="1000" i="1" err="1"/>
                        <a:t>centres</a:t>
                      </a:r>
                      <a:r>
                        <a:rPr lang="en-US" sz="1000" i="1"/>
                        <a:t>.</a:t>
                      </a:r>
                      <a:endParaRPr lang="en-CA" sz="1000" i="1"/>
                    </a:p>
                  </a:txBody>
                  <a:tcPr/>
                </a:tc>
                <a:extLst>
                  <a:ext uri="{0D108BD9-81ED-4DB2-BD59-A6C34878D82A}">
                    <a16:rowId xmlns:a16="http://schemas.microsoft.com/office/drawing/2014/main" val="1670325436"/>
                  </a:ext>
                </a:extLst>
              </a:tr>
            </a:tbl>
          </a:graphicData>
        </a:graphic>
      </p:graphicFrame>
      <p:graphicFrame>
        <p:nvGraphicFramePr>
          <p:cNvPr id="10" name="Table 5">
            <a:extLst>
              <a:ext uri="{FF2B5EF4-FFF2-40B4-BE49-F238E27FC236}">
                <a16:creationId xmlns:a16="http://schemas.microsoft.com/office/drawing/2014/main" id="{EB9C80E5-69DF-4DBE-A910-C7C4AB9211F2}"/>
              </a:ext>
            </a:extLst>
          </p:cNvPr>
          <p:cNvGraphicFramePr>
            <a:graphicFrameLocks/>
          </p:cNvGraphicFramePr>
          <p:nvPr>
            <p:extLst>
              <p:ext uri="{D42A27DB-BD31-4B8C-83A1-F6EECF244321}">
                <p14:modId xmlns:p14="http://schemas.microsoft.com/office/powerpoint/2010/main" val="2979050234"/>
              </p:ext>
            </p:extLst>
          </p:nvPr>
        </p:nvGraphicFramePr>
        <p:xfrm>
          <a:off x="8741080" y="918518"/>
          <a:ext cx="3130535" cy="2921831"/>
        </p:xfrm>
        <a:graphic>
          <a:graphicData uri="http://schemas.openxmlformats.org/drawingml/2006/table">
            <a:tbl>
              <a:tblPr firstRow="1" bandRow="1">
                <a:tableStyleId>{5C22544A-7EE6-4342-B048-85BDC9FD1C3A}</a:tableStyleId>
              </a:tblPr>
              <a:tblGrid>
                <a:gridCol w="698597">
                  <a:extLst>
                    <a:ext uri="{9D8B030D-6E8A-4147-A177-3AD203B41FA5}">
                      <a16:colId xmlns:a16="http://schemas.microsoft.com/office/drawing/2014/main" val="2367483098"/>
                    </a:ext>
                  </a:extLst>
                </a:gridCol>
                <a:gridCol w="592741">
                  <a:extLst>
                    <a:ext uri="{9D8B030D-6E8A-4147-A177-3AD203B41FA5}">
                      <a16:colId xmlns:a16="http://schemas.microsoft.com/office/drawing/2014/main" val="3936117463"/>
                    </a:ext>
                  </a:extLst>
                </a:gridCol>
                <a:gridCol w="839072">
                  <a:extLst>
                    <a:ext uri="{9D8B030D-6E8A-4147-A177-3AD203B41FA5}">
                      <a16:colId xmlns:a16="http://schemas.microsoft.com/office/drawing/2014/main" val="1140826149"/>
                    </a:ext>
                  </a:extLst>
                </a:gridCol>
                <a:gridCol w="1000125">
                  <a:extLst>
                    <a:ext uri="{9D8B030D-6E8A-4147-A177-3AD203B41FA5}">
                      <a16:colId xmlns:a16="http://schemas.microsoft.com/office/drawing/2014/main" val="3231660630"/>
                    </a:ext>
                  </a:extLst>
                </a:gridCol>
              </a:tblGrid>
              <a:tr h="31759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Recommended GC Enterprise Security Services For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1">
                          <a:solidFill>
                            <a:schemeClr val="bg1"/>
                          </a:solidFill>
                        </a:rPr>
                        <a:t>Applicable Cloud Access Scenarios</a:t>
                      </a:r>
                    </a:p>
                  </a:txBody>
                  <a:tcPr anchor="ctr">
                    <a:solidFill>
                      <a:srgbClr val="004D71"/>
                    </a:solidFill>
                  </a:tcPr>
                </a:tc>
                <a:tc hMerge="1">
                  <a:txBody>
                    <a:bodyPr/>
                    <a:lstStyle/>
                    <a:p>
                      <a:endParaRPr lang="en-CA"/>
                    </a:p>
                  </a:txBody>
                  <a:tcPr/>
                </a:tc>
                <a:tc hMerge="1">
                  <a:txBody>
                    <a:bodyPr/>
                    <a:lstStyle/>
                    <a:p>
                      <a:endParaRPr lang="en-CA"/>
                    </a:p>
                  </a:txBody>
                  <a:tcPr/>
                </a:tc>
                <a:tc>
                  <a:txBody>
                    <a:bodyPr/>
                    <a:lstStyle/>
                    <a:p>
                      <a:pPr algn="ctr"/>
                      <a:endParaRPr lang="en-CA" sz="800" b="1"/>
                    </a:p>
                  </a:txBody>
                  <a:tcPr>
                    <a:solidFill>
                      <a:schemeClr val="bg1"/>
                    </a:solidFill>
                  </a:tcPr>
                </a:tc>
                <a:extLst>
                  <a:ext uri="{0D108BD9-81ED-4DB2-BD59-A6C34878D82A}">
                    <a16:rowId xmlns:a16="http://schemas.microsoft.com/office/drawing/2014/main" val="2223348252"/>
                  </a:ext>
                </a:extLst>
              </a:tr>
              <a:tr h="317599">
                <a:tc gridSpan="3">
                  <a:txBody>
                    <a:bodyPr/>
                    <a:lstStyle/>
                    <a:p>
                      <a:pPr algn="ctr"/>
                      <a:r>
                        <a:rPr lang="en-US" sz="800" b="1"/>
                        <a:t>SSC SCED Services</a:t>
                      </a:r>
                      <a:endParaRPr lang="en-CA" sz="800" b="1"/>
                    </a:p>
                  </a:txBody>
                  <a:tcPr anchor="ctr"/>
                </a:tc>
                <a:tc hMerge="1">
                  <a:txBody>
                    <a:bodyPr/>
                    <a:lstStyle/>
                    <a:p>
                      <a:endParaRPr lang="en-CA" sz="1000"/>
                    </a:p>
                  </a:txBody>
                  <a:tcPr/>
                </a:tc>
                <a:tc hMerge="1">
                  <a:txBody>
                    <a:bodyPr/>
                    <a:lstStyle/>
                    <a:p>
                      <a:endParaRPr lang="en-CA" sz="1000"/>
                    </a:p>
                  </a:txBody>
                  <a:tcPr/>
                </a:tc>
                <a:tc>
                  <a:txBody>
                    <a:bodyPr/>
                    <a:lstStyle/>
                    <a:p>
                      <a:pPr algn="ctr"/>
                      <a:r>
                        <a:rPr lang="en-US" sz="800" b="1"/>
                        <a:t>CCCS Cyber Defense Services</a:t>
                      </a:r>
                      <a:endParaRPr lang="en-CA" sz="800" b="1"/>
                    </a:p>
                  </a:txBody>
                  <a:tcPr/>
                </a:tc>
                <a:extLst>
                  <a:ext uri="{0D108BD9-81ED-4DB2-BD59-A6C34878D82A}">
                    <a16:rowId xmlns:a16="http://schemas.microsoft.com/office/drawing/2014/main" val="3008728146"/>
                  </a:ext>
                </a:extLst>
              </a:tr>
              <a:tr h="202109">
                <a:tc>
                  <a:txBody>
                    <a:bodyPr/>
                    <a:lstStyle/>
                    <a:p>
                      <a:pPr algn="ctr"/>
                      <a:r>
                        <a:rPr lang="en-US" sz="800" b="1">
                          <a:solidFill>
                            <a:schemeClr val="tx1"/>
                          </a:solidFill>
                        </a:rPr>
                        <a:t>GC-TIP</a:t>
                      </a:r>
                      <a:endParaRPr lang="en-CA" sz="800" b="1">
                        <a:solidFill>
                          <a:schemeClr val="tx1"/>
                        </a:solidFill>
                      </a:endParaRPr>
                    </a:p>
                  </a:txBody>
                  <a:tcPr anchor="ctr"/>
                </a:tc>
                <a:tc>
                  <a:txBody>
                    <a:bodyPr/>
                    <a:lstStyle/>
                    <a:p>
                      <a:pPr algn="ctr"/>
                      <a:r>
                        <a:rPr lang="en-US" sz="800" b="1">
                          <a:solidFill>
                            <a:schemeClr val="tx1"/>
                          </a:solidFill>
                        </a:rPr>
                        <a:t>GC-CAP</a:t>
                      </a:r>
                      <a:endParaRPr lang="en-CA" sz="800" b="1">
                        <a:solidFill>
                          <a:schemeClr val="tx1"/>
                        </a:solidFill>
                      </a:endParaRPr>
                    </a:p>
                  </a:txBody>
                  <a:tcPr anchor="ctr"/>
                </a:tc>
                <a:tc>
                  <a:txBody>
                    <a:bodyPr/>
                    <a:lstStyle/>
                    <a:p>
                      <a:pPr algn="ctr"/>
                      <a:r>
                        <a:rPr lang="en-US" sz="800" b="1">
                          <a:solidFill>
                            <a:schemeClr val="tx1"/>
                          </a:solidFill>
                        </a:rPr>
                        <a:t>CASB</a:t>
                      </a:r>
                      <a:endParaRPr lang="en-CA" sz="800" b="1">
                        <a:solidFill>
                          <a:schemeClr val="tx1"/>
                        </a:solidFill>
                      </a:endParaRPr>
                    </a:p>
                  </a:txBody>
                  <a:tcPr anchor="ctr"/>
                </a:tc>
                <a:tc>
                  <a:txBody>
                    <a:bodyPr/>
                    <a:lstStyle/>
                    <a:p>
                      <a:pPr algn="ctr"/>
                      <a:r>
                        <a:rPr lang="en-US" sz="800" b="1">
                          <a:solidFill>
                            <a:schemeClr val="tx1"/>
                          </a:solidFill>
                        </a:rPr>
                        <a:t>Maple Tap</a:t>
                      </a:r>
                      <a:endParaRPr lang="en-CA" sz="800" b="1">
                        <a:solidFill>
                          <a:schemeClr val="tx1"/>
                        </a:solidFill>
                      </a:endParaRPr>
                    </a:p>
                  </a:txBody>
                  <a:tcPr anchor="ctr"/>
                </a:tc>
                <a:extLst>
                  <a:ext uri="{0D108BD9-81ED-4DB2-BD59-A6C34878D82A}">
                    <a16:rowId xmlns:a16="http://schemas.microsoft.com/office/drawing/2014/main" val="3363428871"/>
                  </a:ext>
                </a:extLst>
              </a:tr>
              <a:tr h="4999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rPr>
                        <a:t>A4, A5</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800" b="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A5</a:t>
                      </a:r>
                      <a:endParaRPr lang="en-CA" sz="800" b="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A2,A3</a:t>
                      </a:r>
                      <a:endParaRPr lang="en-CA" sz="800" b="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a:solidFill>
                            <a:schemeClr val="tx1"/>
                          </a:solidFill>
                        </a:rPr>
                        <a:t>A1, A4, A5</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800" b="0">
                        <a:solidFill>
                          <a:schemeClr val="tx1"/>
                        </a:solidFill>
                      </a:endParaRPr>
                    </a:p>
                  </a:txBody>
                  <a:tcPr/>
                </a:tc>
                <a:extLst>
                  <a:ext uri="{0D108BD9-81ED-4DB2-BD59-A6C34878D82A}">
                    <a16:rowId xmlns:a16="http://schemas.microsoft.com/office/drawing/2014/main" val="2344286707"/>
                  </a:ext>
                </a:extLst>
              </a:tr>
              <a:tr h="524773">
                <a:tc>
                  <a:txBody>
                    <a:bodyPr/>
                    <a:lstStyle/>
                    <a:p>
                      <a:pPr algn="ctr"/>
                      <a:endParaRPr lang="en-CA" sz="800" b="0">
                        <a:solidFill>
                          <a:schemeClr val="tx1"/>
                        </a:solidFill>
                      </a:endParaRPr>
                    </a:p>
                  </a:txBody>
                  <a:tcPr/>
                </a:tc>
                <a:tc>
                  <a:txBody>
                    <a:bodyPr/>
                    <a:lstStyle/>
                    <a:p>
                      <a:pPr algn="ctr"/>
                      <a:r>
                        <a:rPr lang="en-US" sz="800" b="0">
                          <a:solidFill>
                            <a:schemeClr val="tx1"/>
                          </a:solidFill>
                        </a:rPr>
                        <a:t>B1,B4</a:t>
                      </a:r>
                      <a:endParaRPr lang="en-CA" sz="800" b="0">
                        <a:solidFill>
                          <a:schemeClr val="tx1"/>
                        </a:solidFill>
                      </a:endParaRPr>
                    </a:p>
                  </a:txBody>
                  <a:tcPr/>
                </a:tc>
                <a:tc>
                  <a:txBody>
                    <a:bodyPr/>
                    <a:lstStyle/>
                    <a:p>
                      <a:pPr algn="ctr"/>
                      <a:r>
                        <a:rPr lang="en-US" sz="800" b="0">
                          <a:solidFill>
                            <a:schemeClr val="tx1"/>
                          </a:solidFill>
                        </a:rPr>
                        <a:t>B2,B3</a:t>
                      </a:r>
                      <a:endParaRPr lang="en-CA" sz="800" b="0">
                        <a:solidFill>
                          <a:schemeClr val="tx1"/>
                        </a:solidFill>
                      </a:endParaRPr>
                    </a:p>
                  </a:txBody>
                  <a:tcPr/>
                </a:tc>
                <a:tc>
                  <a:txBody>
                    <a:bodyPr/>
                    <a:lstStyle/>
                    <a:p>
                      <a:pPr algn="ctr"/>
                      <a:r>
                        <a:rPr lang="en-US" sz="800" b="0">
                          <a:solidFill>
                            <a:schemeClr val="tx1"/>
                          </a:solidFill>
                        </a:rPr>
                        <a:t>B1,B4</a:t>
                      </a:r>
                      <a:endParaRPr lang="en-CA" sz="800" b="0">
                        <a:solidFill>
                          <a:schemeClr val="tx1"/>
                        </a:solidFill>
                      </a:endParaRPr>
                    </a:p>
                  </a:txBody>
                  <a:tcPr/>
                </a:tc>
                <a:extLst>
                  <a:ext uri="{0D108BD9-81ED-4DB2-BD59-A6C34878D82A}">
                    <a16:rowId xmlns:a16="http://schemas.microsoft.com/office/drawing/2014/main" val="4219846609"/>
                  </a:ext>
                </a:extLst>
              </a:tr>
              <a:tr h="4999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C1,C4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C2,C3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C1, C4</a:t>
                      </a:r>
                    </a:p>
                  </a:txBody>
                  <a:tcPr/>
                </a:tc>
                <a:extLst>
                  <a:ext uri="{0D108BD9-81ED-4DB2-BD59-A6C34878D82A}">
                    <a16:rowId xmlns:a16="http://schemas.microsoft.com/office/drawing/2014/main" val="1111858419"/>
                  </a:ext>
                </a:extLst>
              </a:tr>
              <a:tr h="39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D9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D3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D4,D5,D7,D8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rPr>
                        <a:t>D1,D2,D3,D6,D9</a:t>
                      </a:r>
                    </a:p>
                  </a:txBody>
                  <a:tcPr/>
                </a:tc>
                <a:extLst>
                  <a:ext uri="{0D108BD9-81ED-4DB2-BD59-A6C34878D82A}">
                    <a16:rowId xmlns:a16="http://schemas.microsoft.com/office/drawing/2014/main" val="976863962"/>
                  </a:ext>
                </a:extLst>
              </a:tr>
            </a:tbl>
          </a:graphicData>
        </a:graphic>
      </p:graphicFrame>
      <p:sp>
        <p:nvSpPr>
          <p:cNvPr id="3" name="TextBox 2">
            <a:extLst>
              <a:ext uri="{FF2B5EF4-FFF2-40B4-BE49-F238E27FC236}">
                <a16:creationId xmlns:a16="http://schemas.microsoft.com/office/drawing/2014/main" id="{40331096-A242-A780-1561-4D4047BB8CB0}"/>
              </a:ext>
            </a:extLst>
          </p:cNvPr>
          <p:cNvSpPr txBox="1"/>
          <p:nvPr/>
        </p:nvSpPr>
        <p:spPr>
          <a:xfrm>
            <a:off x="263352" y="3789040"/>
            <a:ext cx="790307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t>Please include the applicable cloud access scenario with brief description </a:t>
            </a:r>
            <a:endParaRPr lang="en-CA" sz="1200"/>
          </a:p>
        </p:txBody>
      </p:sp>
      <p:sp>
        <p:nvSpPr>
          <p:cNvPr id="4" name="Slide Number Placeholder 3">
            <a:extLst>
              <a:ext uri="{FF2B5EF4-FFF2-40B4-BE49-F238E27FC236}">
                <a16:creationId xmlns:a16="http://schemas.microsoft.com/office/drawing/2014/main" id="{1CBE7F84-48A9-A902-D562-575BB5486478}"/>
              </a:ext>
            </a:extLst>
          </p:cNvPr>
          <p:cNvSpPr>
            <a:spLocks noGrp="1"/>
          </p:cNvSpPr>
          <p:nvPr>
            <p:ph type="sldNum" sz="quarter" idx="12"/>
          </p:nvPr>
        </p:nvSpPr>
        <p:spPr/>
        <p:txBody>
          <a:bodyPr/>
          <a:lstStyle/>
          <a:p>
            <a:fld id="{32D4B517-E49B-41B6-9DBC-23634E0F1CDC}" type="slidenum">
              <a:rPr lang="en-CA" smtClean="0"/>
              <a:pPr/>
              <a:t>38</a:t>
            </a:fld>
            <a:endParaRPr lang="en-CA"/>
          </a:p>
        </p:txBody>
      </p:sp>
      <p:sp>
        <p:nvSpPr>
          <p:cNvPr id="2" name="TextBox 1">
            <a:extLst>
              <a:ext uri="{FF2B5EF4-FFF2-40B4-BE49-F238E27FC236}">
                <a16:creationId xmlns:a16="http://schemas.microsoft.com/office/drawing/2014/main" id="{511E6C2E-54BC-D1B9-8F32-EBDFCF2C9513}"/>
              </a:ext>
            </a:extLst>
          </p:cNvPr>
          <p:cNvSpPr txBox="1"/>
          <p:nvPr/>
        </p:nvSpPr>
        <p:spPr>
          <a:xfrm>
            <a:off x="10694593" y="207758"/>
            <a:ext cx="14974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lumMod val="50000"/>
                  </a:schemeClr>
                </a:solidFill>
                <a:cs typeface="Calibri"/>
              </a:defRPr>
            </a:lvl1pPr>
          </a:lstStyle>
          <a:p>
            <a:r>
              <a:rPr lang="en-US"/>
              <a:t>For GC EARB only</a:t>
            </a:r>
          </a:p>
        </p:txBody>
      </p:sp>
    </p:spTree>
    <p:extLst>
      <p:ext uri="{BB962C8B-B14F-4D97-AF65-F5344CB8AC3E}">
        <p14:creationId xmlns:p14="http://schemas.microsoft.com/office/powerpoint/2010/main" val="2079951959"/>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a:defRPr sz="4400" b="1">
                <a:solidFill>
                  <a:srgbClr val="1B2A4A"/>
                </a:solidFill>
              </a:defRPr>
            </a:pPr>
            <a:r>
              <a:t>AI Vendor Evaluation — Problem &amp; Context</a:t>
            </a:r>
          </a:p>
        </p:txBody>
      </p:sp>
      <p:sp>
        <p:nvSpPr>
          <p:cNvPr id="4" name="TextBox 3"/>
          <p:cNvSpPr txBox="1"/>
          <p:nvPr/>
        </p:nvSpPr>
        <p:spPr>
          <a:xfrm>
            <a:off x="457200" y="1097280"/>
            <a:ext cx="11274552" cy="365760"/>
          </a:xfrm>
          <a:prstGeom prst="rect">
            <a:avLst/>
          </a:prstGeom>
          <a:noFill/>
        </p:spPr>
        <p:txBody>
          <a:bodyPr wrap="none">
            <a:spAutoFit/>
          </a:bodyPr>
          <a:lstStyle/>
          <a:p>
            <a:pPr>
              <a:defRPr sz="1100" i="1">
                <a:solidFill>
                  <a:srgbClr val="2F6F73"/>
                </a:solidFill>
              </a:defRPr>
            </a:pPr>
            <a:r>
              <a:t>AI adoption is accelerating faster than governance → we need a structured evaluation model</a:t>
            </a:r>
          </a:p>
        </p:txBody>
      </p:sp>
      <p:sp>
        <p:nvSpPr>
          <p:cNvPr id="5" name="Rectangle 4"/>
          <p:cNvSpPr/>
          <p:nvPr/>
        </p:nvSpPr>
        <p:spPr>
          <a:xfrm>
            <a:off x="457200" y="1645920"/>
            <a:ext cx="2697480" cy="3840480"/>
          </a:xfrm>
          <a:prstGeom prst="rect">
            <a:avLst/>
          </a:prstGeom>
          <a:solidFill>
            <a:srgbClr val="E3F2FD"/>
          </a:solidFill>
          <a:ln w="127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37360"/>
            <a:ext cx="2514600" cy="365760"/>
          </a:xfrm>
          <a:prstGeom prst="rect">
            <a:avLst/>
          </a:prstGeom>
          <a:noFill/>
        </p:spPr>
        <p:txBody>
          <a:bodyPr wrap="square">
            <a:spAutoFit/>
          </a:bodyPr>
          <a:lstStyle/>
          <a:p>
            <a:pPr>
              <a:defRPr sz="1100" b="1">
                <a:solidFill>
                  <a:srgbClr val="1B2A4A"/>
                </a:solidFill>
              </a:defRPr>
            </a:pPr>
            <a:r>
              <a:t>Market Reality</a:t>
            </a:r>
          </a:p>
        </p:txBody>
      </p:sp>
      <p:sp>
        <p:nvSpPr>
          <p:cNvPr id="7" name="TextBox 6"/>
          <p:cNvSpPr txBox="1"/>
          <p:nvPr/>
        </p:nvSpPr>
        <p:spPr>
          <a:xfrm>
            <a:off x="594360" y="2148840"/>
            <a:ext cx="2423160" cy="3200400"/>
          </a:xfrm>
          <a:prstGeom prst="rect">
            <a:avLst/>
          </a:prstGeom>
          <a:noFill/>
        </p:spPr>
        <p:txBody>
          <a:bodyPr wrap="square">
            <a:spAutoFit/>
          </a:bodyPr>
          <a:lstStyle/>
          <a:p>
            <a:pPr>
              <a:spcBef>
                <a:spcPts val="200"/>
              </a:spcBef>
              <a:defRPr sz="900">
                <a:solidFill>
                  <a:srgbClr val="333333"/>
                </a:solidFill>
              </a:defRPr>
            </a:pPr>
            <a:r>
              <a:t>Rapid LLM expansion</a:t>
            </a:r>
          </a:p>
          <a:p>
            <a:pPr>
              <a:spcBef>
                <a:spcPts val="200"/>
              </a:spcBef>
              <a:defRPr sz="900">
                <a:solidFill>
                  <a:srgbClr val="333333"/>
                </a:solidFill>
              </a:defRPr>
            </a:pPr>
            <a:r>
              <a:t>(Cohere, OpenAI, Gemini)</a:t>
            </a:r>
          </a:p>
          <a:p>
            <a:pPr>
              <a:spcBef>
                <a:spcPts val="200"/>
              </a:spcBef>
              <a:defRPr sz="900">
                <a:solidFill>
                  <a:srgbClr val="333333"/>
                </a:solidFill>
              </a:defRPr>
            </a:pPr>
            <a:r>
              <a:t>Multiple entry points</a:t>
            </a:r>
          </a:p>
          <a:p>
            <a:pPr>
              <a:spcBef>
                <a:spcPts val="200"/>
              </a:spcBef>
              <a:defRPr sz="900">
                <a:solidFill>
                  <a:srgbClr val="333333"/>
                </a:solidFill>
              </a:defRPr>
            </a:pPr>
            <a:r>
              <a:t>(CANChat, Copilot, etc.)</a:t>
            </a:r>
          </a:p>
          <a:p>
            <a:pPr>
              <a:spcBef>
                <a:spcPts val="200"/>
              </a:spcBef>
              <a:defRPr sz="900">
                <a:solidFill>
                  <a:srgbClr val="333333"/>
                </a:solidFill>
              </a:defRPr>
            </a:pPr>
            <a:r>
              <a:t>No standard approach</a:t>
            </a:r>
          </a:p>
        </p:txBody>
      </p:sp>
      <p:sp>
        <p:nvSpPr>
          <p:cNvPr id="8" name="Rectangle 7"/>
          <p:cNvSpPr/>
          <p:nvPr/>
        </p:nvSpPr>
        <p:spPr>
          <a:xfrm>
            <a:off x="3291840" y="1645920"/>
            <a:ext cx="2697480" cy="3840480"/>
          </a:xfrm>
          <a:prstGeom prst="rect">
            <a:avLst/>
          </a:prstGeom>
          <a:solidFill>
            <a:srgbClr val="F3E5F5"/>
          </a:solidFill>
          <a:ln w="127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737360"/>
            <a:ext cx="2514600" cy="365760"/>
          </a:xfrm>
          <a:prstGeom prst="rect">
            <a:avLst/>
          </a:prstGeom>
          <a:noFill/>
        </p:spPr>
        <p:txBody>
          <a:bodyPr wrap="square">
            <a:spAutoFit/>
          </a:bodyPr>
          <a:lstStyle/>
          <a:p>
            <a:pPr>
              <a:defRPr sz="1100" b="1">
                <a:solidFill>
                  <a:srgbClr val="1B2A4A"/>
                </a:solidFill>
              </a:defRPr>
            </a:pPr>
            <a:r>
              <a:t>HC/PHAC Context</a:t>
            </a:r>
          </a:p>
        </p:txBody>
      </p:sp>
      <p:sp>
        <p:nvSpPr>
          <p:cNvPr id="10" name="TextBox 9"/>
          <p:cNvSpPr txBox="1"/>
          <p:nvPr/>
        </p:nvSpPr>
        <p:spPr>
          <a:xfrm>
            <a:off x="3429000" y="2148840"/>
            <a:ext cx="2423160" cy="3200400"/>
          </a:xfrm>
          <a:prstGeom prst="rect">
            <a:avLst/>
          </a:prstGeom>
          <a:noFill/>
        </p:spPr>
        <p:txBody>
          <a:bodyPr wrap="square">
            <a:spAutoFit/>
          </a:bodyPr>
          <a:lstStyle/>
          <a:p>
            <a:pPr>
              <a:spcBef>
                <a:spcPts val="200"/>
              </a:spcBef>
              <a:defRPr sz="900">
                <a:solidFill>
                  <a:srgbClr val="333333"/>
                </a:solidFill>
              </a:defRPr>
            </a:pPr>
            <a:r>
              <a:t>Growing use case inventory</a:t>
            </a:r>
          </a:p>
          <a:p>
            <a:pPr>
              <a:spcBef>
                <a:spcPts val="200"/>
              </a:spcBef>
              <a:defRPr sz="900">
                <a:solidFill>
                  <a:srgbClr val="333333"/>
                </a:solidFill>
              </a:defRPr>
            </a:pPr>
            <a:r>
              <a:t>AI Accelerator intake ↑</a:t>
            </a:r>
          </a:p>
          <a:p>
            <a:pPr>
              <a:spcBef>
                <a:spcPts val="200"/>
              </a:spcBef>
              <a:defRPr sz="900">
                <a:solidFill>
                  <a:srgbClr val="333333"/>
                </a:solidFill>
              </a:defRPr>
            </a:pPr>
            <a:r>
              <a:t>PATH / HAIL converging</a:t>
            </a:r>
          </a:p>
          <a:p>
            <a:pPr>
              <a:spcBef>
                <a:spcPts val="200"/>
              </a:spcBef>
              <a:defRPr sz="900">
                <a:solidFill>
                  <a:srgbClr val="333333"/>
                </a:solidFill>
              </a:defRPr>
            </a:pPr>
            <a:r>
              <a:t>Multiple clusters</a:t>
            </a:r>
          </a:p>
          <a:p>
            <a:pPr>
              <a:spcBef>
                <a:spcPts val="200"/>
              </a:spcBef>
              <a:defRPr sz="900">
                <a:solidFill>
                  <a:srgbClr val="333333"/>
                </a:solidFill>
              </a:defRPr>
            </a:pPr>
            <a:r>
              <a:t>Competing procurement paths</a:t>
            </a:r>
          </a:p>
        </p:txBody>
      </p:sp>
      <p:sp>
        <p:nvSpPr>
          <p:cNvPr id="11" name="Rectangle 10"/>
          <p:cNvSpPr/>
          <p:nvPr/>
        </p:nvSpPr>
        <p:spPr>
          <a:xfrm>
            <a:off x="6126480" y="1645920"/>
            <a:ext cx="2697480" cy="3840480"/>
          </a:xfrm>
          <a:prstGeom prst="rect">
            <a:avLst/>
          </a:prstGeom>
          <a:solidFill>
            <a:srgbClr val="FFF3E0"/>
          </a:solidFill>
          <a:ln w="127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737360"/>
            <a:ext cx="2514600" cy="365760"/>
          </a:xfrm>
          <a:prstGeom prst="rect">
            <a:avLst/>
          </a:prstGeom>
          <a:noFill/>
        </p:spPr>
        <p:txBody>
          <a:bodyPr wrap="square">
            <a:spAutoFit/>
          </a:bodyPr>
          <a:lstStyle/>
          <a:p>
            <a:pPr>
              <a:defRPr sz="1100" b="1">
                <a:solidFill>
                  <a:srgbClr val="1B2A4A"/>
                </a:solidFill>
              </a:defRPr>
            </a:pPr>
            <a:r>
              <a:t>Key Risks</a:t>
            </a:r>
          </a:p>
        </p:txBody>
      </p:sp>
      <p:sp>
        <p:nvSpPr>
          <p:cNvPr id="13" name="TextBox 12"/>
          <p:cNvSpPr txBox="1"/>
          <p:nvPr/>
        </p:nvSpPr>
        <p:spPr>
          <a:xfrm>
            <a:off x="6263640" y="2148840"/>
            <a:ext cx="2423160" cy="3200400"/>
          </a:xfrm>
          <a:prstGeom prst="rect">
            <a:avLst/>
          </a:prstGeom>
          <a:noFill/>
        </p:spPr>
        <p:txBody>
          <a:bodyPr wrap="square">
            <a:spAutoFit/>
          </a:bodyPr>
          <a:lstStyle/>
          <a:p>
            <a:pPr>
              <a:spcBef>
                <a:spcPts val="200"/>
              </a:spcBef>
              <a:defRPr sz="900">
                <a:solidFill>
                  <a:srgbClr val="333333"/>
                </a:solidFill>
              </a:defRPr>
            </a:pPr>
            <a:r>
              <a:t>Fragmented decisions</a:t>
            </a:r>
          </a:p>
          <a:p>
            <a:pPr>
              <a:spcBef>
                <a:spcPts val="200"/>
              </a:spcBef>
              <a:defRPr sz="900">
                <a:solidFill>
                  <a:srgbClr val="333333"/>
                </a:solidFill>
              </a:defRPr>
            </a:pPr>
            <a:r>
              <a:t>Shadow AI expansion</a:t>
            </a:r>
          </a:p>
          <a:p>
            <a:pPr>
              <a:spcBef>
                <a:spcPts val="200"/>
              </a:spcBef>
              <a:defRPr sz="900">
                <a:solidFill>
                  <a:srgbClr val="333333"/>
                </a:solidFill>
              </a:defRPr>
            </a:pPr>
            <a:r>
              <a:t>Inconsistent compliance</a:t>
            </a:r>
          </a:p>
          <a:p>
            <a:pPr>
              <a:spcBef>
                <a:spcPts val="200"/>
              </a:spcBef>
              <a:defRPr sz="900">
                <a:solidFill>
                  <a:srgbClr val="333333"/>
                </a:solidFill>
              </a:defRPr>
            </a:pPr>
            <a:r>
              <a:t>Cost unpredictability</a:t>
            </a:r>
          </a:p>
          <a:p>
            <a:pPr>
              <a:spcBef>
                <a:spcPts val="200"/>
              </a:spcBef>
              <a:defRPr sz="900">
                <a:solidFill>
                  <a:srgbClr val="333333"/>
                </a:solidFill>
              </a:defRPr>
            </a:pPr>
            <a:r>
              <a:t>Vendor lock-in</a:t>
            </a:r>
          </a:p>
        </p:txBody>
      </p:sp>
      <p:sp>
        <p:nvSpPr>
          <p:cNvPr id="14" name="Rectangle 13"/>
          <p:cNvSpPr/>
          <p:nvPr/>
        </p:nvSpPr>
        <p:spPr>
          <a:xfrm>
            <a:off x="8961120" y="1645920"/>
            <a:ext cx="2697480" cy="3840480"/>
          </a:xfrm>
          <a:prstGeom prst="rect">
            <a:avLst/>
          </a:prstGeom>
          <a:solidFill>
            <a:srgbClr val="E0F2F1"/>
          </a:solidFill>
          <a:ln w="127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1737360"/>
            <a:ext cx="2514600" cy="365760"/>
          </a:xfrm>
          <a:prstGeom prst="rect">
            <a:avLst/>
          </a:prstGeom>
          <a:noFill/>
        </p:spPr>
        <p:txBody>
          <a:bodyPr wrap="square">
            <a:spAutoFit/>
          </a:bodyPr>
          <a:lstStyle/>
          <a:p>
            <a:pPr>
              <a:defRPr sz="1100" b="1">
                <a:solidFill>
                  <a:srgbClr val="1B2A4A"/>
                </a:solidFill>
              </a:defRPr>
            </a:pPr>
            <a:r>
              <a:t>Architectural Gap</a:t>
            </a:r>
          </a:p>
        </p:txBody>
      </p:sp>
      <p:sp>
        <p:nvSpPr>
          <p:cNvPr id="16" name="TextBox 15"/>
          <p:cNvSpPr txBox="1"/>
          <p:nvPr/>
        </p:nvSpPr>
        <p:spPr>
          <a:xfrm>
            <a:off x="9098280" y="2148840"/>
            <a:ext cx="2423160" cy="3200400"/>
          </a:xfrm>
          <a:prstGeom prst="rect">
            <a:avLst/>
          </a:prstGeom>
          <a:noFill/>
        </p:spPr>
        <p:txBody>
          <a:bodyPr wrap="square">
            <a:spAutoFit/>
          </a:bodyPr>
          <a:lstStyle/>
          <a:p>
            <a:pPr>
              <a:spcBef>
                <a:spcPts val="200"/>
              </a:spcBef>
              <a:defRPr sz="900">
                <a:solidFill>
                  <a:srgbClr val="333333"/>
                </a:solidFill>
              </a:defRPr>
            </a:pPr>
            <a:r>
              <a:t>No enterprise control plane</a:t>
            </a:r>
          </a:p>
          <a:p>
            <a:pPr>
              <a:spcBef>
                <a:spcPts val="200"/>
              </a:spcBef>
              <a:defRPr sz="900">
                <a:solidFill>
                  <a:srgbClr val="333333"/>
                </a:solidFill>
              </a:defRPr>
            </a:pPr>
            <a:r>
              <a:t>Evaluation = vendor-driven</a:t>
            </a:r>
          </a:p>
          <a:p>
            <a:pPr>
              <a:spcBef>
                <a:spcPts val="200"/>
              </a:spcBef>
              <a:defRPr sz="900">
                <a:solidFill>
                  <a:srgbClr val="333333"/>
                </a:solidFill>
              </a:defRPr>
            </a:pPr>
            <a:r>
              <a:t>Governance too late</a:t>
            </a:r>
          </a:p>
          <a:p>
            <a:pPr>
              <a:spcBef>
                <a:spcPts val="200"/>
              </a:spcBef>
              <a:defRPr sz="900">
                <a:solidFill>
                  <a:srgbClr val="333333"/>
                </a:solidFill>
              </a:defRPr>
            </a:pPr>
            <a:r>
              <a:t>No policy enforcement</a:t>
            </a:r>
          </a:p>
          <a:p>
            <a:pPr>
              <a:spcBef>
                <a:spcPts val="200"/>
              </a:spcBef>
              <a:defRPr sz="900">
                <a:solidFill>
                  <a:srgbClr val="333333"/>
                </a:solidFill>
              </a:defRPr>
            </a:pPr>
            <a:r>
              <a:t>Missing traceability</a:t>
            </a:r>
          </a:p>
        </p:txBody>
      </p:sp>
      <p:sp>
        <p:nvSpPr>
          <p:cNvPr id="17" name="Rectangle 16"/>
          <p:cNvSpPr/>
          <p:nvPr/>
        </p:nvSpPr>
        <p:spPr>
          <a:xfrm>
            <a:off x="457200" y="5669280"/>
            <a:ext cx="11274552" cy="822960"/>
          </a:xfrm>
          <a:prstGeom prst="rect">
            <a:avLst/>
          </a:prstGeom>
          <a:solidFill>
            <a:srgbClr val="CDE3E5"/>
          </a:solidFill>
          <a:ln w="254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760720"/>
            <a:ext cx="10972800" cy="640080"/>
          </a:xfrm>
          <a:prstGeom prst="rect">
            <a:avLst/>
          </a:prstGeom>
          <a:noFill/>
        </p:spPr>
        <p:txBody>
          <a:bodyPr wrap="square">
            <a:spAutoFit/>
          </a:bodyPr>
          <a:lstStyle/>
          <a:p>
            <a:pPr>
              <a:defRPr sz="1300" b="1">
                <a:solidFill>
                  <a:srgbClr val="1B2A4A"/>
                </a:solidFill>
              </a:defRPr>
            </a:pPr>
            <a:r>
              <a:t>👉  We are making decisions without a repeatable, enterprise-aligned evaluation model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a:defRPr sz="4400" b="1">
                <a:solidFill>
                  <a:srgbClr val="1B2A4A"/>
                </a:solidFill>
              </a:defRPr>
            </a:pPr>
            <a:r>
              <a:t>LLM Evaluation Rubric — Enterprise Model</a:t>
            </a:r>
          </a:p>
        </p:txBody>
      </p:sp>
      <p:sp>
        <p:nvSpPr>
          <p:cNvPr id="4" name="TextBox 3"/>
          <p:cNvSpPr txBox="1"/>
          <p:nvPr/>
        </p:nvSpPr>
        <p:spPr>
          <a:xfrm>
            <a:off x="457200" y="1097280"/>
            <a:ext cx="11274552" cy="274320"/>
          </a:xfrm>
          <a:prstGeom prst="rect">
            <a:avLst/>
          </a:prstGeom>
          <a:noFill/>
        </p:spPr>
        <p:txBody>
          <a:bodyPr wrap="none">
            <a:spAutoFit/>
          </a:bodyPr>
          <a:lstStyle/>
          <a:p>
            <a:pPr>
              <a:defRPr sz="1100" i="1">
                <a:solidFill>
                  <a:srgbClr val="2F6F73"/>
                </a:solidFill>
              </a:defRPr>
            </a:pPr>
            <a:r>
              <a:t>Evaluation is architecture-first, not model-first</a:t>
            </a:r>
          </a:p>
        </p:txBody>
      </p:sp>
      <p:sp>
        <p:nvSpPr>
          <p:cNvPr id="5" name="Rectangle 4"/>
          <p:cNvSpPr/>
          <p:nvPr/>
        </p:nvSpPr>
        <p:spPr>
          <a:xfrm>
            <a:off x="457200" y="1508760"/>
            <a:ext cx="3474720" cy="1645920"/>
          </a:xfrm>
          <a:prstGeom prst="rect">
            <a:avLst/>
          </a:prstGeom>
          <a:solidFill>
            <a:srgbClr val="E3F2FD"/>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3108960" cy="320040"/>
          </a:xfrm>
          <a:prstGeom prst="rect">
            <a:avLst/>
          </a:prstGeom>
          <a:noFill/>
        </p:spPr>
        <p:txBody>
          <a:bodyPr wrap="square">
            <a:spAutoFit/>
          </a:bodyPr>
          <a:lstStyle/>
          <a:p>
            <a:pPr algn="ctr">
              <a:defRPr sz="1000" b="1">
                <a:solidFill>
                  <a:srgbClr val="1B2A4A"/>
                </a:solidFill>
              </a:defRPr>
            </a:pPr>
            <a:r>
              <a:t>Strategy &amp; Alignment</a:t>
            </a:r>
          </a:p>
        </p:txBody>
      </p:sp>
      <p:sp>
        <p:nvSpPr>
          <p:cNvPr id="7" name="TextBox 6"/>
          <p:cNvSpPr txBox="1"/>
          <p:nvPr/>
        </p:nvSpPr>
        <p:spPr>
          <a:xfrm>
            <a:off x="640080" y="1965960"/>
            <a:ext cx="3108960" cy="1051560"/>
          </a:xfrm>
          <a:prstGeom prst="rect">
            <a:avLst/>
          </a:prstGeom>
          <a:noFill/>
        </p:spPr>
        <p:txBody>
          <a:bodyPr wrap="square">
            <a:spAutoFit/>
          </a:bodyPr>
          <a:lstStyle/>
          <a:p>
            <a:pPr>
              <a:spcBef>
                <a:spcPts val="100"/>
              </a:spcBef>
              <a:defRPr sz="850">
                <a:solidFill>
                  <a:srgbClr val="222222"/>
                </a:solidFill>
              </a:defRPr>
            </a:pPr>
            <a:r>
              <a:t>• AI Roadmap fit</a:t>
            </a:r>
          </a:p>
          <a:p>
            <a:pPr>
              <a:spcBef>
                <a:spcPts val="100"/>
              </a:spcBef>
              <a:defRPr sz="850">
                <a:solidFill>
                  <a:srgbClr val="222222"/>
                </a:solidFill>
              </a:defRPr>
            </a:pPr>
            <a:r>
              <a:t>• PATH/HAIL compatibility</a:t>
            </a:r>
          </a:p>
        </p:txBody>
      </p:sp>
      <p:sp>
        <p:nvSpPr>
          <p:cNvPr id="8" name="Rectangle 7"/>
          <p:cNvSpPr/>
          <p:nvPr/>
        </p:nvSpPr>
        <p:spPr>
          <a:xfrm>
            <a:off x="4114800" y="1508760"/>
            <a:ext cx="3474720" cy="1645920"/>
          </a:xfrm>
          <a:prstGeom prst="rect">
            <a:avLst/>
          </a:prstGeom>
          <a:solidFill>
            <a:srgbClr val="F3E5F5"/>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600200"/>
            <a:ext cx="3108960" cy="320040"/>
          </a:xfrm>
          <a:prstGeom prst="rect">
            <a:avLst/>
          </a:prstGeom>
          <a:noFill/>
        </p:spPr>
        <p:txBody>
          <a:bodyPr wrap="square">
            <a:spAutoFit/>
          </a:bodyPr>
          <a:lstStyle/>
          <a:p>
            <a:pPr algn="ctr">
              <a:defRPr sz="1000" b="1">
                <a:solidFill>
                  <a:srgbClr val="1B2A4A"/>
                </a:solidFill>
              </a:defRPr>
            </a:pPr>
            <a:r>
              <a:t>Governance</a:t>
            </a:r>
          </a:p>
        </p:txBody>
      </p:sp>
      <p:sp>
        <p:nvSpPr>
          <p:cNvPr id="10" name="TextBox 9"/>
          <p:cNvSpPr txBox="1"/>
          <p:nvPr/>
        </p:nvSpPr>
        <p:spPr>
          <a:xfrm>
            <a:off x="4297680" y="1965960"/>
            <a:ext cx="3108960" cy="1051560"/>
          </a:xfrm>
          <a:prstGeom prst="rect">
            <a:avLst/>
          </a:prstGeom>
          <a:noFill/>
        </p:spPr>
        <p:txBody>
          <a:bodyPr wrap="square">
            <a:spAutoFit/>
          </a:bodyPr>
          <a:lstStyle/>
          <a:p>
            <a:pPr>
              <a:spcBef>
                <a:spcPts val="100"/>
              </a:spcBef>
              <a:defRPr sz="850">
                <a:solidFill>
                  <a:srgbClr val="222222"/>
                </a:solidFill>
              </a:defRPr>
            </a:pPr>
            <a:r>
              <a:t>• Data sovereignty</a:t>
            </a:r>
          </a:p>
          <a:p>
            <a:pPr>
              <a:spcBef>
                <a:spcPts val="100"/>
              </a:spcBef>
              <a:defRPr sz="850">
                <a:solidFill>
                  <a:srgbClr val="222222"/>
                </a:solidFill>
              </a:defRPr>
            </a:pPr>
            <a:r>
              <a:t>• Compliance &amp; ATO</a:t>
            </a:r>
          </a:p>
          <a:p>
            <a:pPr>
              <a:spcBef>
                <a:spcPts val="100"/>
              </a:spcBef>
              <a:defRPr sz="850">
                <a:solidFill>
                  <a:srgbClr val="222222"/>
                </a:solidFill>
              </a:defRPr>
            </a:pPr>
            <a:r>
              <a:t>• Auditability</a:t>
            </a:r>
          </a:p>
        </p:txBody>
      </p:sp>
      <p:sp>
        <p:nvSpPr>
          <p:cNvPr id="11" name="Rectangle 10"/>
          <p:cNvSpPr/>
          <p:nvPr/>
        </p:nvSpPr>
        <p:spPr>
          <a:xfrm>
            <a:off x="7772400" y="1508760"/>
            <a:ext cx="3474720" cy="1645920"/>
          </a:xfrm>
          <a:prstGeom prst="rect">
            <a:avLst/>
          </a:prstGeom>
          <a:solidFill>
            <a:srgbClr val="FFF3E0"/>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0" y="1600200"/>
            <a:ext cx="3108960" cy="320040"/>
          </a:xfrm>
          <a:prstGeom prst="rect">
            <a:avLst/>
          </a:prstGeom>
          <a:noFill/>
        </p:spPr>
        <p:txBody>
          <a:bodyPr wrap="square">
            <a:spAutoFit/>
          </a:bodyPr>
          <a:lstStyle/>
          <a:p>
            <a:pPr algn="ctr">
              <a:defRPr sz="1000" b="1">
                <a:solidFill>
                  <a:srgbClr val="1B2A4A"/>
                </a:solidFill>
              </a:defRPr>
            </a:pPr>
            <a:r>
              <a:t>Security &amp; Risk</a:t>
            </a:r>
          </a:p>
        </p:txBody>
      </p:sp>
      <p:sp>
        <p:nvSpPr>
          <p:cNvPr id="13" name="TextBox 12"/>
          <p:cNvSpPr txBox="1"/>
          <p:nvPr/>
        </p:nvSpPr>
        <p:spPr>
          <a:xfrm>
            <a:off x="7955280" y="1965960"/>
            <a:ext cx="3108960" cy="1051560"/>
          </a:xfrm>
          <a:prstGeom prst="rect">
            <a:avLst/>
          </a:prstGeom>
          <a:noFill/>
        </p:spPr>
        <p:txBody>
          <a:bodyPr wrap="square">
            <a:spAutoFit/>
          </a:bodyPr>
          <a:lstStyle/>
          <a:p>
            <a:pPr>
              <a:spcBef>
                <a:spcPts val="100"/>
              </a:spcBef>
              <a:defRPr sz="850">
                <a:solidFill>
                  <a:srgbClr val="222222"/>
                </a:solidFill>
              </a:defRPr>
            </a:pPr>
            <a:r>
              <a:t>• Privacy controls</a:t>
            </a:r>
          </a:p>
          <a:p>
            <a:pPr>
              <a:spcBef>
                <a:spcPts val="100"/>
              </a:spcBef>
              <a:defRPr sz="850">
                <a:solidFill>
                  <a:srgbClr val="222222"/>
                </a:solidFill>
              </a:defRPr>
            </a:pPr>
            <a:r>
              <a:t>• Threat surface</a:t>
            </a:r>
          </a:p>
          <a:p>
            <a:pPr>
              <a:spcBef>
                <a:spcPts val="100"/>
              </a:spcBef>
              <a:defRPr sz="850">
                <a:solidFill>
                  <a:srgbClr val="222222"/>
                </a:solidFill>
              </a:defRPr>
            </a:pPr>
            <a:r>
              <a:t>• Policy enforcement</a:t>
            </a:r>
          </a:p>
        </p:txBody>
      </p:sp>
      <p:sp>
        <p:nvSpPr>
          <p:cNvPr id="14" name="Rectangle 13"/>
          <p:cNvSpPr/>
          <p:nvPr/>
        </p:nvSpPr>
        <p:spPr>
          <a:xfrm>
            <a:off x="457200" y="3337560"/>
            <a:ext cx="3474720" cy="1645920"/>
          </a:xfrm>
          <a:prstGeom prst="rect">
            <a:avLst/>
          </a:prstGeom>
          <a:solidFill>
            <a:srgbClr val="E0F2F1"/>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429000"/>
            <a:ext cx="3108960" cy="320040"/>
          </a:xfrm>
          <a:prstGeom prst="rect">
            <a:avLst/>
          </a:prstGeom>
          <a:noFill/>
        </p:spPr>
        <p:txBody>
          <a:bodyPr wrap="square">
            <a:spAutoFit/>
          </a:bodyPr>
          <a:lstStyle/>
          <a:p>
            <a:pPr algn="ctr">
              <a:defRPr sz="1000" b="1">
                <a:solidFill>
                  <a:srgbClr val="1B2A4A"/>
                </a:solidFill>
              </a:defRPr>
            </a:pPr>
            <a:r>
              <a:t>Architecture Fit</a:t>
            </a:r>
          </a:p>
        </p:txBody>
      </p:sp>
      <p:sp>
        <p:nvSpPr>
          <p:cNvPr id="16" name="TextBox 15"/>
          <p:cNvSpPr txBox="1"/>
          <p:nvPr/>
        </p:nvSpPr>
        <p:spPr>
          <a:xfrm>
            <a:off x="640080" y="3794760"/>
            <a:ext cx="3108960" cy="1051560"/>
          </a:xfrm>
          <a:prstGeom prst="rect">
            <a:avLst/>
          </a:prstGeom>
          <a:noFill/>
        </p:spPr>
        <p:txBody>
          <a:bodyPr wrap="square">
            <a:spAutoFit/>
          </a:bodyPr>
          <a:lstStyle/>
          <a:p>
            <a:pPr>
              <a:spcBef>
                <a:spcPts val="100"/>
              </a:spcBef>
              <a:defRPr sz="850">
                <a:solidFill>
                  <a:srgbClr val="222222"/>
                </a:solidFill>
              </a:defRPr>
            </a:pPr>
            <a:r>
              <a:t>• API integration</a:t>
            </a:r>
          </a:p>
          <a:p>
            <a:pPr>
              <a:spcBef>
                <a:spcPts val="100"/>
              </a:spcBef>
              <a:defRPr sz="850">
                <a:solidFill>
                  <a:srgbClr val="222222"/>
                </a:solidFill>
              </a:defRPr>
            </a:pPr>
            <a:r>
              <a:t>• Runtime compat</a:t>
            </a:r>
          </a:p>
          <a:p>
            <a:pPr>
              <a:spcBef>
                <a:spcPts val="100"/>
              </a:spcBef>
              <a:defRPr sz="850">
                <a:solidFill>
                  <a:srgbClr val="222222"/>
                </a:solidFill>
              </a:defRPr>
            </a:pPr>
            <a:r>
              <a:t>• Control plane alignment</a:t>
            </a:r>
          </a:p>
        </p:txBody>
      </p:sp>
      <p:sp>
        <p:nvSpPr>
          <p:cNvPr id="17" name="Rectangle 16"/>
          <p:cNvSpPr/>
          <p:nvPr/>
        </p:nvSpPr>
        <p:spPr>
          <a:xfrm>
            <a:off x="4114800" y="3337560"/>
            <a:ext cx="3474720" cy="1645920"/>
          </a:xfrm>
          <a:prstGeom prst="rect">
            <a:avLst/>
          </a:prstGeom>
          <a:solidFill>
            <a:srgbClr val="F1F8E9"/>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3429000"/>
            <a:ext cx="3108960" cy="320040"/>
          </a:xfrm>
          <a:prstGeom prst="rect">
            <a:avLst/>
          </a:prstGeom>
          <a:noFill/>
        </p:spPr>
        <p:txBody>
          <a:bodyPr wrap="square">
            <a:spAutoFit/>
          </a:bodyPr>
          <a:lstStyle/>
          <a:p>
            <a:pPr algn="ctr">
              <a:defRPr sz="1000" b="1">
                <a:solidFill>
                  <a:srgbClr val="1B2A4A"/>
                </a:solidFill>
              </a:defRPr>
            </a:pPr>
            <a:r>
              <a:t>Capability</a:t>
            </a:r>
          </a:p>
        </p:txBody>
      </p:sp>
      <p:sp>
        <p:nvSpPr>
          <p:cNvPr id="19" name="TextBox 18"/>
          <p:cNvSpPr txBox="1"/>
          <p:nvPr/>
        </p:nvSpPr>
        <p:spPr>
          <a:xfrm>
            <a:off x="4297680" y="3794760"/>
            <a:ext cx="3108960" cy="1051560"/>
          </a:xfrm>
          <a:prstGeom prst="rect">
            <a:avLst/>
          </a:prstGeom>
          <a:noFill/>
        </p:spPr>
        <p:txBody>
          <a:bodyPr wrap="square">
            <a:spAutoFit/>
          </a:bodyPr>
          <a:lstStyle/>
          <a:p>
            <a:pPr>
              <a:spcBef>
                <a:spcPts val="100"/>
              </a:spcBef>
              <a:defRPr sz="850">
                <a:solidFill>
                  <a:srgbClr val="222222"/>
                </a:solidFill>
              </a:defRPr>
            </a:pPr>
            <a:r>
              <a:t>• Reasoning quality</a:t>
            </a:r>
          </a:p>
          <a:p>
            <a:pPr>
              <a:spcBef>
                <a:spcPts val="100"/>
              </a:spcBef>
              <a:defRPr sz="850">
                <a:solidFill>
                  <a:srgbClr val="222222"/>
                </a:solidFill>
              </a:defRPr>
            </a:pPr>
            <a:r>
              <a:t>• Use case fit</a:t>
            </a:r>
          </a:p>
          <a:p>
            <a:pPr>
              <a:spcBef>
                <a:spcPts val="100"/>
              </a:spcBef>
              <a:defRPr sz="850">
                <a:solidFill>
                  <a:srgbClr val="222222"/>
                </a:solidFill>
              </a:defRPr>
            </a:pPr>
            <a:r>
              <a:t>• Modality support</a:t>
            </a:r>
          </a:p>
        </p:txBody>
      </p:sp>
      <p:sp>
        <p:nvSpPr>
          <p:cNvPr id="20" name="Rectangle 19"/>
          <p:cNvSpPr/>
          <p:nvPr/>
        </p:nvSpPr>
        <p:spPr>
          <a:xfrm>
            <a:off x="7772400" y="3337560"/>
            <a:ext cx="3474720" cy="1645920"/>
          </a:xfrm>
          <a:prstGeom prst="rect">
            <a:avLst/>
          </a:prstGeom>
          <a:solidFill>
            <a:srgbClr val="FCE4EC"/>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3429000"/>
            <a:ext cx="3108960" cy="320040"/>
          </a:xfrm>
          <a:prstGeom prst="rect">
            <a:avLst/>
          </a:prstGeom>
          <a:noFill/>
        </p:spPr>
        <p:txBody>
          <a:bodyPr wrap="square">
            <a:spAutoFit/>
          </a:bodyPr>
          <a:lstStyle/>
          <a:p>
            <a:pPr algn="ctr">
              <a:defRPr sz="1000" b="1">
                <a:solidFill>
                  <a:srgbClr val="1B2A4A"/>
                </a:solidFill>
              </a:defRPr>
            </a:pPr>
            <a:r>
              <a:t>Operations &amp; Cost</a:t>
            </a:r>
          </a:p>
        </p:txBody>
      </p:sp>
      <p:sp>
        <p:nvSpPr>
          <p:cNvPr id="22" name="TextBox 21"/>
          <p:cNvSpPr txBox="1"/>
          <p:nvPr/>
        </p:nvSpPr>
        <p:spPr>
          <a:xfrm>
            <a:off x="7955280" y="3794760"/>
            <a:ext cx="3108960" cy="1051560"/>
          </a:xfrm>
          <a:prstGeom prst="rect">
            <a:avLst/>
          </a:prstGeom>
          <a:noFill/>
        </p:spPr>
        <p:txBody>
          <a:bodyPr wrap="square">
            <a:spAutoFit/>
          </a:bodyPr>
          <a:lstStyle/>
          <a:p>
            <a:pPr>
              <a:spcBef>
                <a:spcPts val="100"/>
              </a:spcBef>
              <a:defRPr sz="850">
                <a:solidFill>
                  <a:srgbClr val="222222"/>
                </a:solidFill>
              </a:defRPr>
            </a:pPr>
            <a:r>
              <a:t>• FinOps transparency</a:t>
            </a:r>
          </a:p>
          <a:p>
            <a:pPr>
              <a:spcBef>
                <a:spcPts val="100"/>
              </a:spcBef>
              <a:defRPr sz="850">
                <a:solidFill>
                  <a:srgbClr val="222222"/>
                </a:solidFill>
              </a:defRPr>
            </a:pPr>
            <a:r>
              <a:t>• Scaling model</a:t>
            </a:r>
          </a:p>
          <a:p>
            <a:pPr>
              <a:spcBef>
                <a:spcPts val="100"/>
              </a:spcBef>
              <a:defRPr sz="850">
                <a:solidFill>
                  <a:srgbClr val="222222"/>
                </a:solidFill>
              </a:defRPr>
            </a:pPr>
            <a:r>
              <a:t>• Vendor viability</a:t>
            </a:r>
          </a:p>
        </p:txBody>
      </p:sp>
      <p:sp>
        <p:nvSpPr>
          <p:cNvPr id="23" name="Rectangle 22"/>
          <p:cNvSpPr/>
          <p:nvPr/>
        </p:nvSpPr>
        <p:spPr>
          <a:xfrm>
            <a:off x="457200" y="5166360"/>
            <a:ext cx="11274552" cy="548640"/>
          </a:xfrm>
          <a:prstGeom prst="rect">
            <a:avLst/>
          </a:prstGeom>
          <a:solidFill>
            <a:srgbClr val="F5E6FF"/>
          </a:solidFill>
          <a:ln w="1905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257800"/>
            <a:ext cx="10972800" cy="457200"/>
          </a:xfrm>
          <a:prstGeom prst="rect">
            <a:avLst/>
          </a:prstGeom>
          <a:noFill/>
        </p:spPr>
        <p:txBody>
          <a:bodyPr wrap="square">
            <a:spAutoFit/>
          </a:bodyPr>
          <a:lstStyle/>
          <a:p>
            <a:pPr>
              <a:defRPr sz="900" b="1">
                <a:solidFill>
                  <a:srgbClr val="1B2A4A"/>
                </a:solidFill>
              </a:defRPr>
            </a:pPr>
            <a:r>
              <a:t>Responsible AI  •  Bias mitigation  •  Human-in-the-loop  •  Explainability &amp; AIA-readiness</a:t>
            </a:r>
          </a:p>
        </p:txBody>
      </p:sp>
      <p:sp>
        <p:nvSpPr>
          <p:cNvPr id="25" name="Rectangle 24"/>
          <p:cNvSpPr/>
          <p:nvPr/>
        </p:nvSpPr>
        <p:spPr>
          <a:xfrm>
            <a:off x="7772400" y="3200400"/>
            <a:ext cx="3931920" cy="1463040"/>
          </a:xfrm>
          <a:prstGeom prst="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79" y="3337560"/>
            <a:ext cx="3657600" cy="1188720"/>
          </a:xfrm>
          <a:prstGeom prst="rect">
            <a:avLst/>
          </a:prstGeom>
          <a:noFill/>
        </p:spPr>
        <p:txBody>
          <a:bodyPr wrap="square">
            <a:spAutoFit/>
          </a:bodyPr>
          <a:lstStyle/>
          <a:p>
            <a:pPr algn="ctr">
              <a:defRPr sz="900" i="1" b="1">
                <a:solidFill>
                  <a:srgbClr val="1B2A4A"/>
                </a:solidFill>
              </a:defRPr>
            </a:pPr>
            <a:r>
              <a:t>"The best LLM is not the most capable — it is the one that can be governed, integrated, and scaled."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a:defRPr sz="4400" b="1">
                <a:solidFill>
                  <a:srgbClr val="1B2A4A"/>
                </a:solidFill>
              </a:defRPr>
            </a:pPr>
            <a:r>
              <a:t>From Evaluation → Decision → Governance Integration</a:t>
            </a:r>
          </a:p>
        </p:txBody>
      </p:sp>
      <p:sp>
        <p:nvSpPr>
          <p:cNvPr id="4" name="TextBox 3"/>
          <p:cNvSpPr txBox="1"/>
          <p:nvPr/>
        </p:nvSpPr>
        <p:spPr>
          <a:xfrm>
            <a:off x="457200" y="1097280"/>
            <a:ext cx="11274552" cy="274320"/>
          </a:xfrm>
          <a:prstGeom prst="rect">
            <a:avLst/>
          </a:prstGeom>
          <a:noFill/>
        </p:spPr>
        <p:txBody>
          <a:bodyPr wrap="none">
            <a:spAutoFit/>
          </a:bodyPr>
          <a:lstStyle/>
          <a:p>
            <a:pPr>
              <a:defRPr sz="1100" i="1">
                <a:solidFill>
                  <a:srgbClr val="2F6F73"/>
                </a:solidFill>
              </a:defRPr>
            </a:pPr>
            <a:r>
              <a:t>The rubric is not theoretical — it feeds governance and platform decisions</a:t>
            </a:r>
          </a:p>
        </p:txBody>
      </p:sp>
      <p:sp>
        <p:nvSpPr>
          <p:cNvPr id="5" name="Rectangle 4"/>
          <p:cNvSpPr/>
          <p:nvPr/>
        </p:nvSpPr>
        <p:spPr>
          <a:xfrm>
            <a:off x="365760" y="1554480"/>
            <a:ext cx="2148840" cy="2011680"/>
          </a:xfrm>
          <a:prstGeom prst="rect">
            <a:avLst/>
          </a:prstGeom>
          <a:solidFill>
            <a:srgbClr val="CDE3E5"/>
          </a:solidFill>
          <a:ln w="254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45920"/>
            <a:ext cx="320040" cy="320040"/>
          </a:xfrm>
          <a:prstGeom prst="rect">
            <a:avLst/>
          </a:prstGeom>
          <a:solidFill>
            <a:srgbClr val="2F6F73"/>
          </a:solidFill>
          <a:ln>
            <a:solidFill>
              <a:srgbClr val="2F6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45920"/>
            <a:ext cx="320040" cy="320040"/>
          </a:xfrm>
          <a:prstGeom prst="rect">
            <a:avLst/>
          </a:prstGeom>
          <a:noFill/>
        </p:spPr>
        <p:txBody>
          <a:bodyPr wrap="none">
            <a:spAutoFit/>
          </a:bodyPr>
          <a:lstStyle/>
          <a:p>
            <a:pPr algn="ctr">
              <a:defRPr sz="1100" b="1">
                <a:solidFill>
                  <a:srgbClr val="FFFFFF"/>
                </a:solidFill>
              </a:defRPr>
            </a:pPr>
            <a:r>
              <a:t>1</a:t>
            </a:r>
          </a:p>
        </p:txBody>
      </p:sp>
      <p:sp>
        <p:nvSpPr>
          <p:cNvPr id="8" name="TextBox 7"/>
          <p:cNvSpPr txBox="1"/>
          <p:nvPr/>
        </p:nvSpPr>
        <p:spPr>
          <a:xfrm>
            <a:off x="457200" y="2057400"/>
            <a:ext cx="1965960" cy="365760"/>
          </a:xfrm>
          <a:prstGeom prst="rect">
            <a:avLst/>
          </a:prstGeom>
          <a:noFill/>
        </p:spPr>
        <p:txBody>
          <a:bodyPr wrap="square">
            <a:spAutoFit/>
          </a:bodyPr>
          <a:lstStyle/>
          <a:p>
            <a:pPr algn="ctr">
              <a:defRPr sz="1000" b="1">
                <a:solidFill>
                  <a:srgbClr val="1B2A4A"/>
                </a:solidFill>
              </a:defRPr>
            </a:pPr>
            <a:r>
              <a:t>Input</a:t>
            </a:r>
          </a:p>
        </p:txBody>
      </p:sp>
      <p:sp>
        <p:nvSpPr>
          <p:cNvPr id="9" name="TextBox 8"/>
          <p:cNvSpPr txBox="1"/>
          <p:nvPr/>
        </p:nvSpPr>
        <p:spPr>
          <a:xfrm>
            <a:off x="457200" y="2468880"/>
            <a:ext cx="1965960" cy="960120"/>
          </a:xfrm>
          <a:prstGeom prst="rect">
            <a:avLst/>
          </a:prstGeom>
          <a:noFill/>
        </p:spPr>
        <p:txBody>
          <a:bodyPr wrap="square">
            <a:spAutoFit/>
          </a:bodyPr>
          <a:lstStyle/>
          <a:p>
            <a:pPr algn="ctr">
              <a:spcBef>
                <a:spcPts val="100"/>
              </a:spcBef>
              <a:defRPr sz="800">
                <a:solidFill>
                  <a:srgbClr val="222222"/>
                </a:solidFill>
              </a:defRPr>
            </a:pPr>
            <a:r>
              <a:t>Vendor</a:t>
            </a:r>
          </a:p>
          <a:p>
            <a:pPr algn="ctr">
              <a:spcBef>
                <a:spcPts val="100"/>
              </a:spcBef>
              <a:defRPr sz="800">
                <a:solidFill>
                  <a:srgbClr val="222222"/>
                </a:solidFill>
              </a:defRPr>
            </a:pPr>
            <a:r>
              <a:t>Use case</a:t>
            </a:r>
          </a:p>
          <a:p>
            <a:pPr algn="ctr">
              <a:spcBef>
                <a:spcPts val="100"/>
              </a:spcBef>
              <a:defRPr sz="800">
                <a:solidFill>
                  <a:srgbClr val="222222"/>
                </a:solidFill>
              </a:defRPr>
            </a:pPr>
            <a:r>
              <a:t>Data class</a:t>
            </a:r>
          </a:p>
        </p:txBody>
      </p:sp>
      <p:sp>
        <p:nvSpPr>
          <p:cNvPr id="10" name="Rectangle 9"/>
          <p:cNvSpPr/>
          <p:nvPr/>
        </p:nvSpPr>
        <p:spPr>
          <a:xfrm>
            <a:off x="2697480" y="1554480"/>
            <a:ext cx="2148840" cy="2011680"/>
          </a:xfrm>
          <a:prstGeom prst="rect">
            <a:avLst/>
          </a:prstGeom>
          <a:solidFill>
            <a:srgbClr val="E8F5E9"/>
          </a:solidFill>
          <a:ln w="254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88920" y="1645920"/>
            <a:ext cx="320040" cy="320040"/>
          </a:xfrm>
          <a:prstGeom prst="rect">
            <a:avLst/>
          </a:prstGeom>
          <a:solidFill>
            <a:srgbClr val="2F6F73"/>
          </a:solidFill>
          <a:ln>
            <a:solidFill>
              <a:srgbClr val="2F6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1645920"/>
            <a:ext cx="320040" cy="320040"/>
          </a:xfrm>
          <a:prstGeom prst="rect">
            <a:avLst/>
          </a:prstGeom>
          <a:noFill/>
        </p:spPr>
        <p:txBody>
          <a:bodyPr wrap="none">
            <a:spAutoFit/>
          </a:bodyPr>
          <a:lstStyle/>
          <a:p>
            <a:pPr algn="ctr">
              <a:defRPr sz="1100" b="1">
                <a:solidFill>
                  <a:srgbClr val="FFFFFF"/>
                </a:solidFill>
              </a:defRPr>
            </a:pPr>
            <a:r>
              <a:t>2</a:t>
            </a:r>
          </a:p>
        </p:txBody>
      </p:sp>
      <p:sp>
        <p:nvSpPr>
          <p:cNvPr id="13" name="TextBox 12"/>
          <p:cNvSpPr txBox="1"/>
          <p:nvPr/>
        </p:nvSpPr>
        <p:spPr>
          <a:xfrm>
            <a:off x="2788920" y="2057400"/>
            <a:ext cx="1965960" cy="365760"/>
          </a:xfrm>
          <a:prstGeom prst="rect">
            <a:avLst/>
          </a:prstGeom>
          <a:noFill/>
        </p:spPr>
        <p:txBody>
          <a:bodyPr wrap="square">
            <a:spAutoFit/>
          </a:bodyPr>
          <a:lstStyle/>
          <a:p>
            <a:pPr algn="ctr">
              <a:defRPr sz="1000" b="1">
                <a:solidFill>
                  <a:srgbClr val="1B2A4A"/>
                </a:solidFill>
              </a:defRPr>
            </a:pPr>
            <a:r>
              <a:t>Rubric</a:t>
            </a:r>
            <a:br/>
            <a:r>
              <a:t>Scoring</a:t>
            </a:r>
          </a:p>
        </p:txBody>
      </p:sp>
      <p:sp>
        <p:nvSpPr>
          <p:cNvPr id="14" name="TextBox 13"/>
          <p:cNvSpPr txBox="1"/>
          <p:nvPr/>
        </p:nvSpPr>
        <p:spPr>
          <a:xfrm>
            <a:off x="2788920" y="2468880"/>
            <a:ext cx="1965960" cy="960120"/>
          </a:xfrm>
          <a:prstGeom prst="rect">
            <a:avLst/>
          </a:prstGeom>
          <a:noFill/>
        </p:spPr>
        <p:txBody>
          <a:bodyPr wrap="square">
            <a:spAutoFit/>
          </a:bodyPr>
          <a:lstStyle/>
          <a:p>
            <a:pPr algn="ctr">
              <a:spcBef>
                <a:spcPts val="100"/>
              </a:spcBef>
              <a:defRPr sz="800">
                <a:solidFill>
                  <a:srgbClr val="222222"/>
                </a:solidFill>
              </a:defRPr>
            </a:pPr>
            <a:r>
              <a:t>Governance ↑</a:t>
            </a:r>
          </a:p>
          <a:p>
            <a:pPr algn="ctr">
              <a:spcBef>
                <a:spcPts val="100"/>
              </a:spcBef>
              <a:defRPr sz="800">
                <a:solidFill>
                  <a:srgbClr val="222222"/>
                </a:solidFill>
              </a:defRPr>
            </a:pPr>
            <a:r>
              <a:t>Arch fit ↑</a:t>
            </a:r>
          </a:p>
          <a:p>
            <a:pPr algn="ctr">
              <a:spcBef>
                <a:spcPts val="100"/>
              </a:spcBef>
              <a:defRPr sz="800">
                <a:solidFill>
                  <a:srgbClr val="222222"/>
                </a:solidFill>
              </a:defRPr>
            </a:pPr>
            <a:r>
              <a:t>Capability</a:t>
            </a:r>
          </a:p>
        </p:txBody>
      </p:sp>
      <p:sp>
        <p:nvSpPr>
          <p:cNvPr id="15" name="Rectangle 14"/>
          <p:cNvSpPr/>
          <p:nvPr/>
        </p:nvSpPr>
        <p:spPr>
          <a:xfrm>
            <a:off x="5029200" y="1554480"/>
            <a:ext cx="2148840" cy="2011680"/>
          </a:xfrm>
          <a:prstGeom prst="rect">
            <a:avLst/>
          </a:prstGeom>
          <a:solidFill>
            <a:srgbClr val="FFF9C4"/>
          </a:solidFill>
          <a:ln w="254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1645920"/>
            <a:ext cx="320040" cy="320040"/>
          </a:xfrm>
          <a:prstGeom prst="rect">
            <a:avLst/>
          </a:prstGeom>
          <a:solidFill>
            <a:srgbClr val="2F6F73"/>
          </a:solidFill>
          <a:ln>
            <a:solidFill>
              <a:srgbClr val="2F6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645920"/>
            <a:ext cx="320040" cy="320040"/>
          </a:xfrm>
          <a:prstGeom prst="rect">
            <a:avLst/>
          </a:prstGeom>
          <a:noFill/>
        </p:spPr>
        <p:txBody>
          <a:bodyPr wrap="none">
            <a:spAutoFit/>
          </a:bodyPr>
          <a:lstStyle/>
          <a:p>
            <a:pPr algn="ctr">
              <a:defRPr sz="1100" b="1">
                <a:solidFill>
                  <a:srgbClr val="FFFFFF"/>
                </a:solidFill>
              </a:defRPr>
            </a:pPr>
            <a:r>
              <a:t>3</a:t>
            </a:r>
          </a:p>
        </p:txBody>
      </p:sp>
      <p:sp>
        <p:nvSpPr>
          <p:cNvPr id="18" name="TextBox 17"/>
          <p:cNvSpPr txBox="1"/>
          <p:nvPr/>
        </p:nvSpPr>
        <p:spPr>
          <a:xfrm>
            <a:off x="5120640" y="2057400"/>
            <a:ext cx="1965960" cy="365760"/>
          </a:xfrm>
          <a:prstGeom prst="rect">
            <a:avLst/>
          </a:prstGeom>
          <a:noFill/>
        </p:spPr>
        <p:txBody>
          <a:bodyPr wrap="square">
            <a:spAutoFit/>
          </a:bodyPr>
          <a:lstStyle/>
          <a:p>
            <a:pPr algn="ctr">
              <a:defRPr sz="1000" b="1">
                <a:solidFill>
                  <a:srgbClr val="1B2A4A"/>
                </a:solidFill>
              </a:defRPr>
            </a:pPr>
            <a:r>
              <a:t>Output</a:t>
            </a:r>
          </a:p>
        </p:txBody>
      </p:sp>
      <p:sp>
        <p:nvSpPr>
          <p:cNvPr id="19" name="TextBox 18"/>
          <p:cNvSpPr txBox="1"/>
          <p:nvPr/>
        </p:nvSpPr>
        <p:spPr>
          <a:xfrm>
            <a:off x="5120640" y="2468880"/>
            <a:ext cx="1965960" cy="960120"/>
          </a:xfrm>
          <a:prstGeom prst="rect">
            <a:avLst/>
          </a:prstGeom>
          <a:noFill/>
        </p:spPr>
        <p:txBody>
          <a:bodyPr wrap="square">
            <a:spAutoFit/>
          </a:bodyPr>
          <a:lstStyle/>
          <a:p>
            <a:pPr algn="ctr">
              <a:spcBef>
                <a:spcPts val="100"/>
              </a:spcBef>
              <a:defRPr sz="800">
                <a:solidFill>
                  <a:srgbClr val="222222"/>
                </a:solidFill>
              </a:defRPr>
            </a:pPr>
            <a:r>
              <a:t>Heatmap</a:t>
            </a:r>
          </a:p>
          <a:p>
            <a:pPr algn="ctr">
              <a:spcBef>
                <a:spcPts val="100"/>
              </a:spcBef>
              <a:defRPr sz="800">
                <a:solidFill>
                  <a:srgbClr val="222222"/>
                </a:solidFill>
              </a:defRPr>
            </a:pPr>
            <a:r>
              <a:t>Strengths/gaps</a:t>
            </a:r>
          </a:p>
          <a:p>
            <a:pPr algn="ctr">
              <a:spcBef>
                <a:spcPts val="100"/>
              </a:spcBef>
              <a:defRPr sz="800">
                <a:solidFill>
                  <a:srgbClr val="222222"/>
                </a:solidFill>
              </a:defRPr>
            </a:pPr>
            <a:r>
              <a:t>Risk profile</a:t>
            </a:r>
          </a:p>
        </p:txBody>
      </p:sp>
      <p:sp>
        <p:nvSpPr>
          <p:cNvPr id="20" name="Rectangle 19"/>
          <p:cNvSpPr/>
          <p:nvPr/>
        </p:nvSpPr>
        <p:spPr>
          <a:xfrm>
            <a:off x="7360920" y="1554480"/>
            <a:ext cx="2148840" cy="2011680"/>
          </a:xfrm>
          <a:prstGeom prst="rect">
            <a:avLst/>
          </a:prstGeom>
          <a:solidFill>
            <a:srgbClr val="FFEBEE"/>
          </a:solidFill>
          <a:ln w="254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52360" y="1645920"/>
            <a:ext cx="320040" cy="320040"/>
          </a:xfrm>
          <a:prstGeom prst="rect">
            <a:avLst/>
          </a:prstGeom>
          <a:solidFill>
            <a:srgbClr val="2F6F73"/>
          </a:solidFill>
          <a:ln>
            <a:solidFill>
              <a:srgbClr val="2F6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1645920"/>
            <a:ext cx="320040" cy="320040"/>
          </a:xfrm>
          <a:prstGeom prst="rect">
            <a:avLst/>
          </a:prstGeom>
          <a:noFill/>
        </p:spPr>
        <p:txBody>
          <a:bodyPr wrap="none">
            <a:spAutoFit/>
          </a:bodyPr>
          <a:lstStyle/>
          <a:p>
            <a:pPr algn="ctr">
              <a:defRPr sz="1100" b="1">
                <a:solidFill>
                  <a:srgbClr val="FFFFFF"/>
                </a:solidFill>
              </a:defRPr>
            </a:pPr>
            <a:r>
              <a:t>4</a:t>
            </a:r>
          </a:p>
        </p:txBody>
      </p:sp>
      <p:sp>
        <p:nvSpPr>
          <p:cNvPr id="23" name="TextBox 22"/>
          <p:cNvSpPr txBox="1"/>
          <p:nvPr/>
        </p:nvSpPr>
        <p:spPr>
          <a:xfrm>
            <a:off x="7452360" y="2057400"/>
            <a:ext cx="1965960" cy="365760"/>
          </a:xfrm>
          <a:prstGeom prst="rect">
            <a:avLst/>
          </a:prstGeom>
          <a:noFill/>
        </p:spPr>
        <p:txBody>
          <a:bodyPr wrap="square">
            <a:spAutoFit/>
          </a:bodyPr>
          <a:lstStyle/>
          <a:p>
            <a:pPr algn="ctr">
              <a:defRPr sz="1000" b="1">
                <a:solidFill>
                  <a:srgbClr val="1B2A4A"/>
                </a:solidFill>
              </a:defRPr>
            </a:pPr>
            <a:r>
              <a:t>Decision</a:t>
            </a:r>
          </a:p>
        </p:txBody>
      </p:sp>
      <p:sp>
        <p:nvSpPr>
          <p:cNvPr id="24" name="TextBox 23"/>
          <p:cNvSpPr txBox="1"/>
          <p:nvPr/>
        </p:nvSpPr>
        <p:spPr>
          <a:xfrm>
            <a:off x="7452360" y="2468880"/>
            <a:ext cx="1965960" cy="960120"/>
          </a:xfrm>
          <a:prstGeom prst="rect">
            <a:avLst/>
          </a:prstGeom>
          <a:noFill/>
        </p:spPr>
        <p:txBody>
          <a:bodyPr wrap="square">
            <a:spAutoFit/>
          </a:bodyPr>
          <a:lstStyle/>
          <a:p>
            <a:pPr algn="ctr">
              <a:spcBef>
                <a:spcPts val="100"/>
              </a:spcBef>
              <a:defRPr sz="800">
                <a:solidFill>
                  <a:srgbClr val="222222"/>
                </a:solidFill>
              </a:defRPr>
            </a:pPr>
            <a:r>
              <a:t>Approve</a:t>
            </a:r>
            <a:br/>
            <a:r>
              <a:t>(conditions)</a:t>
            </a:r>
          </a:p>
          <a:p>
            <a:pPr algn="ctr">
              <a:spcBef>
                <a:spcPts val="100"/>
              </a:spcBef>
              <a:defRPr sz="800">
                <a:solidFill>
                  <a:srgbClr val="222222"/>
                </a:solidFill>
              </a:defRPr>
            </a:pPr>
            <a:r>
              <a:t>Restrict</a:t>
            </a:r>
          </a:p>
          <a:p>
            <a:pPr algn="ctr">
              <a:spcBef>
                <a:spcPts val="100"/>
              </a:spcBef>
              <a:defRPr sz="800">
                <a:solidFill>
                  <a:srgbClr val="222222"/>
                </a:solidFill>
              </a:defRPr>
            </a:pPr>
            <a:r>
              <a:t>Reject</a:t>
            </a:r>
          </a:p>
        </p:txBody>
      </p:sp>
      <p:sp>
        <p:nvSpPr>
          <p:cNvPr id="25" name="Rectangle 24"/>
          <p:cNvSpPr/>
          <p:nvPr/>
        </p:nvSpPr>
        <p:spPr>
          <a:xfrm>
            <a:off x="9692640" y="1554480"/>
            <a:ext cx="2148840" cy="2011680"/>
          </a:xfrm>
          <a:prstGeom prst="rect">
            <a:avLst/>
          </a:prstGeom>
          <a:solidFill>
            <a:srgbClr val="CDE3E5"/>
          </a:solidFill>
          <a:ln w="25400">
            <a:solidFill>
              <a:srgbClr val="5E9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84080" y="1645920"/>
            <a:ext cx="320040" cy="320040"/>
          </a:xfrm>
          <a:prstGeom prst="rect">
            <a:avLst/>
          </a:prstGeom>
          <a:solidFill>
            <a:srgbClr val="2F6F73"/>
          </a:solidFill>
          <a:ln>
            <a:solidFill>
              <a:srgbClr val="2F6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1645920"/>
            <a:ext cx="320040" cy="320040"/>
          </a:xfrm>
          <a:prstGeom prst="rect">
            <a:avLst/>
          </a:prstGeom>
          <a:noFill/>
        </p:spPr>
        <p:txBody>
          <a:bodyPr wrap="none">
            <a:spAutoFit/>
          </a:bodyPr>
          <a:lstStyle/>
          <a:p>
            <a:pPr algn="ctr">
              <a:defRPr sz="1100" b="1">
                <a:solidFill>
                  <a:srgbClr val="FFFFFF"/>
                </a:solidFill>
              </a:defRPr>
            </a:pPr>
            <a:r>
              <a:t>5</a:t>
            </a:r>
          </a:p>
        </p:txBody>
      </p:sp>
      <p:sp>
        <p:nvSpPr>
          <p:cNvPr id="28" name="TextBox 27"/>
          <p:cNvSpPr txBox="1"/>
          <p:nvPr/>
        </p:nvSpPr>
        <p:spPr>
          <a:xfrm>
            <a:off x="9784080" y="2057400"/>
            <a:ext cx="1965960" cy="365760"/>
          </a:xfrm>
          <a:prstGeom prst="rect">
            <a:avLst/>
          </a:prstGeom>
          <a:noFill/>
        </p:spPr>
        <p:txBody>
          <a:bodyPr wrap="square">
            <a:spAutoFit/>
          </a:bodyPr>
          <a:lstStyle/>
          <a:p>
            <a:pPr algn="ctr">
              <a:defRPr sz="1000" b="1">
                <a:solidFill>
                  <a:srgbClr val="1B2A4A"/>
                </a:solidFill>
              </a:defRPr>
            </a:pPr>
            <a:r>
              <a:t>Integration</a:t>
            </a:r>
          </a:p>
        </p:txBody>
      </p:sp>
      <p:sp>
        <p:nvSpPr>
          <p:cNvPr id="29" name="TextBox 28"/>
          <p:cNvSpPr txBox="1"/>
          <p:nvPr/>
        </p:nvSpPr>
        <p:spPr>
          <a:xfrm>
            <a:off x="9784080" y="2468880"/>
            <a:ext cx="1965960" cy="960120"/>
          </a:xfrm>
          <a:prstGeom prst="rect">
            <a:avLst/>
          </a:prstGeom>
          <a:noFill/>
        </p:spPr>
        <p:txBody>
          <a:bodyPr wrap="square">
            <a:spAutoFit/>
          </a:bodyPr>
          <a:lstStyle/>
          <a:p>
            <a:pPr algn="ctr">
              <a:spcBef>
                <a:spcPts val="100"/>
              </a:spcBef>
              <a:defRPr sz="800">
                <a:solidFill>
                  <a:srgbClr val="222222"/>
                </a:solidFill>
              </a:defRPr>
            </a:pPr>
            <a:r>
              <a:t>Use Case</a:t>
            </a:r>
            <a:br/>
            <a:r>
              <a:t>Inventory</a:t>
            </a:r>
          </a:p>
          <a:p>
            <a:pPr algn="ctr">
              <a:spcBef>
                <a:spcPts val="100"/>
              </a:spcBef>
              <a:defRPr sz="800">
                <a:solidFill>
                  <a:srgbClr val="222222"/>
                </a:solidFill>
              </a:defRPr>
            </a:pPr>
            <a:r>
              <a:t>Accelerator</a:t>
            </a:r>
          </a:p>
          <a:p>
            <a:pPr algn="ctr">
              <a:spcBef>
                <a:spcPts val="100"/>
              </a:spcBef>
              <a:defRPr sz="800">
                <a:solidFill>
                  <a:srgbClr val="222222"/>
                </a:solidFill>
              </a:defRPr>
            </a:pPr>
            <a:r>
              <a:t>ARB artifacts</a:t>
            </a:r>
          </a:p>
        </p:txBody>
      </p:sp>
      <p:sp>
        <p:nvSpPr>
          <p:cNvPr id="30" name="TextBox 29"/>
          <p:cNvSpPr txBox="1"/>
          <p:nvPr/>
        </p:nvSpPr>
        <p:spPr>
          <a:xfrm>
            <a:off x="457200" y="3749039"/>
            <a:ext cx="11274552" cy="274320"/>
          </a:xfrm>
          <a:prstGeom prst="rect">
            <a:avLst/>
          </a:prstGeom>
          <a:noFill/>
        </p:spPr>
        <p:txBody>
          <a:bodyPr wrap="none">
            <a:spAutoFit/>
          </a:bodyPr>
          <a:lstStyle/>
          <a:p>
            <a:pPr>
              <a:defRPr sz="1200" b="1">
                <a:solidFill>
                  <a:srgbClr val="1B2A4A"/>
                </a:solidFill>
              </a:defRPr>
            </a:pPr>
            <a:r>
              <a:t>Strategic Impact</a:t>
            </a:r>
          </a:p>
        </p:txBody>
      </p:sp>
      <p:sp>
        <p:nvSpPr>
          <p:cNvPr id="31" name="TextBox 30"/>
          <p:cNvSpPr txBox="1"/>
          <p:nvPr/>
        </p:nvSpPr>
        <p:spPr>
          <a:xfrm>
            <a:off x="457200" y="4069080"/>
            <a:ext cx="11274552" cy="365760"/>
          </a:xfrm>
          <a:prstGeom prst="rect">
            <a:avLst/>
          </a:prstGeom>
          <a:noFill/>
        </p:spPr>
        <p:txBody>
          <a:bodyPr wrap="square">
            <a:spAutoFit/>
          </a:bodyPr>
          <a:lstStyle/>
          <a:p>
            <a:pPr>
              <a:defRPr sz="900">
                <a:solidFill>
                  <a:srgbClr val="333333"/>
                </a:solidFill>
              </a:defRPr>
            </a:pPr>
            <a:r>
              <a:t>Standardizes AI decisions across HC/PHAC  •  Reduces SRTM duplication  •  Enables platform-based governance  •  Aligns with HC AI Strategy pillars</a:t>
            </a:r>
          </a:p>
        </p:txBody>
      </p:sp>
      <p:sp>
        <p:nvSpPr>
          <p:cNvPr id="32" name="Rectangle 31"/>
          <p:cNvSpPr/>
          <p:nvPr/>
        </p:nvSpPr>
        <p:spPr>
          <a:xfrm>
            <a:off x="365760" y="4572000"/>
            <a:ext cx="11457432" cy="1234440"/>
          </a:xfrm>
          <a:prstGeom prst="rect">
            <a:avLst/>
          </a:prstGeom>
          <a:solidFill>
            <a:srgbClr val="F5F7F7"/>
          </a:solidFill>
          <a:ln w="25400">
            <a:solidFill>
              <a:srgbClr val="2F6F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663440"/>
            <a:ext cx="11091672" cy="1051560"/>
          </a:xfrm>
          <a:prstGeom prst="rect">
            <a:avLst/>
          </a:prstGeom>
          <a:noFill/>
        </p:spPr>
        <p:txBody>
          <a:bodyPr wrap="square">
            <a:spAutoFit/>
          </a:bodyPr>
          <a:lstStyle/>
          <a:p>
            <a:pPr>
              <a:defRPr sz="1000" b="1">
                <a:solidFill>
                  <a:srgbClr val="2F6F73"/>
                </a:solidFill>
              </a:defRPr>
            </a:pPr>
            <a:r>
              <a:t>PATH = control plane  •  HAIL = runtime  •  Rubric = decision enforcement mechanism</a:t>
            </a:r>
          </a:p>
          <a:p>
            <a:br/>
            <a:pPr>
              <a:spcBef>
                <a:spcPts val="600"/>
              </a:spcBef>
              <a:defRPr sz="1100" b="1">
                <a:solidFill>
                  <a:srgbClr val="1B2A4A"/>
                </a:solidFill>
              </a:defRPr>
            </a:pPr>
            <a:r>
              <a:t>👉  This is how we move from experimentation → enterprise AI</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56366|-13593164|-13155766|-3334100|-3351552|Treasury Board&quot;,&quot;Id&quot;:&quot;6387bbdd3645422034fc2fc9&quot;,&quot;SmartGridHorizontal&quot;:0,&quot;LinkedExcelSources&quot;:{},&quot;LinkedProjectSources&quot;:{},&quot;FlowConfig&quot;:{&quot;Canvas&quot;:{&quot;Slide&quot;:1,&quot;Width&quot;:1920,&quot;Height&quot;:144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ENGAGECOLOR" val="{&quot;OutlineColor&quot;:{&quot;ColorIndex&quot;:1,&quot;ColorModifier&quot;:0,&quot;BrightnessModifier&quot;:0}}"/>
</p:tagLst>
</file>

<file path=ppt/tags/tag3.xml><?xml version="1.0" encoding="utf-8"?>
<p:tagLst xmlns:a="http://schemas.openxmlformats.org/drawingml/2006/main" xmlns:r="http://schemas.openxmlformats.org/officeDocument/2006/relationships" xmlns:p="http://schemas.openxmlformats.org/presentationml/2006/main">
  <p:tag name="E_IMGDECORATIVE" val="1"/>
</p:tagLst>
</file>

<file path=ppt/tags/tag4.xml><?xml version="1.0" encoding="utf-8"?>
<p:tagLst xmlns:a="http://schemas.openxmlformats.org/drawingml/2006/main" xmlns:r="http://schemas.openxmlformats.org/officeDocument/2006/relationships" xmlns:p="http://schemas.openxmlformats.org/presentationml/2006/main">
  <p:tag name="E_IMGDECORATIVE" val="1"/>
</p:tagLst>
</file>

<file path=ppt/tags/tag5.xml><?xml version="1.0" encoding="utf-8"?>
<p:tagLst xmlns:a="http://schemas.openxmlformats.org/drawingml/2006/main" xmlns:r="http://schemas.openxmlformats.org/officeDocument/2006/relationships" xmlns:p="http://schemas.openxmlformats.org/presentationml/2006/main">
  <p:tag name="E_IMGDECORATIVE" val="1"/>
</p:tagLst>
</file>

<file path=ppt/tags/tag6.xml><?xml version="1.0" encoding="utf-8"?>
<p:tagLst xmlns:a="http://schemas.openxmlformats.org/drawingml/2006/main" xmlns:r="http://schemas.openxmlformats.org/officeDocument/2006/relationships" xmlns:p="http://schemas.openxmlformats.org/presentationml/2006/main">
  <p:tag name="E_IMGDECORATIVE" val="1"/>
</p:tagLst>
</file>

<file path=ppt/tags/tag7.xml><?xml version="1.0" encoding="utf-8"?>
<p:tagLst xmlns:a="http://schemas.openxmlformats.org/drawingml/2006/main" xmlns:r="http://schemas.openxmlformats.org/officeDocument/2006/relationships" xmlns:p="http://schemas.openxmlformats.org/presentationml/2006/main">
  <p:tag name="E_IMGDECORATIVE" val="1"/>
</p:tagLst>
</file>

<file path=ppt/tags/tag8.xml><?xml version="1.0" encoding="utf-8"?>
<p:tagLst xmlns:a="http://schemas.openxmlformats.org/drawingml/2006/main" xmlns:r="http://schemas.openxmlformats.org/officeDocument/2006/relationships" xmlns:p="http://schemas.openxmlformats.org/presentationml/2006/main">
  <p:tag name="E_IMGDECORATIVE" val="1"/>
</p:tagLst>
</file>

<file path=ppt/tags/tag9.xml><?xml version="1.0" encoding="utf-8"?>
<p:tagLst xmlns:a="http://schemas.openxmlformats.org/drawingml/2006/main" xmlns:r="http://schemas.openxmlformats.org/officeDocument/2006/relationships" xmlns:p="http://schemas.openxmlformats.org/presentationml/2006/main">
  <p:tag name="E_IMGDECORATIVE" val="1"/>
</p:tagLst>
</file>

<file path=ppt/tags/tag10.xml><?xml version="1.0" encoding="utf-8"?>
<p:tagLst xmlns:a="http://schemas.openxmlformats.org/drawingml/2006/main" xmlns:r="http://schemas.openxmlformats.org/officeDocument/2006/relationships" xmlns:p="http://schemas.openxmlformats.org/presentationml/2006/main">
  <p:tag name="E_IMGDECORATIVE" val="1"/>
</p:tagLst>
</file>

<file path=ppt/tags/tag11.xml><?xml version="1.0" encoding="utf-8"?>
<p:tagLst xmlns:a="http://schemas.openxmlformats.org/drawingml/2006/main" xmlns:r="http://schemas.openxmlformats.org/officeDocument/2006/relationships" xmlns:p="http://schemas.openxmlformats.org/presentationml/2006/main">
  <p:tag name="E_IMGDECORATIVE" val="1"/>
</p:tagLst>
</file>

<file path=ppt/tags/tag12.xml><?xml version="1.0" encoding="utf-8"?>
<p:tagLst xmlns:a="http://schemas.openxmlformats.org/drawingml/2006/main" xmlns:r="http://schemas.openxmlformats.org/officeDocument/2006/relationships" xmlns:p="http://schemas.openxmlformats.org/presentationml/2006/main">
  <p:tag name="E_IMGDECORATIVE" val="1"/>
</p:tagLst>
</file>

<file path=ppt/tags/tag13.xml><?xml version="1.0" encoding="utf-8"?>
<p:tagLst xmlns:a="http://schemas.openxmlformats.org/drawingml/2006/main" xmlns:r="http://schemas.openxmlformats.org/officeDocument/2006/relationships" xmlns:p="http://schemas.openxmlformats.org/presentationml/2006/main">
  <p:tag name="E_IMGDECORATIVE" val=""/>
  <p:tag name="E_ALTTEXTCACHE" val=""/>
</p:tagLst>
</file>

<file path=ppt/tags/tag14.xml><?xml version="1.0" encoding="utf-8"?>
<p:tagLst xmlns:a="http://schemas.openxmlformats.org/drawingml/2006/main" xmlns:r="http://schemas.openxmlformats.org/officeDocument/2006/relationships" xmlns:p="http://schemas.openxmlformats.org/presentationml/2006/main">
  <p:tag name="E_IMGDECORATIVE" val=""/>
  <p:tag name="E_ALTTEXTCACHE" val=""/>
</p:tagLst>
</file>

<file path=ppt/theme/theme1.xml><?xml version="1.0" encoding="utf-8"?>
<a:theme xmlns:a="http://schemas.openxmlformats.org/drawingml/2006/main" name="Office Theme">
  <a:themeElements>
    <a:clrScheme name="TBS-SCT NEW">
      <a:dk1>
        <a:sysClr val="windowText" lastClr="000000"/>
      </a:dk1>
      <a:lt1>
        <a:sysClr val="window" lastClr="FFFFFF"/>
      </a:lt1>
      <a:dk2>
        <a:srgbClr val="004D71"/>
      </a:dk2>
      <a:lt2>
        <a:srgbClr val="FFFFFF"/>
      </a:lt2>
      <a:accent1>
        <a:srgbClr val="004D71"/>
      </a:accent1>
      <a:accent2>
        <a:srgbClr val="3095B4"/>
      </a:accent2>
      <a:accent3>
        <a:srgbClr val="333E48"/>
      </a:accent3>
      <a:accent4>
        <a:srgbClr val="63CECA"/>
      </a:accent4>
      <a:accent5>
        <a:srgbClr val="CD202C"/>
      </a:accent5>
      <a:accent6>
        <a:srgbClr val="CFDE00"/>
      </a:accent6>
      <a:hlink>
        <a:srgbClr val="0415FF"/>
      </a:hlink>
      <a:folHlink>
        <a:srgbClr val="FF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ivisional Committees and Governance" ma:contentTypeID="0x010100FC2F3C572DAA1840B4AF5AA9121C8D292F00D0FF35CBD6A754419E89DC459CD896DF" ma:contentTypeVersion="8" ma:contentTypeDescription="Program: Generics, Activity: Divisional Committees/Governance" ma:contentTypeScope="" ma:versionID="a936a1adcd0c2ccc090f0f6438b14629">
  <xsd:schema xmlns:xsd="http://www.w3.org/2001/XMLSchema" xmlns:xs="http://www.w3.org/2001/XMLSchema" xmlns:p="http://schemas.microsoft.com/office/2006/metadata/properties" xmlns:ns2="f4de791d-71e9-453a-84f5-64465da6bdc2" xmlns:ns3="bbae1db4-9756-4df1-8a4f-b91d64546322" targetNamespace="http://schemas.microsoft.com/office/2006/metadata/properties" ma:root="true" ma:fieldsID="4d73b993a6b7a900664476e5103a4928" ns2:_="" ns3:_="">
    <xsd:import namespace="f4de791d-71e9-453a-84f5-64465da6bdc2"/>
    <xsd:import namespace="bbae1db4-9756-4df1-8a4f-b91d64546322"/>
    <xsd:element name="properties">
      <xsd:complexType>
        <xsd:sequence>
          <xsd:element name="documentManagement">
            <xsd:complexType>
              <xsd:all>
                <xsd:element ref="ns2:Name_x0020__x0028_Alt._x0020_language_x0029_" minOccurs="0"/>
                <xsd:element ref="ns2:Case_x0020_Code" minOccurs="0"/>
                <xsd:element ref="ns2:TaxCatchAllLabel" minOccurs="0"/>
                <xsd:element ref="ns2:k9ae71620fb64f46848d734b813b5687" minOccurs="0"/>
                <xsd:element ref="ns2:l3f65e05b1d843caba2af52475971a50" minOccurs="0"/>
                <xsd:element ref="ns2:k2aa6d8ccfb34d5294c62e9fc2588215" minOccurs="0"/>
                <xsd:element ref="ns2:m9b671cd3f1f4c2789bf6e4f9fe3b0a5" minOccurs="0"/>
                <xsd:element ref="ns2:h081c3383653405194935089c86d6bc7" minOccurs="0"/>
                <xsd:element ref="ns2:n3ab70f913b14dcfbc79f3581b87a2e0" minOccurs="0"/>
                <xsd:element ref="ns2:TaxCatchAll"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de791d-71e9-453a-84f5-64465da6bdc2" elementFormDefault="qualified">
    <xsd:import namespace="http://schemas.microsoft.com/office/2006/documentManagement/types"/>
    <xsd:import namespace="http://schemas.microsoft.com/office/infopath/2007/PartnerControls"/>
    <xsd:element name="Name_x0020__x0028_Alt._x0020_language_x0029_" ma:index="1" nillable="true" ma:displayName="Name (Alt. language)" ma:description="Use this field to enter the name of your item in the second official language.&#10;&#10;Utilisez ce champ pour saisir le nom de votre article dans la deuxième&#10;langue officielle." ma:internalName="Name_x0020__x0028_Alt_x002e__x0020_language_x0029_">
      <xsd:simpleType>
        <xsd:restriction base="dms:Text">
          <xsd:maxLength value="255"/>
        </xsd:restriction>
      </xsd:simpleType>
    </xsd:element>
    <xsd:element name="Case_x0020_Code" ma:index="6" nillable="true" ma:displayName="Case Code" ma:internalName="Case_x0020_Code">
      <xsd:simpleType>
        <xsd:restriction base="dms:Text">
          <xsd:maxLength value="255"/>
        </xsd:restriction>
      </xsd:simpleType>
    </xsd:element>
    <xsd:element name="TaxCatchAllLabel" ma:index="10" nillable="true" ma:displayName="Taxonomy Catch All Column1" ma:hidden="true" ma:list="{dd980cd6-e7fb-40a9-9dab-174e5c01e70f}" ma:internalName="TaxCatchAllLabel" ma:readOnly="true" ma:showField="CatchAllDataLabel" ma:web="bbae1db4-9756-4df1-8a4f-b91d64546322">
      <xsd:complexType>
        <xsd:complexContent>
          <xsd:extension base="dms:MultiChoiceLookup">
            <xsd:sequence>
              <xsd:element name="Value" type="dms:Lookup" maxOccurs="unbounded" minOccurs="0" nillable="true"/>
            </xsd:sequence>
          </xsd:extension>
        </xsd:complexContent>
      </xsd:complexType>
    </xsd:element>
    <xsd:element name="k9ae71620fb64f46848d734b813b5687" ma:index="12" ma:taxonomy="true" ma:internalName="k9ae71620fb64f46848d734b813b5687" ma:taxonomyFieldName="Accountability" ma:displayName="Accountability" ma:default="" ma:fieldId="{49ae7162-0fb6-4f46-848d-734b813b5687}" ma:sspId="46ddb0ec-cae1-4b94-bdc6-d5be94c72077" ma:termSetId="62fc53d1-d0ad-47b9-b4c2-95e661d14be8" ma:anchorId="00000000-0000-0000-0000-000000000000" ma:open="false" ma:isKeyword="false">
      <xsd:complexType>
        <xsd:sequence>
          <xsd:element ref="pc:Terms" minOccurs="0" maxOccurs="1"/>
        </xsd:sequence>
      </xsd:complexType>
    </xsd:element>
    <xsd:element name="l3f65e05b1d843caba2af52475971a50" ma:index="15" nillable="true" ma:taxonomy="true" ma:internalName="l3f65e05b1d843caba2af52475971a50" ma:taxonomyFieldName="Fiscal_x0020_Year" ma:displayName="Fiscal Year" ma:default="" ma:fieldId="{53f65e05-b1d8-43ca-ba2a-f52475971a50}" ma:sspId="46ddb0ec-cae1-4b94-bdc6-d5be94c72077" ma:termSetId="c5064d94-3f7e-4605-8ca2-eb2875f9b05a" ma:anchorId="00000000-0000-0000-0000-000000000000" ma:open="false" ma:isKeyword="false">
      <xsd:complexType>
        <xsd:sequence>
          <xsd:element ref="pc:Terms" minOccurs="0" maxOccurs="1"/>
        </xsd:sequence>
      </xsd:complexType>
    </xsd:element>
    <xsd:element name="k2aa6d8ccfb34d5294c62e9fc2588215" ma:index="17" nillable="true" ma:taxonomy="true" ma:internalName="k2aa6d8ccfb34d5294c62e9fc2588215" ma:taxonomyFieldName="Security_x0020_Level" ma:displayName="Security Level" ma:default="" ma:fieldId="{42aa6d8c-cfb3-4d52-94c6-2e9fc2588215}" ma:sspId="46ddb0ec-cae1-4b94-bdc6-d5be94c72077" ma:termSetId="0193ca93-d903-47d8-8a0b-c4b9fd9a85ec" ma:anchorId="00000000-0000-0000-0000-000000000000" ma:open="false" ma:isKeyword="false">
      <xsd:complexType>
        <xsd:sequence>
          <xsd:element ref="pc:Terms" minOccurs="0" maxOccurs="1"/>
        </xsd:sequence>
      </xsd:complexType>
    </xsd:element>
    <xsd:element name="m9b671cd3f1f4c2789bf6e4f9fe3b0a5" ma:index="19" nillable="true" ma:taxonomy="true" ma:internalName="m9b671cd3f1f4c2789bf6e4f9fe3b0a5" ma:taxonomyFieldName="Archival" ma:displayName="Archival" ma:default="" ma:fieldId="{69b671cd-3f1f-4c27-89bf-6e4f9fe3b0a5}" ma:sspId="46ddb0ec-cae1-4b94-bdc6-d5be94c72077" ma:termSetId="5097ba1d-474f-43d3-842e-6ba4c3466f09" ma:anchorId="00000000-0000-0000-0000-000000000000" ma:open="false" ma:isKeyword="false">
      <xsd:complexType>
        <xsd:sequence>
          <xsd:element ref="pc:Terms" minOccurs="0" maxOccurs="1"/>
        </xsd:sequence>
      </xsd:complexType>
    </xsd:element>
    <xsd:element name="h081c3383653405194935089c86d6bc7" ma:index="20" ma:taxonomy="true" ma:internalName="h081c3383653405194935089c86d6bc7" ma:taxonomyFieldName="Program" ma:displayName="Program" ma:default="" ma:fieldId="{1081c338-3653-4051-9493-5089c86d6bc7}" ma:sspId="46ddb0ec-cae1-4b94-bdc6-d5be94c72077" ma:termSetId="17a995cf-87de-414f-bce1-49ced79546af" ma:anchorId="00000000-0000-0000-0000-000000000000" ma:open="false" ma:isKeyword="false">
      <xsd:complexType>
        <xsd:sequence>
          <xsd:element ref="pc:Terms" minOccurs="0" maxOccurs="1"/>
        </xsd:sequence>
      </xsd:complexType>
    </xsd:element>
    <xsd:element name="n3ab70f913b14dcfbc79f3581b87a2e0" ma:index="21" ma:taxonomy="true" ma:internalName="n3ab70f913b14dcfbc79f3581b87a2e0" ma:taxonomyFieldName="Document_x002d_Status" ma:displayName="Document-Status" ma:default="1;#Active|b3c4d83a-10bd-4776-b251-f379e1cb284c" ma:fieldId="{73ab70f9-13b1-4dcf-bc79-f3581b87a2e0}" ma:sspId="46ddb0ec-cae1-4b94-bdc6-d5be94c72077" ma:termSetId="921e2eeb-960a-4023-8d5a-b30a4f9d41ab" ma:anchorId="00000000-0000-0000-0000-000000000000" ma:open="false" ma:isKeyword="false">
      <xsd:complexType>
        <xsd:sequence>
          <xsd:element ref="pc:Terms" minOccurs="0" maxOccurs="1"/>
        </xsd:sequence>
      </xsd:complexType>
    </xsd:element>
    <xsd:element name="TaxCatchAll" ma:index="23" nillable="true" ma:displayName="Taxonomy Catch All Column" ma:hidden="true" ma:list="{dd980cd6-e7fb-40a9-9dab-174e5c01e70f}" ma:internalName="TaxCatchAll" ma:showField="CatchAllData" ma:web="bbae1db4-9756-4df1-8a4f-b91d6454632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bae1db4-9756-4df1-8a4f-b91d64546322" elementFormDefault="qualified">
    <xsd:import namespace="http://schemas.microsoft.com/office/2006/documentManagement/types"/>
    <xsd:import namespace="http://schemas.microsoft.com/office/infopath/2007/PartnerControls"/>
    <xsd:element name="_dlc_DocId" ma:index="24" nillable="true" ma:displayName="Document ID Value" ma:description="The value of the document ID assigned to this item." ma:indexed="true" ma:internalName="_dlc_DocId" ma:readOnly="true">
      <xsd:simpleType>
        <xsd:restriction base="dms:Text"/>
      </xsd:simpleType>
    </xsd:element>
    <xsd:element name="_dlc_DocIdUrl" ma:index="2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6"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SharedContentType xmlns="Microsoft.SharePoint.Taxonomy.ContentTypeSync" SourceId="46ddb0ec-cae1-4b94-bdc6-d5be94c72077" ContentTypeId="0x010100FC2F3C572DAA1840B4AF5AA9121C8D29" PreviousValue="false"/>
</file>

<file path=customXml/item5.xml><?xml version="1.0" encoding="utf-8"?>
<p:properties xmlns:p="http://schemas.microsoft.com/office/2006/metadata/properties" xmlns:xsi="http://www.w3.org/2001/XMLSchema-instance" xmlns:pc="http://schemas.microsoft.com/office/infopath/2007/PartnerControls">
  <documentManagement>
    <k9ae71620fb64f46848d734b813b5687 xmlns="f4de791d-71e9-453a-84f5-64465da6bdc2">
      <Terms xmlns="http://schemas.microsoft.com/office/infopath/2007/PartnerControls">
        <TermInfo xmlns="http://schemas.microsoft.com/office/infopath/2007/PartnerControls">
          <TermName xmlns="http://schemas.microsoft.com/office/infopath/2007/PartnerControls">Digital Transformation, Planning ＆ Oversight Directorate</TermName>
          <TermId xmlns="http://schemas.microsoft.com/office/infopath/2007/PartnerControls">57b9472a-1dba-4cc4-a13a-c7c8c9a15f6e</TermId>
        </TermInfo>
      </Terms>
    </k9ae71620fb64f46848d734b813b5687>
    <Case_x0020_Code xmlns="f4de791d-71e9-453a-84f5-64465da6bdc2" xsi:nil="true"/>
    <l3f65e05b1d843caba2af52475971a50 xmlns="f4de791d-71e9-453a-84f5-64465da6bdc2">
      <Terms xmlns="http://schemas.microsoft.com/office/infopath/2007/PartnerControls"/>
    </l3f65e05b1d843caba2af52475971a50>
    <m9b671cd3f1f4c2789bf6e4f9fe3b0a5 xmlns="f4de791d-71e9-453a-84f5-64465da6bdc2">
      <Terms xmlns="http://schemas.microsoft.com/office/infopath/2007/PartnerControls"/>
    </m9b671cd3f1f4c2789bf6e4f9fe3b0a5>
    <h081c3383653405194935089c86d6bc7 xmlns="f4de791d-71e9-453a-84f5-64465da6bdc2">
      <Terms xmlns="http://schemas.microsoft.com/office/infopath/2007/PartnerControls">
        <TermInfo xmlns="http://schemas.microsoft.com/office/infopath/2007/PartnerControls">
          <TermName xmlns="http://schemas.microsoft.com/office/infopath/2007/PartnerControls">Generics</TermName>
          <TermId xmlns="http://schemas.microsoft.com/office/infopath/2007/PartnerControls">fac9bc0c-ec4e-4aa1-9821-491c24e3c165</TermId>
        </TermInfo>
      </Terms>
    </h081c3383653405194935089c86d6bc7>
    <k2aa6d8ccfb34d5294c62e9fc2588215 xmlns="f4de791d-71e9-453a-84f5-64465da6bdc2">
      <Terms xmlns="http://schemas.microsoft.com/office/infopath/2007/PartnerControls"/>
    </k2aa6d8ccfb34d5294c62e9fc2588215>
    <TaxCatchAll xmlns="f4de791d-71e9-453a-84f5-64465da6bdc2">
      <Value>6</Value>
      <Value>5</Value>
      <Value>1</Value>
    </TaxCatchAll>
    <n3ab70f913b14dcfbc79f3581b87a2e0 xmlns="f4de791d-71e9-453a-84f5-64465da6bdc2">
      <Terms xmlns="http://schemas.microsoft.com/office/infopath/2007/PartnerControls">
        <TermInfo xmlns="http://schemas.microsoft.com/office/infopath/2007/PartnerControls">
          <TermName xmlns="http://schemas.microsoft.com/office/infopath/2007/PartnerControls">Active</TermName>
          <TermId xmlns="http://schemas.microsoft.com/office/infopath/2007/PartnerControls">b3c4d83a-10bd-4776-b251-f379e1cb284c</TermId>
        </TermInfo>
      </Terms>
    </n3ab70f913b14dcfbc79f3581b87a2e0>
    <_dlc_DocId xmlns="bbae1db4-9756-4df1-8a4f-b91d64546322">HC-DTB-1355946490-2127</_dlc_DocId>
    <_dlc_DocIdUrl xmlns="bbae1db4-9756-4df1-8a4f-b91d64546322">
      <Url>https://022gc.sharepoint.com/sites/HC-DTB-DTPOD-DTPD/_layouts/15/DocIdRedir.aspx?ID=HC-DTB-1355946490-2127</Url>
      <Description>HC-DTB-1355946490-2127</Description>
    </_dlc_DocIdUrl>
    <Name_x0020__x0028_Alt._x0020_language_x0029_ xmlns="f4de791d-71e9-453a-84f5-64465da6bdc2" xsi:nil="true"/>
  </documentManagement>
</p:properties>
</file>

<file path=customXml/itemProps1.xml><?xml version="1.0" encoding="utf-8"?>
<ds:datastoreItem xmlns:ds="http://schemas.openxmlformats.org/officeDocument/2006/customXml" ds:itemID="{5A7E0021-06CF-47C8-9F6E-F12E917D7976}"/>
</file>

<file path=customXml/itemProps2.xml><?xml version="1.0" encoding="utf-8"?>
<ds:datastoreItem xmlns:ds="http://schemas.openxmlformats.org/officeDocument/2006/customXml" ds:itemID="{F4263CBB-9B71-4508-B7D7-B95EF135F32C}">
  <ds:schemaRefs>
    <ds:schemaRef ds:uri="http://schemas.microsoft.com/sharepoint/v3/contenttype/forms"/>
  </ds:schemaRefs>
</ds:datastoreItem>
</file>

<file path=customXml/itemProps3.xml><?xml version="1.0" encoding="utf-8"?>
<ds:datastoreItem xmlns:ds="http://schemas.openxmlformats.org/officeDocument/2006/customXml" ds:itemID="{3CC2795A-C8B9-4D80-9440-D8E161C7821C}">
  <ds:schemaRefs>
    <ds:schemaRef ds:uri="http://schemas.microsoft.com/sharepoint/events"/>
  </ds:schemaRefs>
</ds:datastoreItem>
</file>

<file path=customXml/itemProps4.xml><?xml version="1.0" encoding="utf-8"?>
<ds:datastoreItem xmlns:ds="http://schemas.openxmlformats.org/officeDocument/2006/customXml" ds:itemID="{3C20C8DD-6327-4378-B14C-AF99DA2B2CFC}">
  <ds:schemaRefs>
    <ds:schemaRef ds:uri="Microsoft.SharePoint.Taxonomy.ContentTypeSync"/>
  </ds:schemaRefs>
</ds:datastoreItem>
</file>

<file path=customXml/itemProps5.xml><?xml version="1.0" encoding="utf-8"?>
<ds:datastoreItem xmlns:ds="http://schemas.openxmlformats.org/officeDocument/2006/customXml" ds:itemID="{0CA14145-6947-41A4-A494-07B49DAFE7D2}">
  <ds:schemaRefs>
    <ds:schemaRef ds:uri="bbae1db4-9756-4df1-8a4f-b91d64546322"/>
    <ds:schemaRef ds:uri="f4de791d-71e9-453a-84f5-64465da6bd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38</Slides>
  <Notes>37</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Purpose of Architecture Governance</vt:lpstr>
      <vt:lpstr>Architecture Governance Process</vt:lpstr>
      <vt:lpstr>GC Enterprise Architecture Framework  Government of Canada Enterprise Architecture Framework - Canada.ca</vt:lpstr>
      <vt:lpstr>Why Gate 0? Early Influence!</vt:lpstr>
      <vt:lpstr>Template Guide</vt:lpstr>
      <vt:lpstr>HC/PHAC Architecture Review Board (ARB) / Digital Architecture &amp; Strategy for Health (DASH) / Government of Canada Enterprise Architecture Review Board (GC EARB)</vt:lpstr>
      <vt:lpstr>Purpose of ARB/DASH/GC EARB Session</vt:lpstr>
      <vt:lpstr>Request – Background &amp; Overview</vt:lpstr>
      <vt:lpstr>Background &amp; Overview – Organization Impact</vt:lpstr>
      <vt:lpstr>Background and Overview continued – Analysis Completed</vt:lpstr>
      <vt:lpstr>Conceptual Business Model</vt:lpstr>
      <vt:lpstr>Business Process / Information / Data Flow Diagram</vt:lpstr>
      <vt:lpstr>Current State Architecture Problem Summary</vt:lpstr>
      <vt:lpstr>Current State Architecture Diagram</vt:lpstr>
      <vt:lpstr>Target State Architecture Diagram</vt:lpstr>
      <vt:lpstr>Target State Architecture  Solution Summary</vt:lpstr>
      <vt:lpstr>Consultations</vt:lpstr>
      <vt:lpstr>Summary of architecture/solution options and evaluation results</vt:lpstr>
      <vt:lpstr>TCO, Funding, Procurement and FinOps Summary</vt:lpstr>
      <vt:lpstr>EA Summary </vt:lpstr>
      <vt:lpstr>Enterprise Solution – EA Recommendation</vt:lpstr>
      <vt:lpstr>Glossary – List of Acronyms Used In This Presentation</vt:lpstr>
      <vt:lpstr>Business Capabilities Addressed</vt:lpstr>
      <vt:lpstr>Appendix 1: GC EA Framework Business Architecture</vt:lpstr>
      <vt:lpstr>Appendix 1: GC EA Framework Business Architecture - continued</vt:lpstr>
      <vt:lpstr>Appendix 1: GC EA Framework Information Architecture</vt:lpstr>
      <vt:lpstr>Appendix 1: GC EA Framework Information Architecture – continued 1</vt:lpstr>
      <vt:lpstr>Appendix 1: GC EA Framework Information Architecture – continued 2</vt:lpstr>
      <vt:lpstr>Appendix 1: GC EA Framework Application Architecture</vt:lpstr>
      <vt:lpstr>Appendix 1: GC EA Framework Technology Architecture</vt:lpstr>
      <vt:lpstr>Appendix 1: GC EA Framework Technology Architecture - continued</vt:lpstr>
      <vt:lpstr>Appendix 1: GC EA Framework Security Architecture</vt:lpstr>
      <vt:lpstr>Appendix 1: GC EA Framework Security Architecture – continued</vt:lpstr>
      <vt:lpstr>Appendix 2: Enterprise Solution Framework (if applicable)</vt:lpstr>
      <vt:lpstr>Appendix 2: Enterprise Solution Framework (continued)</vt:lpstr>
      <vt:lpstr>Appendix 3:  Shared Services Canada (SSC) Involvement</vt:lpstr>
      <vt:lpstr>Appendix 3:  Additional Technical Details required by Shared Services Canada (SSC)</vt:lpstr>
      <vt:lpstr>Appendix 3:  Summary of Cloud Access Scenarios and Usage Profiles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Purpose of Architecture Governance</dc:title>
  <dc:creator/>
  <cp:revision>1</cp:revision>
  <dcterms:created xsi:type="dcterms:W3CDTF">2020-12-02T23:11:22Z</dcterms:created>
  <dcterms:modified xsi:type="dcterms:W3CDTF">2025-08-12T18:29:04Z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d0ca00b-3f0e-465a-aac7-1a6a22fcea40_Enabled">
    <vt:lpwstr>true</vt:lpwstr>
  </property>
  <property fmtid="{D5CDD505-2E9C-101B-9397-08002B2CF9AE}" pid="3" name="MSIP_Label_3d0ca00b-3f0e-465a-aac7-1a6a22fcea40_SetDate">
    <vt:lpwstr>2022-11-30T20:23:57Z</vt:lpwstr>
  </property>
  <property fmtid="{D5CDD505-2E9C-101B-9397-08002B2CF9AE}" pid="4" name="MSIP_Label_3d0ca00b-3f0e-465a-aac7-1a6a22fcea40_Method">
    <vt:lpwstr>Privileged</vt:lpwstr>
  </property>
  <property fmtid="{D5CDD505-2E9C-101B-9397-08002B2CF9AE}" pid="5" name="MSIP_Label_3d0ca00b-3f0e-465a-aac7-1a6a22fcea40_Name">
    <vt:lpwstr>3d0ca00b-3f0e-465a-aac7-1a6a22fcea40</vt:lpwstr>
  </property>
  <property fmtid="{D5CDD505-2E9C-101B-9397-08002B2CF9AE}" pid="6" name="MSIP_Label_3d0ca00b-3f0e-465a-aac7-1a6a22fcea40_SiteId">
    <vt:lpwstr>6397df10-4595-4047-9c4f-03311282152b</vt:lpwstr>
  </property>
  <property fmtid="{D5CDD505-2E9C-101B-9397-08002B2CF9AE}" pid="7" name="MSIP_Label_3d0ca00b-3f0e-465a-aac7-1a6a22fcea40_ActionId">
    <vt:lpwstr>e668c40e-f10d-4a36-a0e2-95ef36b0c863</vt:lpwstr>
  </property>
  <property fmtid="{D5CDD505-2E9C-101B-9397-08002B2CF9AE}" pid="8" name="MSIP_Label_3d0ca00b-3f0e-465a-aac7-1a6a22fcea40_ContentBits">
    <vt:lpwstr>1</vt:lpwstr>
  </property>
  <property fmtid="{D5CDD505-2E9C-101B-9397-08002B2CF9AE}" pid="9" name="MSIP_Label_05d8ed60-cd71-485b-a85b-277aaf32f506_Enabled">
    <vt:lpwstr>true</vt:lpwstr>
  </property>
  <property fmtid="{D5CDD505-2E9C-101B-9397-08002B2CF9AE}" pid="10" name="MSIP_Label_05d8ed60-cd71-485b-a85b-277aaf32f506_SetDate">
    <vt:lpwstr>2023-11-09T13:27:24Z</vt:lpwstr>
  </property>
  <property fmtid="{D5CDD505-2E9C-101B-9397-08002B2CF9AE}" pid="11" name="MSIP_Label_05d8ed60-cd71-485b-a85b-277aaf32f506_Method">
    <vt:lpwstr>Privileged</vt:lpwstr>
  </property>
  <property fmtid="{D5CDD505-2E9C-101B-9397-08002B2CF9AE}" pid="12" name="MSIP_Label_05d8ed60-cd71-485b-a85b-277aaf32f506_Name">
    <vt:lpwstr>Unclassified</vt:lpwstr>
  </property>
  <property fmtid="{D5CDD505-2E9C-101B-9397-08002B2CF9AE}" pid="13" name="MSIP_Label_05d8ed60-cd71-485b-a85b-277aaf32f506_SiteId">
    <vt:lpwstr>42fd9015-de4d-4223-a368-baeacab48927</vt:lpwstr>
  </property>
  <property fmtid="{D5CDD505-2E9C-101B-9397-08002B2CF9AE}" pid="14" name="MSIP_Label_05d8ed60-cd71-485b-a85b-277aaf32f506_ActionId">
    <vt:lpwstr>72ae560e-dac1-4f51-90ea-dd9037ab69b3</vt:lpwstr>
  </property>
  <property fmtid="{D5CDD505-2E9C-101B-9397-08002B2CF9AE}" pid="15" name="MSIP_Label_05d8ed60-cd71-485b-a85b-277aaf32f506_ContentBits">
    <vt:lpwstr>1</vt:lpwstr>
  </property>
  <property fmtid="{D5CDD505-2E9C-101B-9397-08002B2CF9AE}" pid="16" name="ClassificationContentMarkingHeaderLocations">
    <vt:lpwstr>Office Theme:2</vt:lpwstr>
  </property>
  <property fmtid="{D5CDD505-2E9C-101B-9397-08002B2CF9AE}" pid="17" name="ClassificationContentMarkingHeaderText">
    <vt:lpwstr>UNCLASSIFIED / NON CLASSIFIÉ</vt:lpwstr>
  </property>
  <property fmtid="{D5CDD505-2E9C-101B-9397-08002B2CF9AE}" pid="18" name="ContentTypeId">
    <vt:lpwstr>0x010100FC2F3C572DAA1840B4AF5AA9121C8D292F00D0FF35CBD6A754419E89DC459CD896DF</vt:lpwstr>
  </property>
  <property fmtid="{D5CDD505-2E9C-101B-9397-08002B2CF9AE}" pid="19" name="_dlc_DocIdItemGuid">
    <vt:lpwstr>9472a773-cf0c-4241-81e4-175fa551e6cf</vt:lpwstr>
  </property>
  <property fmtid="{D5CDD505-2E9C-101B-9397-08002B2CF9AE}" pid="20" name="Document-Status">
    <vt:lpwstr>1;#Active|b3c4d83a-10bd-4776-b251-f379e1cb284c</vt:lpwstr>
  </property>
  <property fmtid="{D5CDD505-2E9C-101B-9397-08002B2CF9AE}" pid="21" name="Archival">
    <vt:lpwstr/>
  </property>
  <property fmtid="{D5CDD505-2E9C-101B-9397-08002B2CF9AE}" pid="22" name="Accountability">
    <vt:lpwstr>5;#Digital Transformation, Planning ＆ Oversight Directorate|57b9472a-1dba-4cc4-a13a-c7c8c9a15f6e</vt:lpwstr>
  </property>
  <property fmtid="{D5CDD505-2E9C-101B-9397-08002B2CF9AE}" pid="23" name="Fiscal Year">
    <vt:lpwstr/>
  </property>
  <property fmtid="{D5CDD505-2E9C-101B-9397-08002B2CF9AE}" pid="24" name="Program">
    <vt:lpwstr>6;#Generics|fac9bc0c-ec4e-4aa1-9821-491c24e3c165</vt:lpwstr>
  </property>
  <property fmtid="{D5CDD505-2E9C-101B-9397-08002B2CF9AE}" pid="25" name="Security Level">
    <vt:lpwstr/>
  </property>
  <property fmtid="{D5CDD505-2E9C-101B-9397-08002B2CF9AE}" pid="26" name="MediaServiceImageTags">
    <vt:lpwstr/>
  </property>
  <property fmtid="{D5CDD505-2E9C-101B-9397-08002B2CF9AE}" pid="27" name="lcf76f155ced4ddcb4097134ff3c332f">
    <vt:lpwstr/>
  </property>
  <property fmtid="{D5CDD505-2E9C-101B-9397-08002B2CF9AE}" pid="28" name="SharedWithUsers">
    <vt:lpwstr>27;#MacKinnon, Chad (HC/SC)</vt:lpwstr>
  </property>
  <property fmtid="{D5CDD505-2E9C-101B-9397-08002B2CF9AE}" pid="29" name="Fiscal_x0020_Year">
    <vt:lpwstr/>
  </property>
  <property fmtid="{D5CDD505-2E9C-101B-9397-08002B2CF9AE}" pid="30" name="Document_x002d_Status">
    <vt:lpwstr>1;#Active|b3c4d83a-10bd-4776-b251-f379e1cb284c</vt:lpwstr>
  </property>
  <property fmtid="{D5CDD505-2E9C-101B-9397-08002B2CF9AE}" pid="31" name="Security_x0020_Level">
    <vt:lpwstr/>
  </property>
</Properties>
</file>